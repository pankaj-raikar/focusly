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eb0e4440a094619" /><Relationship Type="http://schemas.openxmlformats.org/officeDocument/2006/relationships/extended-properties" Target="/docProps/app.xml" Id="R763970d3a2364712" /><Relationship Type="http://schemas.openxmlformats.org/officeDocument/2006/relationships/officeDocument" Target="/ppt/presentation.xml" Id="Rf41116bbaac3432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454ce7e525649e2"/>
  </p:sldMasterIdLst>
  <p:notesMasterIdLst>
    <p:notesMasterId xmlns:r="http://schemas.openxmlformats.org/officeDocument/2006/relationships" r:id="Re89a851d84c34a7a"/>
  </p:notesMasterIdLst>
  <p:sldIdLst>
    <p:sldId xmlns:r="http://schemas.openxmlformats.org/officeDocument/2006/relationships" id="256" r:id="R927db019a3894c16"/>
    <p:sldId xmlns:r="http://schemas.openxmlformats.org/officeDocument/2006/relationships" id="257" r:id="Rea44786732dd418b"/>
    <p:sldId xmlns:r="http://schemas.openxmlformats.org/officeDocument/2006/relationships" id="258" r:id="R7fabe89ce8bc4a9a"/>
    <p:sldId xmlns:r="http://schemas.openxmlformats.org/officeDocument/2006/relationships" id="259" r:id="R550a29e0b01c409a"/>
    <p:sldId xmlns:r="http://schemas.openxmlformats.org/officeDocument/2006/relationships" id="260" r:id="Rf1c08f9be6cd42a7"/>
    <p:sldId xmlns:r="http://schemas.openxmlformats.org/officeDocument/2006/relationships" id="261" r:id="Rb5eaf79b64da4587"/>
    <p:sldId xmlns:r="http://schemas.openxmlformats.org/officeDocument/2006/relationships" id="262" r:id="Rbc7cee92814d4102"/>
    <p:sldId xmlns:r="http://schemas.openxmlformats.org/officeDocument/2006/relationships" id="263" r:id="Rc67213824e0a480e"/>
    <p:sldId xmlns:r="http://schemas.openxmlformats.org/officeDocument/2006/relationships" id="264" r:id="R6b77568c6d0347d4"/>
    <p:sldId xmlns:r="http://schemas.openxmlformats.org/officeDocument/2006/relationships" id="265" r:id="Re90737f365444e0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54ce7e525649e2" /><Relationship Type="http://schemas.openxmlformats.org/officeDocument/2006/relationships/theme" Target="/ppt/theme/theme1.xml" Id="R5f5117fd6bc2436d" /><Relationship Type="http://schemas.openxmlformats.org/officeDocument/2006/relationships/notesMaster" Target="/ppt/notesMasters/notesMaster1.xml" Id="Re89a851d84c34a7a" /><Relationship Type="http://schemas.openxmlformats.org/officeDocument/2006/relationships/presProps" Target="/ppt/presProps.xml" Id="Rb6a1e762d8ba4dd6" /><Relationship Type="http://schemas.openxmlformats.org/officeDocument/2006/relationships/viewProps" Target="/ppt/viewProps.xml" Id="Rff454f5e228d4558" /><Relationship Type="http://schemas.openxmlformats.org/officeDocument/2006/relationships/tableStyles" Target="/ppt/tableStyles.xml" Id="R91b04faede394680" /><Relationship Type="http://schemas.openxmlformats.org/officeDocument/2006/relationships/slide" Target="/ppt/slides/slide1.xml" Id="R927db019a3894c16" /><Relationship Type="http://schemas.openxmlformats.org/officeDocument/2006/relationships/slide" Target="/ppt/slides/slide2.xml" Id="Rea44786732dd418b" /><Relationship Type="http://schemas.openxmlformats.org/officeDocument/2006/relationships/slide" Target="/ppt/slides/slide3.xml" Id="R7fabe89ce8bc4a9a" /><Relationship Type="http://schemas.openxmlformats.org/officeDocument/2006/relationships/slide" Target="/ppt/slides/slide4.xml" Id="R550a29e0b01c409a" /><Relationship Type="http://schemas.openxmlformats.org/officeDocument/2006/relationships/slide" Target="/ppt/slides/slide5.xml" Id="Rf1c08f9be6cd42a7" /><Relationship Type="http://schemas.openxmlformats.org/officeDocument/2006/relationships/slide" Target="/ppt/slides/slide6.xml" Id="Rb5eaf79b64da4587" /><Relationship Type="http://schemas.openxmlformats.org/officeDocument/2006/relationships/slide" Target="/ppt/slides/slide7.xml" Id="Rbc7cee92814d4102" /><Relationship Type="http://schemas.openxmlformats.org/officeDocument/2006/relationships/slide" Target="/ppt/slides/slide8.xml" Id="Rc67213824e0a480e" /><Relationship Type="http://schemas.openxmlformats.org/officeDocument/2006/relationships/slide" Target="/ppt/slides/slide9.xml" Id="R6b77568c6d0347d4" /><Relationship Type="http://schemas.openxmlformats.org/officeDocument/2006/relationships/slide" Target="/ppt/slides/slide10.xml" Id="Re90737f365444e0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09a58556fa1c46e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e2b1ea2ae014e09" /><Relationship Type="http://schemas.openxmlformats.org/officeDocument/2006/relationships/notesMaster" Target="/ppt/notesMasters/notesMaster1.xml" Id="Ra23debd21c03456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f1a7d769a2b49c9" /><Relationship Type="http://schemas.openxmlformats.org/officeDocument/2006/relationships/notesMaster" Target="/ppt/notesMasters/notesMaster1.xml" Id="Ra7d1c8fea3d0400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fd1acf28c504f56" /><Relationship Type="http://schemas.openxmlformats.org/officeDocument/2006/relationships/notesMaster" Target="/ppt/notesMasters/notesMaster1.xml" Id="R414a663ba66d4af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2854840e7394280" /><Relationship Type="http://schemas.openxmlformats.org/officeDocument/2006/relationships/notesMaster" Target="/ppt/notesMasters/notesMaster1.xml" Id="Rbe22ccb38b2444b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05f86d76a9442d9" /><Relationship Type="http://schemas.openxmlformats.org/officeDocument/2006/relationships/notesMaster" Target="/ppt/notesMasters/notesMaster1.xml" Id="Rf4a140ddddb64bd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e748698d7a2453e" /><Relationship Type="http://schemas.openxmlformats.org/officeDocument/2006/relationships/notesMaster" Target="/ppt/notesMasters/notesMaster1.xml" Id="R416d948d2e7542d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c4ffde14fea4d2d" /><Relationship Type="http://schemas.openxmlformats.org/officeDocument/2006/relationships/notesMaster" Target="/ppt/notesMasters/notesMaster1.xml" Id="R5ae99ea50b734e6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8e8bdb0599748bf" /><Relationship Type="http://schemas.openxmlformats.org/officeDocument/2006/relationships/notesMaster" Target="/ppt/notesMasters/notesMaster1.xml" Id="R7cff8ddadd65463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ee2b9ef525d485f" /><Relationship Type="http://schemas.openxmlformats.org/officeDocument/2006/relationships/notesMaster" Target="/ppt/notesMasters/notesMaster1.xml" Id="R7ef7e92f700b457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a51fc5cef1c4cab" /><Relationship Type="http://schemas.openxmlformats.org/officeDocument/2006/relationships/notesMaster" Target="/ppt/notesMasters/notesMaster1.xml" Id="R7eb350a7c45d436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75446719864a7d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3158b221a05e4eba" /><Relationship Type="http://schemas.openxmlformats.org/officeDocument/2006/relationships/slideLayout" Target="/ppt/slideLayouts/slideLayout2.xml" Id="R6c3802cf850648e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c3802cf850648e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bb48cd25bae420e" /><Relationship Type="http://schemas.openxmlformats.org/officeDocument/2006/relationships/notesSlide" Target="/ppt/notesSlides/notesSlide1.xml" Id="R1a17b4386fbf4b2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b2a87c79f5f4409" /><Relationship Type="http://schemas.openxmlformats.org/officeDocument/2006/relationships/notesSlide" Target="/ppt/notesSlides/notesSlide2.xml" Id="R5f1ba449650e4eb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346321959d54581" /><Relationship Type="http://schemas.openxmlformats.org/officeDocument/2006/relationships/notesSlide" Target="/ppt/notesSlides/notesSlide3.xml" Id="Rd15c720258cc4db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422cdd20313468b" /><Relationship Type="http://schemas.openxmlformats.org/officeDocument/2006/relationships/notesSlide" Target="/ppt/notesSlides/notesSlide4.xml" Id="R259699dc06e144f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76e347dec49494e" /><Relationship Type="http://schemas.openxmlformats.org/officeDocument/2006/relationships/notesSlide" Target="/ppt/notesSlides/notesSlide5.xml" Id="Ra012140463f942e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e4e0f810ca240cd" /><Relationship Type="http://schemas.openxmlformats.org/officeDocument/2006/relationships/notesSlide" Target="/ppt/notesSlides/notesSlide6.xml" Id="Rae24e0b68dfa45d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72a54d6168f47c9" /><Relationship Type="http://schemas.openxmlformats.org/officeDocument/2006/relationships/notesSlide" Target="/ppt/notesSlides/notesSlide7.xml" Id="R1e049424201e4d5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ef06cf7a79940f1" /><Relationship Type="http://schemas.openxmlformats.org/officeDocument/2006/relationships/notesSlide" Target="/ppt/notesSlides/notesSlide8.xml" Id="Rf53824f9a348420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48f682dd6c44f35" /><Relationship Type="http://schemas.openxmlformats.org/officeDocument/2006/relationships/notesSlide" Target="/ppt/notesSlides/notesSlide9.xml" Id="R84d46276c4174ee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6faf10c232f4711" /><Relationship Type="http://schemas.openxmlformats.org/officeDocument/2006/relationships/notesSlide" Target="/ppt/notesSlides/notesSlide10.xml" Id="Rc935f062fc394be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C9BC33C-7BDD-4503-88A8-2FC1E798B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2E068E-FED9-47A8-B7D6-2C13AF82C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944880"/>
            <a:ext cx="801053" cy="80105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F2FF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8EB364-267A-4EFC-B066-62A8E95D9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6348" y="723900"/>
            <a:ext cx="994410" cy="9944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F2FF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710E85-2ADB-4342-A8DF-7143DCFEE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9778" y="1055370"/>
            <a:ext cx="773430" cy="7734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F2FF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36BFC7-980E-4944-AF36-265AD753F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4388" y="1386840"/>
            <a:ext cx="1850707" cy="635318"/>
          </a:xfrm>
          <a:prstGeom xmlns:a="http://schemas.openxmlformats.org/drawingml/2006/main" prst="roundRect">
            <a:avLst>
              <a:gd name="adj" fmla="val 11994"/>
            </a:avLst>
          </a:prstGeom>
          <a:solidFill xmlns:a="http://schemas.openxmlformats.org/drawingml/2006/main">
            <a:srgbClr val="E2F2FF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1FA3D9-7525-4315-8F5D-0907EE0A1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66675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11111"/>
                </a:solidFill>
                <a:latin typeface="Arial Black"/>
                <a:ea typeface="Arial Black"/>
                <a:cs typeface="Arial Black"/>
              </a:defRPr>
            </a:pPr>
            <a:r>
              <a:rPr sz="3900" b="1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Serverless URL</a:t>
            </a:r>
          </a:p>
          <a:p xmlns:a="http://schemas.openxmlformats.org/drawingml/2006/main">
            <a:pPr algn="l">
              <a:defRPr sz="3900" b="1">
                <a:solidFill>
                  <a:srgbClr val="111111"/>
                </a:solidFill>
                <a:latin typeface="Arial Black"/>
                <a:ea typeface="Arial Black"/>
                <a:cs typeface="Arial Black"/>
              </a:defRPr>
            </a:pPr>
            <a:r>
              <a:rPr sz="3900" b="1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Shortener with</a:t>
            </a:r>
          </a:p>
          <a:p xmlns:a="http://schemas.openxmlformats.org/drawingml/2006/main">
            <a:pPr algn="l">
              <a:defRPr sz="3900" b="1">
                <a:solidFill>
                  <a:srgbClr val="111111"/>
                </a:solidFill>
                <a:latin typeface="Arial Black"/>
                <a:ea typeface="Arial Black"/>
                <a:cs typeface="Arial Black"/>
              </a:defRPr>
            </a:pPr>
            <a:r>
              <a:rPr sz="3900" b="1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Analytics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871B37-29C3-4091-A783-ECE2378D4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0350"/>
            <a:ext cx="609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F3A4A"/>
                </a:solidFill>
                <a:latin typeface="Arial Black"/>
                <a:ea typeface="Arial Black"/>
                <a:cs typeface="Arial Black"/>
              </a:defRPr>
            </a:pPr>
            <a:r>
              <a:rPr sz="1875" b="1">
                <a:solidFill>
                  <a:srgbClr val="2F3A4A"/>
                </a:solidFill>
                <a:latin typeface="Arial Black"/>
                <a:ea typeface="Arial Black"/>
                <a:cs typeface="Arial Black"/>
              </a:rPr>
              <a:t>Cloud Computing Project using AWS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D6CECB-5239-4D7A-8ACC-D6C881AD4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814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9A4FF5-6923-4DAD-BE01-9C10495A0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05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BCE0FD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AAED3A-8D49-4626-910D-FABA7C8BE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00450"/>
            <a:ext cx="4610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rial Black"/>
                <a:ea typeface="Arial Black"/>
                <a:cs typeface="Arial Black"/>
              </a:defRPr>
            </a:pPr>
            <a:r>
              <a:rPr sz="1500" b="1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AWS Lambda + API Gateway + DynamoDB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A4890B-DB1D-4957-8F2E-A06D25445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00600"/>
            <a:ext cx="481965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4882E6-4A79-48F6-BB2F-AFD7CD430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05350"/>
            <a:ext cx="481965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C2F29D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151F06-D92D-4926-AEF5-9425675A0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2095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 Black"/>
                <a:ea typeface="Arial Black"/>
                <a:cs typeface="Arial Black"/>
              </a:defRPr>
            </a:pPr>
            <a:r>
              <a:rPr sz="1650" b="1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Presented By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4F96CE-A394-4888-9F0B-36DA2DDFF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67350"/>
            <a:ext cx="36766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F3A4A"/>
                </a:solidFill>
                <a:latin typeface="Arial Black"/>
                <a:ea typeface="Arial Black"/>
                <a:cs typeface="Arial Black"/>
              </a:defRPr>
            </a:pPr>
            <a:r>
              <a:rPr sz="1725" b="1">
                <a:solidFill>
                  <a:srgbClr val="2F3A4A"/>
                </a:solidFill>
                <a:latin typeface="Arial Black"/>
                <a:ea typeface="Arial Black"/>
                <a:cs typeface="Arial Black"/>
              </a:rPr>
              <a:t>Pankaj Raikar — 1RV25MC065</a:t>
            </a:r>
          </a:p>
          <a:p xmlns:a="http://schemas.openxmlformats.org/drawingml/2006/main">
            <a:pPr algn="l">
              <a:defRPr sz="1725" b="1">
                <a:solidFill>
                  <a:srgbClr val="2F3A4A"/>
                </a:solidFill>
                <a:latin typeface="Arial Black"/>
                <a:ea typeface="Arial Black"/>
                <a:cs typeface="Arial Black"/>
              </a:defRPr>
            </a:pPr>
            <a:r>
              <a:rPr sz="1725" b="1">
                <a:solidFill>
                  <a:srgbClr val="2F3A4A"/>
                </a:solidFill>
                <a:latin typeface="Arial Black"/>
                <a:ea typeface="Arial Black"/>
                <a:cs typeface="Arial Black"/>
              </a:rPr>
              <a:t>Prem Kamble — 1RV25MC074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D916F1-F712-4C96-90F4-3E1D43AF0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248150"/>
            <a:ext cx="373380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214045-36BA-46D3-A8AC-877BB3678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152900"/>
            <a:ext cx="373380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BCE0FD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1008C5-EF1A-4FC4-9393-84E0ACEC6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495800"/>
            <a:ext cx="2476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rial Black"/>
                <a:ea typeface="Arial Black"/>
                <a:cs typeface="Arial Black"/>
              </a:defRPr>
            </a:pPr>
            <a:r>
              <a:rPr sz="1800" b="1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Serverless Goal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20D9FB-61A8-4D57-88DA-46113E1A2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991100"/>
            <a:ext cx="2762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F3A4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F3A4A"/>
                </a:solidFill>
                <a:latin typeface="Arial"/>
                <a:ea typeface="Arial"/>
                <a:cs typeface="Arial"/>
              </a:rPr>
              <a:t>Short links, fast redirects, analytics, and automatic cloud scalability.</a:t>
            </a:r>
          </a:p>
        </p:txBody>
      </p:sp>
    </p:spTree>
    <p:extLst>
      <p:ext uri="{BB962C8B-B14F-4D97-AF65-F5344CB8AC3E}">
        <p14:creationId xmlns:p14="http://schemas.microsoft.com/office/powerpoint/2010/main" val="4837735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90DFD3B-C764-45FE-AC5C-F802B662A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99836D-1949-4404-89C1-586B852D3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9906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11111"/>
                </a:solidFill>
                <a:latin typeface="Arial Black"/>
                <a:ea typeface="Arial Black"/>
                <a:cs typeface="Arial Black"/>
              </a:defRPr>
            </a:pPr>
            <a:r>
              <a:rPr sz="3750" b="1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Introduction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B685E4-8921-4C2D-9C7B-46B8204E2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14450"/>
            <a:ext cx="9906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B7280"/>
                </a:solidFill>
                <a:latin typeface="Arial Black"/>
                <a:ea typeface="Arial Black"/>
                <a:cs typeface="Arial Black"/>
              </a:defRPr>
            </a:pPr>
            <a:r>
              <a:rPr sz="1800" b="1">
                <a:solidFill>
                  <a:srgbClr val="6B7280"/>
                </a:solidFill>
                <a:latin typeface="Arial Black"/>
                <a:ea typeface="Arial Black"/>
                <a:cs typeface="Arial Black"/>
              </a:rPr>
              <a:t>A URL shortener converts long web addresses into compact links that are easier to share and track.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594939-6499-4347-A9A7-A76A2AF39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38400"/>
            <a:ext cx="46291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BDC106-77B6-4716-98C4-4D0C94E20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43150"/>
            <a:ext cx="46291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AFCDC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FA77FF-67F5-4D4A-98B9-A98A3622B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2415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rial Black"/>
                <a:ea typeface="Arial Black"/>
                <a:cs typeface="Arial Black"/>
              </a:defRPr>
            </a:pPr>
            <a:r>
              <a:rPr sz="1800" b="1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Original URL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43485E-F175-4E6C-9BCC-74356879E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57550"/>
            <a:ext cx="3333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F3A4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F3A4A"/>
                </a:solidFill>
                <a:latin typeface="Arial"/>
                <a:ea typeface="Arial"/>
                <a:cs typeface="Arial"/>
              </a:rPr>
              <a:t>https://amazon.in/products/mobile/iphone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5BCF89-A70D-418D-BED4-9CD441989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343275"/>
            <a:ext cx="76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97777F-24B3-4034-AE03-1DC001E22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228975"/>
            <a:ext cx="266700" cy="2667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0BFA42-443F-40E1-8253-0C8BD2584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438400"/>
            <a:ext cx="34290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CA04FF-E92B-4D96-8679-AC193FF4A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343150"/>
            <a:ext cx="34290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2F2FF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FECCBA-6696-4E82-9392-A72D49BBE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72415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rial Black"/>
                <a:ea typeface="Arial Black"/>
                <a:cs typeface="Arial Black"/>
              </a:defRPr>
            </a:pPr>
            <a:r>
              <a:rPr sz="1800" b="1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Short URL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737003-66EB-4803-81A4-A396F868B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295650"/>
            <a:ext cx="2857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F3A4A"/>
                </a:solidFill>
                <a:latin typeface="Arial Black"/>
                <a:ea typeface="Arial Black"/>
                <a:cs typeface="Arial Black"/>
              </a:defRPr>
            </a:pPr>
            <a:r>
              <a:rPr sz="1575" b="1">
                <a:solidFill>
                  <a:srgbClr val="2F3A4A"/>
                </a:solidFill>
                <a:latin typeface="Arial Black"/>
                <a:ea typeface="Arial Black"/>
                <a:cs typeface="Arial Black"/>
              </a:rPr>
              <a:t>https://short.ly/aX92k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15AC67-18E4-46D8-80AA-2FB2C165D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0"/>
            <a:ext cx="23241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5A2254-98CE-4FA1-806E-2DF1F740B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67300"/>
            <a:ext cx="23241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5F33DF-6F2C-4BC5-A23C-C10307265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162550"/>
            <a:ext cx="1981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Arial Black"/>
                <a:ea typeface="Arial Black"/>
                <a:cs typeface="Arial Black"/>
              </a:defRPr>
            </a:pPr>
            <a:r>
              <a:rPr sz="1650" b="1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Main Features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DFDCFF-9DE6-4285-997F-3600DE8B0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1054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CE0FD"/>
          </a:solidFill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A59B73-2EF0-4418-88C5-203AD5DD7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5029200"/>
            <a:ext cx="5638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F3A4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F3A4A"/>
                </a:solidFill>
                <a:latin typeface="Arial"/>
                <a:ea typeface="Arial"/>
                <a:cs typeface="Arial"/>
              </a:rPr>
              <a:t>Short URL generation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B5B0A0-6CC3-4250-BAD6-1A1FB957E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4483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CE0FD"/>
          </a:solidFill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9C9367-DC07-4389-9097-15C88A137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5372100"/>
            <a:ext cx="5638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F3A4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F3A4A"/>
                </a:solidFill>
                <a:latin typeface="Arial"/>
                <a:ea typeface="Arial"/>
                <a:cs typeface="Arial"/>
              </a:rPr>
              <a:t>Fast redirection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316083-E246-4A83-AA03-9CE4747F9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7912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CE0FD"/>
          </a:solidFill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F2C80C-7279-4D2D-96D0-3EF40562F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5715000"/>
            <a:ext cx="5638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F3A4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F3A4A"/>
                </a:solidFill>
                <a:latin typeface="Arial"/>
                <a:ea typeface="Arial"/>
                <a:cs typeface="Arial"/>
              </a:rPr>
              <a:t>Click analytics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126BA1-91DC-46D2-9126-38C5578CF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1341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CE0FD"/>
          </a:solidFill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ABA03E-357A-4EAD-B815-53E5C7180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6057900"/>
            <a:ext cx="5638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F3A4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F3A4A"/>
                </a:solidFill>
                <a:latin typeface="Arial"/>
                <a:ea typeface="Arial"/>
                <a:cs typeface="Arial"/>
              </a:rPr>
              <a:t>Cloud deployment</a:t>
            </a:r>
          </a:p>
        </p:txBody>
      </p:sp>
    </p:spTree>
    <p:extLst>
      <p:ext uri="{BB962C8B-B14F-4D97-AF65-F5344CB8AC3E}">
        <p14:creationId xmlns:p14="http://schemas.microsoft.com/office/powerpoint/2010/main" val="15873702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798C29D-D945-4F06-ABA8-9275B5198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9C9D89-5332-4F9C-8E2E-8D97CAE23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9906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11111"/>
                </a:solidFill>
                <a:latin typeface="Arial Black"/>
                <a:ea typeface="Arial Black"/>
                <a:cs typeface="Arial Black"/>
              </a:defRPr>
            </a:pPr>
            <a:r>
              <a:rPr sz="3750" b="1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Project Objective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CA3FE4-E927-4228-888A-1FCFDF28B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14450"/>
            <a:ext cx="9906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B7280"/>
                </a:solidFill>
                <a:latin typeface="Arial Black"/>
                <a:ea typeface="Arial Black"/>
                <a:cs typeface="Arial Black"/>
              </a:defRPr>
            </a:pPr>
            <a:r>
              <a:rPr sz="1800" b="1">
                <a:solidFill>
                  <a:srgbClr val="6B7280"/>
                </a:solidFill>
                <a:latin typeface="Arial Black"/>
                <a:ea typeface="Arial Black"/>
                <a:cs typeface="Arial Black"/>
              </a:rPr>
              <a:t>Build a scalable cloud-based URL shortener using AWS serverless services.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659D2A-D583-466B-BD74-2448AA44B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38400"/>
            <a:ext cx="411480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30CFD2-DCE2-4E7A-892A-739F15F5D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43150"/>
            <a:ext cx="411480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BCE0FD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FA291C-EA4E-47A8-A6C8-8E8CDB303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743200"/>
            <a:ext cx="209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111"/>
                </a:solidFill>
                <a:latin typeface="Arial Black"/>
                <a:ea typeface="Arial Black"/>
                <a:cs typeface="Arial Black"/>
              </a:defRPr>
            </a:pPr>
            <a:r>
              <a:rPr sz="2325" b="1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Objective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FF6EFE-9DB8-4734-ACCD-4CBF9417A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409950"/>
            <a:ext cx="29908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F3A4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F3A4A"/>
                </a:solidFill>
                <a:latin typeface="Arial"/>
                <a:ea typeface="Arial"/>
                <a:cs typeface="Arial"/>
              </a:rPr>
              <a:t>Use cloud-native architecture to reduce long URLs, process redirects, and track user click activity.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C9988E-F940-40B9-B2A0-E222908FA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762500"/>
            <a:ext cx="2990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F3A4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F3A4A"/>
                </a:solidFill>
                <a:latin typeface="Arial"/>
                <a:ea typeface="Arial"/>
                <a:cs typeface="Arial"/>
              </a:rPr>
              <a:t>Server management stays minimal because execution is event-driven.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84F201-5406-4D66-BE29-8956A4DAA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438400"/>
            <a:ext cx="499110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D56E8C-FAAB-440F-A174-7B4E402B8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343150"/>
            <a:ext cx="499110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C2F29D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2D2D48-ED71-47CA-9961-47AF2A75E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743200"/>
            <a:ext cx="1619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111"/>
                </a:solidFill>
                <a:latin typeface="Arial Black"/>
                <a:ea typeface="Arial Black"/>
                <a:cs typeface="Arial Black"/>
              </a:defRPr>
            </a:pPr>
            <a:r>
              <a:rPr sz="2325" b="1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Goals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474256-7644-4452-B3A3-90DC714E1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099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80435E-A5E3-4995-8507-9D568DCAE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333750"/>
            <a:ext cx="3448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F3A4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F3A4A"/>
                </a:solidFill>
                <a:latin typeface="Arial"/>
                <a:ea typeface="Arial"/>
                <a:cs typeface="Arial"/>
              </a:rPr>
              <a:t>Reduce long URLs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D49D4F-FA76-4B56-A03B-3EF027372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719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DF51F4-93FE-470D-9623-B91861DC1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695700"/>
            <a:ext cx="3448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F3A4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F3A4A"/>
                </a:solidFill>
                <a:latin typeface="Arial"/>
                <a:ea typeface="Arial"/>
                <a:cs typeface="Arial"/>
              </a:rPr>
              <a:t>Track user clicks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66F8B3-0365-48A1-8758-AA0110A89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1338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67AB2C-1666-4D18-B485-4ACE53225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057650"/>
            <a:ext cx="3448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F3A4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F3A4A"/>
                </a:solidFill>
                <a:latin typeface="Arial"/>
                <a:ea typeface="Arial"/>
                <a:cs typeface="Arial"/>
              </a:rPr>
              <a:t>Use cloud-native architecture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08FD12-FEA6-406D-805E-76CE59ABE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4958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E76899-8930-475E-8BEF-51E6B498F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419600"/>
            <a:ext cx="3448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F3A4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F3A4A"/>
                </a:solidFill>
                <a:latin typeface="Arial"/>
                <a:ea typeface="Arial"/>
                <a:cs typeface="Arial"/>
              </a:rPr>
              <a:t>Achieve automatic scalability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BDE878-DAD2-4379-A37F-5A5CD2851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8577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019490-CEAF-4A95-9F01-BF0912AAA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781550"/>
            <a:ext cx="3448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F3A4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F3A4A"/>
                </a:solidFill>
                <a:latin typeface="Arial"/>
                <a:ea typeface="Arial"/>
                <a:cs typeface="Arial"/>
              </a:rPr>
              <a:t>Minimize server management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FCC875-B90A-4E80-BD56-7A39C3142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43150"/>
            <a:ext cx="9144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7FB823-0018-4629-82A2-1710047FC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266950"/>
            <a:ext cx="914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111"/>
                </a:solidFill>
                <a:latin typeface="Arial Black"/>
                <a:ea typeface="Arial Black"/>
                <a:cs typeface="Arial Black"/>
              </a:defRPr>
            </a:pPr>
            <a:r>
              <a:rPr sz="2400" b="1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AWS</a:t>
            </a:r>
          </a:p>
        </p:txBody>
      </p:sp>
    </p:spTree>
    <p:extLst>
      <p:ext uri="{BB962C8B-B14F-4D97-AF65-F5344CB8AC3E}">
        <p14:creationId xmlns:p14="http://schemas.microsoft.com/office/powerpoint/2010/main" val="85629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E4BA96C-9282-4E78-A636-5E3A7483E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595C2D-C542-4EF0-A898-6A1723005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9906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11111"/>
                </a:solidFill>
                <a:latin typeface="Arial Black"/>
                <a:ea typeface="Arial Black"/>
                <a:cs typeface="Arial Black"/>
              </a:defRPr>
            </a:pPr>
            <a:r>
              <a:rPr sz="3750" b="1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AWS Services Used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DFA131-A392-4D34-AED8-C3453A856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14450"/>
            <a:ext cx="9906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B7280"/>
                </a:solidFill>
                <a:latin typeface="Arial Black"/>
                <a:ea typeface="Arial Black"/>
                <a:cs typeface="Arial Black"/>
              </a:defRPr>
            </a:pPr>
            <a:r>
              <a:rPr sz="1800" b="1">
                <a:solidFill>
                  <a:srgbClr val="6B7280"/>
                </a:solidFill>
                <a:latin typeface="Arial Black"/>
                <a:ea typeface="Arial Black"/>
                <a:cs typeface="Arial Black"/>
              </a:rPr>
              <a:t>Each service handles a focused part of the serverless URL shortener workflow.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8BF4C0-D15F-421E-A253-A326395CF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238375"/>
            <a:ext cx="981075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17399A-646E-495D-B584-DE4D9CAA1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52650"/>
            <a:ext cx="3619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E0FD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D43863-2FDB-447E-9592-1AD1E03CF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66950"/>
            <a:ext cx="3314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rial Black"/>
                <a:ea typeface="Arial Black"/>
                <a:cs typeface="Arial Black"/>
              </a:defRPr>
            </a:pPr>
            <a:r>
              <a:rPr sz="1350" b="1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AWS Service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19EB7A-C45E-42A7-84D6-B0471C155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52650"/>
            <a:ext cx="619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E0FD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D84A30-1D74-4AB9-80DA-45F90C72E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266950"/>
            <a:ext cx="5886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rial Black"/>
                <a:ea typeface="Arial Black"/>
                <a:cs typeface="Arial Black"/>
              </a:defRPr>
            </a:pPr>
            <a:r>
              <a:rPr sz="1350" b="1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Purpose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62F8DE-3590-4F91-BCCD-DC339A0E4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67000"/>
            <a:ext cx="3619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2511D5-6498-40B9-9C23-51F30BE36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81300"/>
            <a:ext cx="3314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3A4A"/>
                </a:solidFill>
                <a:latin typeface="Arial Black"/>
                <a:ea typeface="Arial Black"/>
                <a:cs typeface="Arial Black"/>
              </a:defRPr>
            </a:pPr>
            <a:r>
              <a:rPr sz="1200" b="1">
                <a:solidFill>
                  <a:srgbClr val="2F3A4A"/>
                </a:solidFill>
                <a:latin typeface="Arial Black"/>
                <a:ea typeface="Arial Black"/>
                <a:cs typeface="Arial Black"/>
              </a:rPr>
              <a:t>AWS Lambda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F13724-8898-4201-99B3-9BD09F94C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67000"/>
            <a:ext cx="619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BDF344-8BBB-4E11-B143-1C9986433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781300"/>
            <a:ext cx="5886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F3A4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F3A4A"/>
                </a:solidFill>
                <a:latin typeface="Arial"/>
                <a:ea typeface="Arial"/>
                <a:cs typeface="Arial"/>
              </a:rPr>
              <a:t>Backend logic for create, redirect, and analytics updates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3FB399-0D26-4A44-8D30-AFDEF7C1A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81350"/>
            <a:ext cx="3619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682C78-2864-4A90-A88E-62EFB70EA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95650"/>
            <a:ext cx="3314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3A4A"/>
                </a:solidFill>
                <a:latin typeface="Arial Black"/>
                <a:ea typeface="Arial Black"/>
                <a:cs typeface="Arial Black"/>
              </a:defRPr>
            </a:pPr>
            <a:r>
              <a:rPr sz="1200" b="1">
                <a:solidFill>
                  <a:srgbClr val="2F3A4A"/>
                </a:solidFill>
                <a:latin typeface="Arial Black"/>
                <a:ea typeface="Arial Black"/>
                <a:cs typeface="Arial Black"/>
              </a:rPr>
              <a:t>API Gateway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D8B3F2-A130-4C22-AC1C-574B52035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81350"/>
            <a:ext cx="619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78FED6-62BD-4BE6-8AB6-92C45C180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295650"/>
            <a:ext cx="5886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F3A4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F3A4A"/>
                </a:solidFill>
                <a:latin typeface="Arial"/>
                <a:ea typeface="Arial"/>
                <a:cs typeface="Arial"/>
              </a:rPr>
              <a:t>API communication between frontend and Lambda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41EBB9-BCBC-47A1-9948-AB0901B86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95700"/>
            <a:ext cx="3619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F956D3-09BD-4F75-812E-67FD024B9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10000"/>
            <a:ext cx="3314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3A4A"/>
                </a:solidFill>
                <a:latin typeface="Arial Black"/>
                <a:ea typeface="Arial Black"/>
                <a:cs typeface="Arial Black"/>
              </a:defRPr>
            </a:pPr>
            <a:r>
              <a:rPr sz="1200" b="1">
                <a:solidFill>
                  <a:srgbClr val="2F3A4A"/>
                </a:solidFill>
                <a:latin typeface="Arial Black"/>
                <a:ea typeface="Arial Black"/>
                <a:cs typeface="Arial Black"/>
              </a:rPr>
              <a:t>DynamoDB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3BF1EC-CC14-4355-A96B-9AD0A9396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695700"/>
            <a:ext cx="619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C5EDF9-E1D3-43F4-905D-9EF136439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810000"/>
            <a:ext cx="5886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F3A4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F3A4A"/>
                </a:solidFill>
                <a:latin typeface="Arial"/>
                <a:ea typeface="Arial"/>
                <a:cs typeface="Arial"/>
              </a:rPr>
              <a:t>Store original URLs, short IDs, and click analytics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DA644C-F8EC-4B50-9821-7C393FBE9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10050"/>
            <a:ext cx="3619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770291-033E-44CB-B23E-E789CB51B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24350"/>
            <a:ext cx="3314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3A4A"/>
                </a:solidFill>
                <a:latin typeface="Arial Black"/>
                <a:ea typeface="Arial Black"/>
                <a:cs typeface="Arial Black"/>
              </a:defRPr>
            </a:pPr>
            <a:r>
              <a:rPr sz="1200" b="1">
                <a:solidFill>
                  <a:srgbClr val="2F3A4A"/>
                </a:solidFill>
                <a:latin typeface="Arial Black"/>
                <a:ea typeface="Arial Black"/>
                <a:cs typeface="Arial Black"/>
              </a:rPr>
              <a:t>Amazon S3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B931D1-A2C9-4A62-87E5-0E1C829B6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10050"/>
            <a:ext cx="619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347D9D-1394-429A-B44C-4A9D87DB4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324350"/>
            <a:ext cx="5886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F3A4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F3A4A"/>
                </a:solidFill>
                <a:latin typeface="Arial"/>
                <a:ea typeface="Arial"/>
                <a:cs typeface="Arial"/>
              </a:rPr>
              <a:t>Static frontend hosting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E2D47C9-BDAE-49AB-854F-75060517D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24400"/>
            <a:ext cx="3619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F6B8B22-C8D9-4589-9A77-CF5AAD01C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38700"/>
            <a:ext cx="3314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3A4A"/>
                </a:solidFill>
                <a:latin typeface="Arial Black"/>
                <a:ea typeface="Arial Black"/>
                <a:cs typeface="Arial Black"/>
              </a:defRPr>
            </a:pPr>
            <a:r>
              <a:rPr sz="1200" b="1">
                <a:solidFill>
                  <a:srgbClr val="2F3A4A"/>
                </a:solidFill>
                <a:latin typeface="Arial Black"/>
                <a:ea typeface="Arial Black"/>
                <a:cs typeface="Arial Black"/>
              </a:rPr>
              <a:t>CloudFront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C9D90DD-0BBB-4EBE-9494-7A0558DD2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724400"/>
            <a:ext cx="619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3F14A3A-1904-455E-BD63-12D0CAF27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838700"/>
            <a:ext cx="5886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F3A4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F3A4A"/>
                </a:solidFill>
                <a:latin typeface="Arial"/>
                <a:ea typeface="Arial"/>
                <a:cs typeface="Arial"/>
              </a:rPr>
              <a:t>CDN for fast global delivery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3C9B10B-A67F-48A8-ACC8-49C42FC65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38750"/>
            <a:ext cx="3619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171CBDA-BB56-41FA-A3DA-249D14BDB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353050"/>
            <a:ext cx="3314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3A4A"/>
                </a:solidFill>
                <a:latin typeface="Arial Black"/>
                <a:ea typeface="Arial Black"/>
                <a:cs typeface="Arial Black"/>
              </a:defRPr>
            </a:pPr>
            <a:r>
              <a:rPr sz="1200" b="1">
                <a:solidFill>
                  <a:srgbClr val="2F3A4A"/>
                </a:solidFill>
                <a:latin typeface="Arial Black"/>
                <a:ea typeface="Arial Black"/>
                <a:cs typeface="Arial Black"/>
              </a:rPr>
              <a:t>CloudWatch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F1B7647-9F0B-4FD2-BAED-DF60DF436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238750"/>
            <a:ext cx="619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171559A-EEBB-4C8A-B615-7660A47BC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5353050"/>
            <a:ext cx="5886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F3A4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F3A4A"/>
                </a:solidFill>
                <a:latin typeface="Arial"/>
                <a:ea typeface="Arial"/>
                <a:cs typeface="Arial"/>
              </a:rPr>
              <a:t>Monitoring, logs, and error tracking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DCF35C5-A128-45EA-91D1-159FF0A8F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53100"/>
            <a:ext cx="3619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9BE7EC6-3B8A-492A-9CE8-228D2BF62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867400"/>
            <a:ext cx="3314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3A4A"/>
                </a:solidFill>
                <a:latin typeface="Arial Black"/>
                <a:ea typeface="Arial Black"/>
                <a:cs typeface="Arial Black"/>
              </a:defRPr>
            </a:pPr>
            <a:r>
              <a:rPr sz="1200" b="1">
                <a:solidFill>
                  <a:srgbClr val="2F3A4A"/>
                </a:solidFill>
                <a:latin typeface="Arial Black"/>
                <a:ea typeface="Arial Black"/>
                <a:cs typeface="Arial Black"/>
              </a:rPr>
              <a:t>IAM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5929D0D-FA92-46D9-8DA4-45676BF52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753100"/>
            <a:ext cx="619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8EB7465-A49C-4873-BBBB-D28F83081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5867400"/>
            <a:ext cx="5886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F3A4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F3A4A"/>
                </a:solidFill>
                <a:latin typeface="Arial"/>
                <a:ea typeface="Arial"/>
                <a:cs typeface="Arial"/>
              </a:rPr>
              <a:t>Security roles and permissions</a:t>
            </a:r>
          </a:p>
        </p:txBody>
      </p:sp>
    </p:spTree>
    <p:extLst>
      <p:ext uri="{BB962C8B-B14F-4D97-AF65-F5344CB8AC3E}">
        <p14:creationId xmlns:p14="http://schemas.microsoft.com/office/powerpoint/2010/main" val="69632373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FB63240-DE9F-418A-B5BA-E126CE243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584FCE-C29F-494C-A8DF-6EC990D61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9906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11111"/>
                </a:solidFill>
                <a:latin typeface="Arial Black"/>
                <a:ea typeface="Arial Black"/>
                <a:cs typeface="Arial Black"/>
              </a:defRPr>
            </a:pPr>
            <a:r>
              <a:rPr sz="3750" b="1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System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9316B9-61F1-49B4-9AB2-135667130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14450"/>
            <a:ext cx="9906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B7280"/>
                </a:solidFill>
                <a:latin typeface="Arial Black"/>
                <a:ea typeface="Arial Black"/>
                <a:cs typeface="Arial Black"/>
              </a:defRPr>
            </a:pPr>
            <a:r>
              <a:rPr sz="1800" b="1">
                <a:solidFill>
                  <a:srgbClr val="6B7280"/>
                </a:solidFill>
                <a:latin typeface="Arial Black"/>
                <a:ea typeface="Arial Black"/>
                <a:cs typeface="Arial Black"/>
              </a:rPr>
              <a:t>A serverless flow handles link creation, redirection, and analytics without managing servers.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EDA1F8-38E1-4E01-A302-1B73594ED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114550"/>
            <a:ext cx="40957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DD0170-9441-4025-8429-88E88D50C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038350"/>
            <a:ext cx="40957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C2F29D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CBBB90-D549-4D0B-B494-E3A8169F9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190750"/>
            <a:ext cx="3714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Arial Black"/>
                <a:ea typeface="Arial Black"/>
                <a:cs typeface="Arial Black"/>
              </a:defRPr>
            </a:pPr>
            <a:r>
              <a:rPr sz="1500" b="1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User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1A0B39-4E36-451A-B984-425AE0358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514600"/>
            <a:ext cx="371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F3A4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2F3A4A"/>
                </a:solidFill>
                <a:latin typeface="Arial"/>
                <a:ea typeface="Arial"/>
                <a:cs typeface="Arial"/>
              </a:rPr>
              <a:t>Submits long URL or clicks short URL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CDCC40-5570-4FF2-B8C6-C58634335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533650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EAA0C5-D93A-4C87-AA55-3426C0E53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686050"/>
            <a:ext cx="266700" cy="2667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C4726D-1D53-4B0F-AB69-B76B6BD97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933700"/>
            <a:ext cx="40957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300D39-D208-4634-95F1-C2D9A5E13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57500"/>
            <a:ext cx="40957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BCE0FD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701AFD-5EC3-4037-A7EC-FD51FD837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009900"/>
            <a:ext cx="3714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Arial Black"/>
                <a:ea typeface="Arial Black"/>
                <a:cs typeface="Arial Black"/>
              </a:defRPr>
            </a:pPr>
            <a:r>
              <a:rPr sz="1500" b="1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Frontend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FDFA15-0E13-4245-944B-23A71D663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333750"/>
            <a:ext cx="371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F3A4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2F3A4A"/>
                </a:solidFill>
                <a:latin typeface="Arial"/>
                <a:ea typeface="Arial"/>
                <a:cs typeface="Arial"/>
              </a:rPr>
              <a:t>S3 + CloudFront website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8E29A0-86AF-41F6-A1AB-EE7E56266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352800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5280AC-7CCD-49B9-BB2E-645985318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505200"/>
            <a:ext cx="266700" cy="2667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585756-AB5C-4D11-9DDC-463EBE63A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52850"/>
            <a:ext cx="40957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9CFB5F-57B5-40C7-982A-8CC42D8B0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676650"/>
            <a:ext cx="40957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C2F29D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1888B4-4848-482D-959B-290E04BAB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829050"/>
            <a:ext cx="3714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Arial Black"/>
                <a:ea typeface="Arial Black"/>
                <a:cs typeface="Arial Black"/>
              </a:defRPr>
            </a:pPr>
            <a:r>
              <a:rPr sz="1500" b="1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API Gateway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91E20F-4997-4FF6-AA9C-767267CCD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152900"/>
            <a:ext cx="371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F3A4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2F3A4A"/>
                </a:solidFill>
                <a:latin typeface="Arial"/>
                <a:ea typeface="Arial"/>
                <a:cs typeface="Arial"/>
              </a:rPr>
              <a:t>Routes REST API requests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7DDD4D-A84A-4EF9-8949-6902AE45B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171950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E5CF14-3C00-429C-8D6C-B88705F3E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324350"/>
            <a:ext cx="266700" cy="2667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AE97DD-5B8E-446E-84C6-34FFD2CD4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572000"/>
            <a:ext cx="40957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FE8A00-895B-47F8-9A1E-AE73F1147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495800"/>
            <a:ext cx="40957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BCE0FD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21003A3-0D57-460A-833A-710B41512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648200"/>
            <a:ext cx="3714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Arial Black"/>
                <a:ea typeface="Arial Black"/>
                <a:cs typeface="Arial Black"/>
              </a:defRPr>
            </a:pPr>
            <a:r>
              <a:rPr sz="1500" b="1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AWS Lambda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9C55CA-B726-4DDC-8D17-387A31A66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972050"/>
            <a:ext cx="371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F3A4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2F3A4A"/>
                </a:solidFill>
                <a:latin typeface="Arial"/>
                <a:ea typeface="Arial"/>
                <a:cs typeface="Arial"/>
              </a:rPr>
              <a:t>Executes backend logic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033A77F-A7F3-4CEA-8C79-411DABF64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991100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F234AA5-BA39-4BDE-8CA7-0E944F203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5143500"/>
            <a:ext cx="266700" cy="2667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7C73DCC-C301-4798-9F71-907D644B0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391150"/>
            <a:ext cx="40957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5AED391-8EB9-436F-86CE-276C448C1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314950"/>
            <a:ext cx="40957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C2F29D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C3E1767-DA10-4AFD-AC69-2F1FC92E9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467350"/>
            <a:ext cx="3714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Arial Black"/>
                <a:ea typeface="Arial Black"/>
                <a:cs typeface="Arial Black"/>
              </a:defRPr>
            </a:pPr>
            <a:r>
              <a:rPr sz="1500" b="1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DynamoDB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C02D4FA-16B6-43CF-AF5C-13C48229A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791200"/>
            <a:ext cx="371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F3A4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2F3A4A"/>
                </a:solidFill>
                <a:latin typeface="Arial"/>
                <a:ea typeface="Arial"/>
                <a:cs typeface="Arial"/>
              </a:rPr>
              <a:t>Stores URLs and analytics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F9F78CA-6507-446F-AADD-34C417078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514600"/>
            <a:ext cx="369570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36C6D2D-A981-455A-8067-2E986B97E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419350"/>
            <a:ext cx="369570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E2F2FF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F53C4C6-73F4-4878-8A97-CB09B250B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819400"/>
            <a:ext cx="2476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Arial Black"/>
                <a:ea typeface="Arial Black"/>
                <a:cs typeface="Arial Black"/>
              </a:defRPr>
            </a:pPr>
            <a:r>
              <a:rPr sz="2250" b="1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Analytics Flow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A4EBAB6-E36C-46BD-8842-87A9DDF63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390900"/>
            <a:ext cx="26670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F3A4A"/>
                </a:solidFill>
                <a:latin typeface="Arial Black"/>
                <a:ea typeface="Arial Black"/>
                <a:cs typeface="Arial Black"/>
              </a:defRPr>
            </a:pPr>
            <a:r>
              <a:rPr sz="1500" b="1">
                <a:solidFill>
                  <a:srgbClr val="2F3A4A"/>
                </a:solidFill>
                <a:latin typeface="Arial Black"/>
                <a:ea typeface="Arial Black"/>
                <a:cs typeface="Arial Black"/>
              </a:rPr>
              <a:t>User Click</a:t>
            </a:r>
          </a:p>
          <a:p xmlns:a="http://schemas.openxmlformats.org/drawingml/2006/main">
            <a:pPr algn="ctr">
              <a:defRPr sz="1500" b="1">
                <a:solidFill>
                  <a:srgbClr val="2F3A4A"/>
                </a:solidFill>
                <a:latin typeface="Arial Black"/>
                <a:ea typeface="Arial Black"/>
                <a:cs typeface="Arial Black"/>
              </a:defRPr>
            </a:pPr>
            <a:r>
              <a:rPr sz="1500" b="1">
                <a:solidFill>
                  <a:srgbClr val="2F3A4A"/>
                </a:solidFill>
                <a:latin typeface="Arial Black"/>
                <a:ea typeface="Arial Black"/>
                <a:cs typeface="Arial Black"/>
              </a:rPr>
              <a:t>→ Lambda Runs</a:t>
            </a:r>
          </a:p>
          <a:p xmlns:a="http://schemas.openxmlformats.org/drawingml/2006/main">
            <a:pPr algn="ctr">
              <a:defRPr sz="1500" b="1">
                <a:solidFill>
                  <a:srgbClr val="2F3A4A"/>
                </a:solidFill>
                <a:latin typeface="Arial Black"/>
                <a:ea typeface="Arial Black"/>
                <a:cs typeface="Arial Black"/>
              </a:defRPr>
            </a:pPr>
            <a:r>
              <a:rPr sz="1500" b="1">
                <a:solidFill>
                  <a:srgbClr val="2F3A4A"/>
                </a:solidFill>
                <a:latin typeface="Arial Black"/>
                <a:ea typeface="Arial Black"/>
                <a:cs typeface="Arial Black"/>
              </a:rPr>
              <a:t>→ Count Updated</a:t>
            </a:r>
          </a:p>
          <a:p xmlns:a="http://schemas.openxmlformats.org/drawingml/2006/main">
            <a:pPr algn="ctr">
              <a:defRPr sz="1500" b="1">
                <a:solidFill>
                  <a:srgbClr val="2F3A4A"/>
                </a:solidFill>
                <a:latin typeface="Arial Black"/>
                <a:ea typeface="Arial Black"/>
                <a:cs typeface="Arial Black"/>
              </a:defRPr>
            </a:pPr>
            <a:r>
              <a:rPr sz="1500" b="1">
                <a:solidFill>
                  <a:srgbClr val="2F3A4A"/>
                </a:solidFill>
                <a:latin typeface="Arial Black"/>
                <a:ea typeface="Arial Black"/>
                <a:cs typeface="Arial Black"/>
              </a:rPr>
              <a:t>→ Analytics Stored</a:t>
            </a:r>
          </a:p>
        </p:txBody>
      </p:sp>
    </p:spTree>
    <p:extLst>
      <p:ext uri="{BB962C8B-B14F-4D97-AF65-F5344CB8AC3E}">
        <p14:creationId xmlns:p14="http://schemas.microsoft.com/office/powerpoint/2010/main" val="3069201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05B7B21-F612-476A-8A22-1035F5BF6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41FA0F-7FAF-4C2F-84C6-EB8370FED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9906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11111"/>
                </a:solidFill>
                <a:latin typeface="Arial Black"/>
                <a:ea typeface="Arial Black"/>
                <a:cs typeface="Arial Black"/>
              </a:defRPr>
            </a:pPr>
            <a:r>
              <a:rPr sz="3750" b="1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Frontend and Backend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A64041-D863-4529-A240-5ABDD650D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14450"/>
            <a:ext cx="9906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B7280"/>
                </a:solidFill>
                <a:latin typeface="Arial Black"/>
                <a:ea typeface="Arial Black"/>
                <a:cs typeface="Arial Black"/>
              </a:defRPr>
            </a:pPr>
            <a:r>
              <a:rPr sz="1800" b="1">
                <a:solidFill>
                  <a:srgbClr val="6B7280"/>
                </a:solidFill>
                <a:latin typeface="Arial Black"/>
                <a:ea typeface="Arial Black"/>
                <a:cs typeface="Arial Black"/>
              </a:rPr>
              <a:t>The frontend is hosted statically, while Lambda handles backend execution only when needed.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8994E0-00EF-4D5D-8FFD-A048862A1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62200"/>
            <a:ext cx="4800600" cy="3200400"/>
          </a:xfrm>
          <a:prstGeom xmlns:a="http://schemas.openxmlformats.org/drawingml/2006/main" prst="roundRect">
            <a:avLst>
              <a:gd name="adj" fmla="val 2381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3CE4D5-A75F-4148-972B-56D985D01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66950"/>
            <a:ext cx="4800600" cy="3200400"/>
          </a:xfrm>
          <a:prstGeom xmlns:a="http://schemas.openxmlformats.org/drawingml/2006/main" prst="roundRect">
            <a:avLst>
              <a:gd name="adj" fmla="val 2381"/>
            </a:avLst>
          </a:prstGeom>
          <a:solidFill xmlns:a="http://schemas.openxmlformats.org/drawingml/2006/main">
            <a:srgbClr val="BCE0FD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335138-6ABC-4826-A97E-27C98EEAA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2190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111"/>
                </a:solidFill>
                <a:latin typeface="Arial Black"/>
                <a:ea typeface="Arial Black"/>
                <a:cs typeface="Arial Black"/>
              </a:defRPr>
            </a:pPr>
            <a:r>
              <a:rPr sz="2550" b="1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Frontend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428F9A-3CB4-4375-9BD5-E2C859A42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409950"/>
            <a:ext cx="1714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11A0D2-59CA-4ED1-B8F3-6BAE21B73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33750"/>
            <a:ext cx="1714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D838D4-9A90-4E0B-AC85-771AB0082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429000"/>
            <a:ext cx="1371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Arial Black"/>
                <a:ea typeface="Arial Black"/>
                <a:cs typeface="Arial Black"/>
              </a:defRPr>
            </a:pPr>
            <a:r>
              <a:rPr sz="1350" b="1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Amazon S3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6D6F3F-AA14-42A6-B45A-886F413C4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4099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C9CF98-5F94-441D-BEDF-6E9E4D5C8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3337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B2463C-80CA-4717-B1D0-19ACF127F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429000"/>
            <a:ext cx="1752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Arial Black"/>
                <a:ea typeface="Arial Black"/>
                <a:cs typeface="Arial Black"/>
              </a:defRPr>
            </a:pPr>
            <a:r>
              <a:rPr sz="1350" b="1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CloudFront CDN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F1EA97-6B77-4121-ADAC-4BD773A0E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291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F29D"/>
          </a:solidFill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E3CC36-CA78-44BB-8E1D-4BE131A82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52900"/>
            <a:ext cx="2876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F3A4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F3A4A"/>
                </a:solidFill>
                <a:latin typeface="Arial"/>
                <a:ea typeface="Arial"/>
                <a:cs typeface="Arial"/>
              </a:rPr>
              <a:t>Fast website loading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914F34-BAB8-4A10-BE75-F24B55FB8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6291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F29D"/>
          </a:solidFill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48458C-DCFF-4C51-B349-B32D4058F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52950"/>
            <a:ext cx="2876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F3A4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F3A4A"/>
                </a:solidFill>
                <a:latin typeface="Arial"/>
                <a:ea typeface="Arial"/>
                <a:cs typeface="Arial"/>
              </a:rPr>
              <a:t>Low hosting cost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EF1284-421D-4BD1-932D-F02BAD62F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0292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F29D"/>
          </a:solidFill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76FF04-C7E9-40E4-B688-2FD7EAB5B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53000"/>
            <a:ext cx="2876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F3A4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F3A4A"/>
                </a:solidFill>
                <a:latin typeface="Arial"/>
                <a:ea typeface="Arial"/>
                <a:cs typeface="Arial"/>
              </a:rPr>
              <a:t>Global content delivery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D737D1-35BF-4BDB-B5DF-86E1E29C3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62200"/>
            <a:ext cx="4800600" cy="3200400"/>
          </a:xfrm>
          <a:prstGeom xmlns:a="http://schemas.openxmlformats.org/drawingml/2006/main" prst="roundRect">
            <a:avLst>
              <a:gd name="adj" fmla="val 2381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044EA0-5142-40C0-9FE5-2E1E5B15D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266950"/>
            <a:ext cx="4800600" cy="3200400"/>
          </a:xfrm>
          <a:prstGeom xmlns:a="http://schemas.openxmlformats.org/drawingml/2006/main" prst="roundRect">
            <a:avLst>
              <a:gd name="adj" fmla="val 2381"/>
            </a:avLst>
          </a:prstGeom>
          <a:solidFill xmlns:a="http://schemas.openxmlformats.org/drawingml/2006/main">
            <a:srgbClr val="C2F29D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747653-9F64-49CC-ACA2-7BEE6B2FD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686050"/>
            <a:ext cx="2190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111"/>
                </a:solidFill>
                <a:latin typeface="Arial Black"/>
                <a:ea typeface="Arial Black"/>
                <a:cs typeface="Arial Black"/>
              </a:defRPr>
            </a:pPr>
            <a:r>
              <a:rPr sz="2550" b="1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Backend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F272A6-F99E-44CC-83A7-7EF7FEC27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409950"/>
            <a:ext cx="2762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50FDD6-0607-4056-AAF4-4E2357102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333750"/>
            <a:ext cx="2762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E78FF2-C515-495C-A0C6-67923BA02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429000"/>
            <a:ext cx="2419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Arial Black"/>
                <a:ea typeface="Arial Black"/>
                <a:cs typeface="Arial Black"/>
              </a:defRPr>
            </a:pPr>
            <a:r>
              <a:rPr sz="1350" b="1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AWS Lambda Functions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D83922B-0426-4741-960C-B45890CF9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0767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CE0FD"/>
          </a:solidFill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6F87426-65D9-48C6-B7BB-17E680AF5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000500"/>
            <a:ext cx="3067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F3A4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F3A4A"/>
                </a:solidFill>
                <a:latin typeface="Arial"/>
                <a:ea typeface="Arial"/>
                <a:cs typeface="Arial"/>
              </a:rPr>
              <a:t>Create short URL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5760D34-97EC-4CC2-A07D-CBFF5D37B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4196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CE0FD"/>
          </a:solidFill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CF5D2CC-3C3C-4A0A-B392-9AC75872C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343400"/>
            <a:ext cx="3067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F3A4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F3A4A"/>
                </a:solidFill>
                <a:latin typeface="Arial"/>
                <a:ea typeface="Arial"/>
                <a:cs typeface="Arial"/>
              </a:rPr>
              <a:t>Redirect URLs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C7F3C9A-80AF-472E-9B20-078C326D7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7625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CE0FD"/>
          </a:solidFill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6E1BFCD-ADD2-4194-848F-8595A4AB2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686300"/>
            <a:ext cx="3067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F3A4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F3A4A"/>
                </a:solidFill>
                <a:latin typeface="Arial"/>
                <a:ea typeface="Arial"/>
                <a:cs typeface="Arial"/>
              </a:rPr>
              <a:t>Update analytics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B35C83D-E5EC-43B7-B738-840E0A6D7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1054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CE0FD"/>
          </a:solidFill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D08AF2F-669E-447D-A931-6DE34D173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029200"/>
            <a:ext cx="3067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F3A4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F3A4A"/>
                </a:solidFill>
                <a:latin typeface="Arial"/>
                <a:ea typeface="Arial"/>
                <a:cs typeface="Arial"/>
              </a:rPr>
              <a:t>Auto scaling execution</a:t>
            </a:r>
          </a:p>
        </p:txBody>
      </p:sp>
    </p:spTree>
    <p:extLst>
      <p:ext uri="{BB962C8B-B14F-4D97-AF65-F5344CB8AC3E}">
        <p14:creationId xmlns:p14="http://schemas.microsoft.com/office/powerpoint/2010/main" val="212519722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5034768-3675-4E72-A169-4574C3456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488833-F464-4554-8BA8-51CC519A7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9906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11111"/>
                </a:solidFill>
                <a:latin typeface="Arial Black"/>
                <a:ea typeface="Arial Black"/>
                <a:cs typeface="Arial Black"/>
              </a:defRPr>
            </a:pPr>
            <a:r>
              <a:rPr sz="3750" b="1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Database and Analytics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E22ABB-488E-4D5F-B88D-E92E757DE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14450"/>
            <a:ext cx="9906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B7280"/>
                </a:solidFill>
                <a:latin typeface="Arial Black"/>
                <a:ea typeface="Arial Black"/>
                <a:cs typeface="Arial Black"/>
              </a:defRPr>
            </a:pPr>
            <a:r>
              <a:rPr sz="1800" b="1">
                <a:solidFill>
                  <a:srgbClr val="6B7280"/>
                </a:solidFill>
                <a:latin typeface="Arial Black"/>
                <a:ea typeface="Arial Black"/>
                <a:cs typeface="Arial Black"/>
              </a:rPr>
              <a:t>DynamoDB stores URL mappings and click data for fast lookup and scalable analytics.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9F63B7-398C-4E82-86CC-22FC6F232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05050"/>
            <a:ext cx="4381500" cy="3219450"/>
          </a:xfrm>
          <a:prstGeom xmlns:a="http://schemas.openxmlformats.org/drawingml/2006/main" prst="roundRect">
            <a:avLst>
              <a:gd name="adj" fmla="val 2367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1E2D10-7649-4FCE-ACA2-85D9B3F7E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09800"/>
            <a:ext cx="4381500" cy="3219450"/>
          </a:xfrm>
          <a:prstGeom xmlns:a="http://schemas.openxmlformats.org/drawingml/2006/main" prst="roundRect">
            <a:avLst>
              <a:gd name="adj" fmla="val 2367"/>
            </a:avLst>
          </a:prstGeom>
          <a:solidFill xmlns:a="http://schemas.openxmlformats.org/drawingml/2006/main">
            <a:srgbClr val="C2F29D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F8F022-A197-4301-A3CF-B2D716F06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90800"/>
            <a:ext cx="2952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Arial Black"/>
                <a:ea typeface="Arial Black"/>
                <a:cs typeface="Arial Black"/>
              </a:defRPr>
            </a:pPr>
            <a:r>
              <a:rPr sz="2250" b="1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DynamoDB Stores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495B1B-3327-4414-A8FA-386A6719E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528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FA27A9-7BA1-4F44-B34C-BD0C60D09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276600"/>
            <a:ext cx="2686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F3A4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F3A4A"/>
                </a:solidFill>
                <a:latin typeface="Arial"/>
                <a:ea typeface="Arial"/>
                <a:cs typeface="Arial"/>
              </a:rPr>
              <a:t>Original URL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0FAE6A-CDB8-426C-A7CC-B2F45B0EA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814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B34840-FF55-43DD-8AFD-EA8F448BC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705225"/>
            <a:ext cx="2686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F3A4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F3A4A"/>
                </a:solidFill>
                <a:latin typeface="Arial"/>
                <a:ea typeface="Arial"/>
                <a:cs typeface="Arial"/>
              </a:rPr>
              <a:t>Short ID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D1BF55-629E-41CA-B97A-EA517A06D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2100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799723-CF49-4F1D-AA7F-D4F12B97C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133850"/>
            <a:ext cx="2686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F3A4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F3A4A"/>
                </a:solidFill>
                <a:latin typeface="Arial"/>
                <a:ea typeface="Arial"/>
                <a:cs typeface="Arial"/>
              </a:rPr>
              <a:t>Click count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A9A2DC-728B-4D3E-95A7-CC72C01AD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386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773D55-8708-4836-80C8-D51A4DF20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562475"/>
            <a:ext cx="2686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F3A4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F3A4A"/>
                </a:solidFill>
                <a:latin typeface="Arial"/>
                <a:ea typeface="Arial"/>
                <a:cs typeface="Arial"/>
              </a:rPr>
              <a:t>Timestamp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9D851F-6EDD-44B0-8344-4595C30EA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048250"/>
            <a:ext cx="27241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8981DD-35F9-47E4-9A0A-B8188A0A0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972050"/>
            <a:ext cx="27241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E8084E-E6FA-45CF-9DFE-FD23EF11A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067300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Arial Black"/>
                <a:ea typeface="Arial Black"/>
                <a:cs typeface="Arial Black"/>
              </a:defRPr>
            </a:pPr>
            <a:r>
              <a:rPr sz="1275" b="1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High-performance NoSQL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03C472-615A-4051-8B11-0D4C4C6B6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305050"/>
            <a:ext cx="4762500" cy="3219450"/>
          </a:xfrm>
          <a:prstGeom xmlns:a="http://schemas.openxmlformats.org/drawingml/2006/main" prst="roundRect">
            <a:avLst>
              <a:gd name="adj" fmla="val 2367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9660D3-27E6-4D0D-A3FE-2CFD46F9D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209800"/>
            <a:ext cx="4762500" cy="3219450"/>
          </a:xfrm>
          <a:prstGeom xmlns:a="http://schemas.openxmlformats.org/drawingml/2006/main" prst="roundRect">
            <a:avLst>
              <a:gd name="adj" fmla="val 2367"/>
            </a:avLst>
          </a:prstGeom>
          <a:solidFill xmlns:a="http://schemas.openxmlformats.org/drawingml/2006/main">
            <a:srgbClr val="BCE0FD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B21065-0EDB-4EE5-B171-70AE42078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590800"/>
            <a:ext cx="3048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Arial Black"/>
                <a:ea typeface="Arial Black"/>
                <a:cs typeface="Arial Black"/>
              </a:defRPr>
            </a:pPr>
            <a:r>
              <a:rPr sz="2250" b="1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Analytics Tracks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5BDE51-6791-4578-8CE9-56FA0A4F4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528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F29D"/>
          </a:solidFill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7397C2-2084-440D-927E-2DAE40F84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276600"/>
            <a:ext cx="2876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F3A4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F3A4A"/>
                </a:solidFill>
                <a:latin typeface="Arial"/>
                <a:ea typeface="Arial"/>
                <a:cs typeface="Arial"/>
              </a:rPr>
              <a:t>Total clicks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B98ECA1-614C-474E-9B30-3827C717A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7814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F29D"/>
          </a:solidFill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C1952DB-AFD0-4A8E-8A3C-DA491379D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705225"/>
            <a:ext cx="2876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F3A4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F3A4A"/>
                </a:solidFill>
                <a:latin typeface="Arial"/>
                <a:ea typeface="Arial"/>
                <a:cs typeface="Arial"/>
              </a:rPr>
              <a:t>Popular URLs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5CBAEE7-E7F6-4EF4-835F-D6BCA4E7A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2100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F29D"/>
          </a:solidFill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80363E2-D5FE-49DE-9A13-E4F5EC82D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133850"/>
            <a:ext cx="2876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F3A4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F3A4A"/>
                </a:solidFill>
                <a:latin typeface="Arial"/>
                <a:ea typeface="Arial"/>
                <a:cs typeface="Arial"/>
              </a:rPr>
              <a:t>User activity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B852E00-1B6B-4BEC-9E57-CF5054ADF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6386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F29D"/>
          </a:solidFill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F4810FF-EB83-48BC-AD06-92A10DF04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562475"/>
            <a:ext cx="2876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F3A4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F3A4A"/>
                </a:solidFill>
                <a:latin typeface="Arial"/>
                <a:ea typeface="Arial"/>
                <a:cs typeface="Arial"/>
              </a:rPr>
              <a:t>Redirection events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D534C34-5247-4738-AA48-0227936E5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048250"/>
            <a:ext cx="2857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E9B1502-00DD-44F6-85E8-D370115C8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972050"/>
            <a:ext cx="2857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1D5F063-EC70-42BF-9A69-2D9DF5CFA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067300"/>
            <a:ext cx="2514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Arial Black"/>
                <a:ea typeface="Arial Black"/>
                <a:cs typeface="Arial Black"/>
              </a:defRPr>
            </a:pPr>
            <a:r>
              <a:rPr sz="1275" b="1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Scalable analytics layer</a:t>
            </a:r>
          </a:p>
        </p:txBody>
      </p:sp>
    </p:spTree>
    <p:extLst>
      <p:ext uri="{BB962C8B-B14F-4D97-AF65-F5344CB8AC3E}">
        <p14:creationId xmlns:p14="http://schemas.microsoft.com/office/powerpoint/2010/main" val="160291717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65063C4-FDDC-4824-BFAC-93152B233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21F289-0CF8-4ECF-A3BB-701719C5A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9906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11111"/>
                </a:solidFill>
                <a:latin typeface="Arial Black"/>
                <a:ea typeface="Arial Black"/>
                <a:cs typeface="Arial Black"/>
              </a:defRPr>
            </a:pPr>
            <a:r>
              <a:rPr sz="3750" b="1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Security and Monitoring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853455-E101-42A5-8505-B23B9A25C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14450"/>
            <a:ext cx="9906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B7280"/>
                </a:solidFill>
                <a:latin typeface="Arial Black"/>
                <a:ea typeface="Arial Black"/>
                <a:cs typeface="Arial Black"/>
              </a:defRPr>
            </a:pPr>
            <a:r>
              <a:rPr sz="1800" b="1">
                <a:solidFill>
                  <a:srgbClr val="6B7280"/>
                </a:solidFill>
                <a:latin typeface="Arial Black"/>
                <a:ea typeface="Arial Black"/>
                <a:cs typeface="Arial Black"/>
              </a:rPr>
              <a:t>IAM protects AWS resources while CloudWatch gives visibility into application behavior.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7D723E-4678-4236-B617-AF3F0062B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55295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167EE6-D416-42BA-976E-BEF6EC427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81250"/>
            <a:ext cx="455295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BCE0FD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056185-27D5-4D16-AD26-EC06C5E14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00350"/>
            <a:ext cx="9144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ED4CA2-F88B-481A-A7C1-3A37AACDB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24150"/>
            <a:ext cx="914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111"/>
                </a:solidFill>
                <a:latin typeface="Arial Black"/>
                <a:ea typeface="Arial Black"/>
                <a:cs typeface="Arial Black"/>
              </a:defRPr>
            </a:pPr>
            <a:r>
              <a:rPr sz="2400" b="1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IAM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454BD2-E39F-48E8-AF62-5A330B46B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705100"/>
            <a:ext cx="2667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Arial Black"/>
                <a:ea typeface="Arial Black"/>
                <a:cs typeface="Arial Black"/>
              </a:defRPr>
            </a:pPr>
            <a:r>
              <a:rPr sz="1725" b="1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Identity and Access Management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53001E-F1EB-424C-A340-58462CABB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8671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F29D"/>
          </a:solidFill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DFAC33-9CA6-4882-8677-5CBDA6ED5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790950"/>
            <a:ext cx="2876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F3A4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F3A4A"/>
                </a:solidFill>
                <a:latin typeface="Arial"/>
                <a:ea typeface="Arial"/>
                <a:cs typeface="Arial"/>
              </a:rPr>
              <a:t>Access control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793C09-603D-4B5E-A3A3-ABB2EAC84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672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F29D"/>
          </a:solidFill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452F4A-4701-45B3-A629-DF7455913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191000"/>
            <a:ext cx="2876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F3A4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F3A4A"/>
                </a:solidFill>
                <a:latin typeface="Arial"/>
                <a:ea typeface="Arial"/>
                <a:cs typeface="Arial"/>
              </a:rPr>
              <a:t>Secure permissions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60708D-6DE4-43CF-9874-72EC0D2F7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672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F29D"/>
          </a:solidFill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010CE1-3915-4673-A6A0-90A7BA9EF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591050"/>
            <a:ext cx="2876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F3A4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F3A4A"/>
                </a:solidFill>
                <a:latin typeface="Arial"/>
                <a:ea typeface="Arial"/>
                <a:cs typeface="Arial"/>
              </a:rPr>
              <a:t>Protect AWS resources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E92223-D3B4-479A-8C02-1EED9C643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76500"/>
            <a:ext cx="455295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D77C32-BED9-440D-82A9-9FECB646D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81250"/>
            <a:ext cx="455295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C2F29D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4EEAEB-8DDF-4A53-B196-210F21A3C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800350"/>
            <a:ext cx="9144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A93E26-4FC1-448E-8252-999E4E9B1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724150"/>
            <a:ext cx="914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111"/>
                </a:solidFill>
                <a:latin typeface="Arial Black"/>
                <a:ea typeface="Arial Black"/>
                <a:cs typeface="Arial Black"/>
              </a:defRPr>
            </a:pPr>
            <a:r>
              <a:rPr sz="2400" b="1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CW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D6876D-06B2-4425-B06B-0874336B5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781300"/>
            <a:ext cx="2571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rial Black"/>
                <a:ea typeface="Arial Black"/>
                <a:cs typeface="Arial Black"/>
              </a:defRPr>
            </a:pPr>
            <a:r>
              <a:rPr sz="1800" b="1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Amazon CloudWatch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2C1766-20CB-4A2A-84B7-211BC8ED9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8671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CE0FD"/>
          </a:solidFill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7052C4-CA02-4FDF-A17F-BFFC45E5A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790950"/>
            <a:ext cx="2876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F3A4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F3A4A"/>
                </a:solidFill>
                <a:latin typeface="Arial"/>
                <a:ea typeface="Arial"/>
                <a:cs typeface="Arial"/>
              </a:rPr>
              <a:t>Monitoring logs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321A60-8254-4AC9-9124-A96F7FE7A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2672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CE0FD"/>
          </a:solidFill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87F29F-3DDF-4165-ADFC-05892B9E7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191000"/>
            <a:ext cx="2876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F3A4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F3A4A"/>
                </a:solidFill>
                <a:latin typeface="Arial"/>
                <a:ea typeface="Arial"/>
                <a:cs typeface="Arial"/>
              </a:rPr>
              <a:t>Error tracking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C68CC59-B620-4B94-ADEA-512CDEC0A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6672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CE0FD"/>
          </a:solidFill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C54D9F9-32B1-40BB-979F-95773BFA4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591050"/>
            <a:ext cx="2876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F3A4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F3A4A"/>
                </a:solidFill>
                <a:latin typeface="Arial"/>
                <a:ea typeface="Arial"/>
                <a:cs typeface="Arial"/>
              </a:rPr>
              <a:t>Performance analysis</a:t>
            </a:r>
          </a:p>
        </p:txBody>
      </p:sp>
    </p:spTree>
    <p:extLst>
      <p:ext uri="{BB962C8B-B14F-4D97-AF65-F5344CB8AC3E}">
        <p14:creationId xmlns:p14="http://schemas.microsoft.com/office/powerpoint/2010/main" val="168231576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69386E1-6470-43FF-B399-809E5F293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88B821-3AA9-40FD-B95E-D4B6376B6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9906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11111"/>
                </a:solidFill>
                <a:latin typeface="Arial Black"/>
                <a:ea typeface="Arial Black"/>
                <a:cs typeface="Arial Black"/>
              </a:defRPr>
            </a:pPr>
            <a:r>
              <a:rPr sz="3750" b="1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Advantages and Future Scope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F22E6B-3888-4DED-8DD3-980D961F6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14450"/>
            <a:ext cx="9906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B7280"/>
                </a:solidFill>
                <a:latin typeface="Arial Black"/>
                <a:ea typeface="Arial Black"/>
                <a:cs typeface="Arial Black"/>
              </a:defRPr>
            </a:pPr>
            <a:r>
              <a:rPr sz="1800" b="1">
                <a:solidFill>
                  <a:srgbClr val="6B7280"/>
                </a:solidFill>
                <a:latin typeface="Arial Black"/>
                <a:ea typeface="Arial Black"/>
                <a:cs typeface="Arial Black"/>
              </a:rPr>
              <a:t>The project is lightweight today and can grow into a richer analytics product.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3DA6CD-147C-45C6-9378-A900480DB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62200"/>
            <a:ext cx="4648200" cy="3219450"/>
          </a:xfrm>
          <a:prstGeom xmlns:a="http://schemas.openxmlformats.org/drawingml/2006/main" prst="roundRect">
            <a:avLst>
              <a:gd name="adj" fmla="val 2367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BF7E69-F869-4DC8-9F4D-327D9AE2C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66950"/>
            <a:ext cx="4648200" cy="3219450"/>
          </a:xfrm>
          <a:prstGeom xmlns:a="http://schemas.openxmlformats.org/drawingml/2006/main" prst="roundRect">
            <a:avLst>
              <a:gd name="adj" fmla="val 2367"/>
            </a:avLst>
          </a:prstGeom>
          <a:solidFill xmlns:a="http://schemas.openxmlformats.org/drawingml/2006/main">
            <a:srgbClr val="C2F29D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C0A0E7-E043-4AC9-9378-1192F67DB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86050"/>
            <a:ext cx="2571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111"/>
                </a:solidFill>
                <a:latin typeface="Arial Black"/>
                <a:ea typeface="Arial Black"/>
                <a:cs typeface="Arial Black"/>
              </a:defRPr>
            </a:pPr>
            <a:r>
              <a:rPr sz="2400" b="1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Advantages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57857B-D526-4905-9732-AA2AD4976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290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EA3EC0-B569-4CF8-AC9E-2A38779B3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352800"/>
            <a:ext cx="2876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F3A4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F3A4A"/>
                </a:solidFill>
                <a:latin typeface="Arial"/>
                <a:ea typeface="Arial"/>
                <a:cs typeface="Arial"/>
              </a:rPr>
              <a:t>Fully serverless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7F847D-6B85-48D9-8059-F23A34DF2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909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412125-D7C2-406D-8C50-A6733BB44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714750"/>
            <a:ext cx="2876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F3A4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F3A4A"/>
                </a:solidFill>
                <a:latin typeface="Arial"/>
                <a:ea typeface="Arial"/>
                <a:cs typeface="Arial"/>
              </a:rPr>
              <a:t>Cost efficient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E5CED8-1D9C-46DC-8151-3E4833DFD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1529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98ACED-E4E4-44D3-B57E-28A448BB0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076700"/>
            <a:ext cx="2876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F3A4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F3A4A"/>
                </a:solidFill>
                <a:latin typeface="Arial"/>
                <a:ea typeface="Arial"/>
                <a:cs typeface="Arial"/>
              </a:rPr>
              <a:t>Highly scalable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38C1BE-0823-4EFA-BDE5-B52346E9C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5148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486A2F-4600-49D5-91FA-C5E7C3568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438650"/>
            <a:ext cx="2876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F3A4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F3A4A"/>
                </a:solidFill>
                <a:latin typeface="Arial"/>
                <a:ea typeface="Arial"/>
                <a:cs typeface="Arial"/>
              </a:rPr>
              <a:t>Easy deployment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AD5D0E-C71C-41E0-9F58-70370A379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768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9434F5-578C-4CEC-819A-7C093EAC7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800600"/>
            <a:ext cx="2876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F3A4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F3A4A"/>
                </a:solidFill>
                <a:latin typeface="Arial"/>
                <a:ea typeface="Arial"/>
                <a:cs typeface="Arial"/>
              </a:rPr>
              <a:t>Low maintenance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D670E3-C034-4F42-9890-88A4ED417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62200"/>
            <a:ext cx="4648200" cy="3219450"/>
          </a:xfrm>
          <a:prstGeom xmlns:a="http://schemas.openxmlformats.org/drawingml/2006/main" prst="roundRect">
            <a:avLst>
              <a:gd name="adj" fmla="val 2367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6B285D-1740-469A-A33B-1121D1B7E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66950"/>
            <a:ext cx="4648200" cy="3219450"/>
          </a:xfrm>
          <a:prstGeom xmlns:a="http://schemas.openxmlformats.org/drawingml/2006/main" prst="roundRect">
            <a:avLst>
              <a:gd name="adj" fmla="val 2367"/>
            </a:avLst>
          </a:prstGeom>
          <a:solidFill xmlns:a="http://schemas.openxmlformats.org/drawingml/2006/main">
            <a:srgbClr val="BCE0FD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84B959-C647-44A7-A277-128A77133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686050"/>
            <a:ext cx="2667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111"/>
                </a:solidFill>
                <a:latin typeface="Arial Black"/>
                <a:ea typeface="Arial Black"/>
                <a:cs typeface="Arial Black"/>
              </a:defRPr>
            </a:pPr>
            <a:r>
              <a:rPr sz="2400" b="1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Future Scope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4CD237-9E59-4D05-A9EF-2860CE96E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4290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F29D"/>
          </a:solidFill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28EFFA-8FBD-434F-BCAD-6F2B5EA63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352800"/>
            <a:ext cx="2876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F3A4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F3A4A"/>
                </a:solidFill>
                <a:latin typeface="Arial"/>
                <a:ea typeface="Arial"/>
                <a:cs typeface="Arial"/>
              </a:rPr>
              <a:t>QR code support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B743B7-D846-460C-ACCC-C2DC82B91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7909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F29D"/>
          </a:solidFill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75479B-4005-466C-86E9-A1A61B63A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714750"/>
            <a:ext cx="2876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F3A4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F3A4A"/>
                </a:solidFill>
                <a:latin typeface="Arial"/>
                <a:ea typeface="Arial"/>
                <a:cs typeface="Arial"/>
              </a:rPr>
              <a:t>Custom URLs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FC4CA7-A921-4E00-8A53-B7B07C30E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1529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F29D"/>
          </a:solidFill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E8F8BB3-4677-4789-BBE2-97BAEB2CC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076700"/>
            <a:ext cx="2876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F3A4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F3A4A"/>
                </a:solidFill>
                <a:latin typeface="Arial"/>
                <a:ea typeface="Arial"/>
                <a:cs typeface="Arial"/>
              </a:rPr>
              <a:t>User authentication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CDCB828-EDF3-44B5-ACE8-65D319823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5148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F29D"/>
          </a:solidFill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2A1A6D9-4EF3-4B4B-B7FE-1572294F0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438650"/>
            <a:ext cx="2876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F3A4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F3A4A"/>
                </a:solidFill>
                <a:latin typeface="Arial"/>
                <a:ea typeface="Arial"/>
                <a:cs typeface="Arial"/>
              </a:rPr>
              <a:t>Geographic analytics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E397420-AE96-4A9D-B055-5FAA9191C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8768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F29D"/>
          </a:solidFill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6283B2E-209C-4FDD-A7FB-06EE35951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800600"/>
            <a:ext cx="2876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F3A4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F3A4A"/>
                </a:solidFill>
                <a:latin typeface="Arial"/>
                <a:ea typeface="Arial"/>
                <a:cs typeface="Arial"/>
              </a:rPr>
              <a:t>Admin dashboard</a:t>
            </a:r>
          </a:p>
        </p:txBody>
      </p:sp>
    </p:spTree>
    <p:extLst>
      <p:ext uri="{BB962C8B-B14F-4D97-AF65-F5344CB8AC3E}">
        <p14:creationId xmlns:p14="http://schemas.microsoft.com/office/powerpoint/2010/main" val="44576890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11BF3C8-4D15-4649-9200-49198387D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24D7A0-BBC7-4A39-8950-C1AC98D1B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9906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11111"/>
                </a:solidFill>
                <a:latin typeface="Arial Black"/>
                <a:ea typeface="Arial Black"/>
                <a:cs typeface="Arial Black"/>
              </a:defRPr>
            </a:pPr>
            <a:r>
              <a:rPr sz="3750" b="1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Conclusion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B3EC91-5728-4498-AC1A-D7FA450DF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14450"/>
            <a:ext cx="9906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B7280"/>
                </a:solidFill>
                <a:latin typeface="Arial Black"/>
                <a:ea typeface="Arial Black"/>
                <a:cs typeface="Arial Black"/>
              </a:defRPr>
            </a:pPr>
            <a:r>
              <a:rPr sz="1800" b="1">
                <a:solidFill>
                  <a:srgbClr val="6B7280"/>
                </a:solidFill>
                <a:latin typeface="Arial Black"/>
                <a:ea typeface="Arial Black"/>
                <a:cs typeface="Arial Black"/>
              </a:rPr>
              <a:t>AWS cloud services can be combined to build scalable and efficient serverless applications.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0D4BB2-8783-437D-8BF0-03B9274A9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5540" y="522732"/>
            <a:ext cx="375666" cy="37566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F2FF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84AF15-1311-4B96-81C1-A89474592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7574" y="419100"/>
            <a:ext cx="466344" cy="4663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F2FF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CB62EC-93E0-4E94-BE56-5A444827B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0286" y="574548"/>
            <a:ext cx="362712" cy="3627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F2FF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0434AA-29DB-4014-B8F0-5DEAFD8FB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0310" y="729996"/>
            <a:ext cx="867918" cy="297942"/>
          </a:xfrm>
          <a:prstGeom xmlns:a="http://schemas.openxmlformats.org/drawingml/2006/main" prst="roundRect">
            <a:avLst>
              <a:gd name="adj" fmla="val 25575"/>
            </a:avLst>
          </a:prstGeom>
          <a:solidFill xmlns:a="http://schemas.openxmlformats.org/drawingml/2006/main">
            <a:srgbClr val="E2F2FF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1166B4-A06B-4063-8B0F-F39039E0D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19350"/>
            <a:ext cx="4762500" cy="2990850"/>
          </a:xfrm>
          <a:prstGeom xmlns:a="http://schemas.openxmlformats.org/drawingml/2006/main" prst="roundRect">
            <a:avLst>
              <a:gd name="adj" fmla="val 2548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AA0F29-FA40-4C62-BAA9-81DF4ACB3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24100"/>
            <a:ext cx="4762500" cy="2990850"/>
          </a:xfrm>
          <a:prstGeom xmlns:a="http://schemas.openxmlformats.org/drawingml/2006/main" prst="roundRect">
            <a:avLst>
              <a:gd name="adj" fmla="val 2548"/>
            </a:avLst>
          </a:prstGeom>
          <a:solidFill xmlns:a="http://schemas.openxmlformats.org/drawingml/2006/main">
            <a:srgbClr val="BCE0FD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8CCCA3-29C2-4047-AC5F-E9A133ABE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724150"/>
            <a:ext cx="3048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111"/>
                </a:solidFill>
                <a:latin typeface="Arial Black"/>
                <a:ea typeface="Arial Black"/>
                <a:cs typeface="Arial Black"/>
              </a:defRPr>
            </a:pPr>
            <a:r>
              <a:rPr sz="2400" b="1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Project Summary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A01927-FE57-4505-9DD2-63E9ED0D6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333750"/>
            <a:ext cx="331470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F3A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F3A4A"/>
                </a:solidFill>
                <a:latin typeface="Arial"/>
                <a:ea typeface="Arial"/>
                <a:cs typeface="Arial"/>
              </a:rPr>
              <a:t>The system shortens URLs, redirects users quickly, and records analytics using AWS serverless components.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E92AB6-BE55-4A59-AB4B-C7CE871F3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857750"/>
            <a:ext cx="3429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ACCB1E-F25F-47FB-94A4-7FFED2008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781550"/>
            <a:ext cx="3429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14713C-AB78-4230-9648-7BBAD0D6A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876800"/>
            <a:ext cx="3086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Arial Black"/>
                <a:ea typeface="Arial Black"/>
                <a:cs typeface="Arial Black"/>
              </a:defRPr>
            </a:pPr>
            <a:r>
              <a:rPr sz="1275" b="1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Serverless • Scalable • Observable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002219-E93D-48D4-B1D2-E6A7042C2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419350"/>
            <a:ext cx="4762500" cy="2990850"/>
          </a:xfrm>
          <a:prstGeom xmlns:a="http://schemas.openxmlformats.org/drawingml/2006/main" prst="roundRect">
            <a:avLst>
              <a:gd name="adj" fmla="val 2548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9F1258-3D40-493F-B223-5F0F98301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24100"/>
            <a:ext cx="4762500" cy="2990850"/>
          </a:xfrm>
          <a:prstGeom xmlns:a="http://schemas.openxmlformats.org/drawingml/2006/main" prst="roundRect">
            <a:avLst>
              <a:gd name="adj" fmla="val 2548"/>
            </a:avLst>
          </a:prstGeom>
          <a:solidFill xmlns:a="http://schemas.openxmlformats.org/drawingml/2006/main">
            <a:srgbClr val="C2F29D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0C05B3-5389-40E8-AC3D-140C99C9D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724150"/>
            <a:ext cx="2857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111"/>
                </a:solidFill>
                <a:latin typeface="Arial Black"/>
                <a:ea typeface="Arial Black"/>
                <a:cs typeface="Arial Black"/>
              </a:defRPr>
            </a:pPr>
            <a:r>
              <a:rPr sz="2400" b="1">
                <a:solidFill>
                  <a:srgbClr val="111111"/>
                </a:solidFill>
                <a:latin typeface="Arial Black"/>
                <a:ea typeface="Arial Black"/>
                <a:cs typeface="Arial Black"/>
              </a:rPr>
              <a:t>Key Learnings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760319-B7CC-4BFF-BF61-83EEF7CF4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5433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CE0FD"/>
          </a:solidFill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90A67E-D3E1-4CBF-9D07-2BC6EFA52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467100"/>
            <a:ext cx="2971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F3A4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F3A4A"/>
                </a:solidFill>
                <a:latin typeface="Arial"/>
                <a:ea typeface="Arial"/>
                <a:cs typeface="Arial"/>
              </a:rPr>
              <a:t>Cloud computing concepts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60AECB-A39C-4D36-AD14-BFC2F596B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9433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CE0FD"/>
          </a:solidFill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2F5D9E-8ABC-4DD3-A7B3-6D9796D5E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867150"/>
            <a:ext cx="2971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F3A4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F3A4A"/>
                </a:solidFill>
                <a:latin typeface="Arial"/>
                <a:ea typeface="Arial"/>
                <a:cs typeface="Arial"/>
              </a:rPr>
              <a:t>Serverless architecture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B9EED9-7AEC-4D84-95FF-2A48C6B9B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3434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CE0FD"/>
          </a:solidFill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BE0DDC2-AD32-41AB-8907-7DAF3DC71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267200"/>
            <a:ext cx="2971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F3A4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F3A4A"/>
                </a:solidFill>
                <a:latin typeface="Arial"/>
                <a:ea typeface="Arial"/>
                <a:cs typeface="Arial"/>
              </a:rPr>
              <a:t>AWS deployment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1DAA60-2F8B-4B5C-B371-330E1C7B3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7434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CE0FD"/>
          </a:solidFill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964786A-4CDB-47C5-80CF-ABC7BC491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667250"/>
            <a:ext cx="2971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F3A4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F3A4A"/>
                </a:solidFill>
                <a:latin typeface="Arial"/>
                <a:ea typeface="Arial"/>
                <a:cs typeface="Arial"/>
              </a:rPr>
              <a:t>Monitoring and scalability</a:t>
            </a:r>
          </a:p>
        </p:txBody>
      </p:sp>
    </p:spTree>
    <p:extLst>
      <p:ext uri="{BB962C8B-B14F-4D97-AF65-F5344CB8AC3E}">
        <p14:creationId xmlns:p14="http://schemas.microsoft.com/office/powerpoint/2010/main" val="98856140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2026-05-21T16:02:41.5120000Z</dcterms:created>
  <dcterms:modified xsi:type="dcterms:W3CDTF">2026-05-21T16:02:41.5120000Z</dcterms:modified>
</coreProperties>
</file>