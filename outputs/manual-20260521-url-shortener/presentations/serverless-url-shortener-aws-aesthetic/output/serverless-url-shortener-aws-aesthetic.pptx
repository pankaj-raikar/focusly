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ab4739d7414082" /><Relationship Type="http://schemas.openxmlformats.org/officeDocument/2006/relationships/extended-properties" Target="/docProps/app.xml" Id="Reeb3a6e47dc04af7" /><Relationship Type="http://schemas.openxmlformats.org/officeDocument/2006/relationships/officeDocument" Target="/ppt/presentation.xml" Id="Rfe0ff408f73e48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312bf96e984938"/>
  </p:sldMasterIdLst>
  <p:notesMasterIdLst>
    <p:notesMasterId xmlns:r="http://schemas.openxmlformats.org/officeDocument/2006/relationships" r:id="R2fb927a0796545c1"/>
  </p:notesMasterIdLst>
  <p:sldIdLst>
    <p:sldId xmlns:r="http://schemas.openxmlformats.org/officeDocument/2006/relationships" id="256" r:id="Ra6c760c218274ef9"/>
    <p:sldId xmlns:r="http://schemas.openxmlformats.org/officeDocument/2006/relationships" id="257" r:id="R9e3fefa12cb84562"/>
    <p:sldId xmlns:r="http://schemas.openxmlformats.org/officeDocument/2006/relationships" id="258" r:id="R4d1390e4e6f84711"/>
    <p:sldId xmlns:r="http://schemas.openxmlformats.org/officeDocument/2006/relationships" id="259" r:id="R1560d8c9658d4a23"/>
    <p:sldId xmlns:r="http://schemas.openxmlformats.org/officeDocument/2006/relationships" id="260" r:id="R0898212a869a4b7e"/>
    <p:sldId xmlns:r="http://schemas.openxmlformats.org/officeDocument/2006/relationships" id="261" r:id="R391b2435e00947f2"/>
    <p:sldId xmlns:r="http://schemas.openxmlformats.org/officeDocument/2006/relationships" id="262" r:id="R427f87e31329430a"/>
    <p:sldId xmlns:r="http://schemas.openxmlformats.org/officeDocument/2006/relationships" id="263" r:id="Re6766654d8534586"/>
    <p:sldId xmlns:r="http://schemas.openxmlformats.org/officeDocument/2006/relationships" id="264" r:id="Rdea0599e9d224821"/>
    <p:sldId xmlns:r="http://schemas.openxmlformats.org/officeDocument/2006/relationships" id="265" r:id="Rf2927224aae743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312bf96e984938" /><Relationship Type="http://schemas.openxmlformats.org/officeDocument/2006/relationships/theme" Target="/ppt/theme/theme1.xml" Id="Rd0a4f9938c264e24" /><Relationship Type="http://schemas.openxmlformats.org/officeDocument/2006/relationships/notesMaster" Target="/ppt/notesMasters/notesMaster1.xml" Id="R2fb927a0796545c1" /><Relationship Type="http://schemas.openxmlformats.org/officeDocument/2006/relationships/presProps" Target="/ppt/presProps.xml" Id="Rf8b8672538114b7e" /><Relationship Type="http://schemas.openxmlformats.org/officeDocument/2006/relationships/viewProps" Target="/ppt/viewProps.xml" Id="Rba874fd75ffc4454" /><Relationship Type="http://schemas.openxmlformats.org/officeDocument/2006/relationships/tableStyles" Target="/ppt/tableStyles.xml" Id="R85094793770c45b9" /><Relationship Type="http://schemas.openxmlformats.org/officeDocument/2006/relationships/slide" Target="/ppt/slides/slide1.xml" Id="Ra6c760c218274ef9" /><Relationship Type="http://schemas.openxmlformats.org/officeDocument/2006/relationships/slide" Target="/ppt/slides/slide2.xml" Id="R9e3fefa12cb84562" /><Relationship Type="http://schemas.openxmlformats.org/officeDocument/2006/relationships/slide" Target="/ppt/slides/slide3.xml" Id="R4d1390e4e6f84711" /><Relationship Type="http://schemas.openxmlformats.org/officeDocument/2006/relationships/slide" Target="/ppt/slides/slide4.xml" Id="R1560d8c9658d4a23" /><Relationship Type="http://schemas.openxmlformats.org/officeDocument/2006/relationships/slide" Target="/ppt/slides/slide5.xml" Id="R0898212a869a4b7e" /><Relationship Type="http://schemas.openxmlformats.org/officeDocument/2006/relationships/slide" Target="/ppt/slides/slide6.xml" Id="R391b2435e00947f2" /><Relationship Type="http://schemas.openxmlformats.org/officeDocument/2006/relationships/slide" Target="/ppt/slides/slide7.xml" Id="R427f87e31329430a" /><Relationship Type="http://schemas.openxmlformats.org/officeDocument/2006/relationships/slide" Target="/ppt/slides/slide8.xml" Id="Re6766654d8534586" /><Relationship Type="http://schemas.openxmlformats.org/officeDocument/2006/relationships/slide" Target="/ppt/slides/slide9.xml" Id="Rdea0599e9d224821" /><Relationship Type="http://schemas.openxmlformats.org/officeDocument/2006/relationships/slide" Target="/ppt/slides/slide10.xml" Id="Rf2927224aae743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d6625a7821646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860bae26754207" /><Relationship Type="http://schemas.openxmlformats.org/officeDocument/2006/relationships/notesMaster" Target="/ppt/notesMasters/notesMaster1.xml" Id="Rfbff2bc483ab47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aebf4e84f04ae6" /><Relationship Type="http://schemas.openxmlformats.org/officeDocument/2006/relationships/notesMaster" Target="/ppt/notesMasters/notesMaster1.xml" Id="R090c2ebc4a0341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8ddee44d3e44da" /><Relationship Type="http://schemas.openxmlformats.org/officeDocument/2006/relationships/notesMaster" Target="/ppt/notesMasters/notesMaster1.xml" Id="Reeaa416a831d43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6327a14edd4604" /><Relationship Type="http://schemas.openxmlformats.org/officeDocument/2006/relationships/notesMaster" Target="/ppt/notesMasters/notesMaster1.xml" Id="R6de71005e4fa48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fd45a5e25ef459f" /><Relationship Type="http://schemas.openxmlformats.org/officeDocument/2006/relationships/notesMaster" Target="/ppt/notesMasters/notesMaster1.xml" Id="Rbea7e9d58d5d4c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1a9e019dce4067" /><Relationship Type="http://schemas.openxmlformats.org/officeDocument/2006/relationships/notesMaster" Target="/ppt/notesMasters/notesMaster1.xml" Id="R316414ee6e0f47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6de9dcc3b34f76" /><Relationship Type="http://schemas.openxmlformats.org/officeDocument/2006/relationships/notesMaster" Target="/ppt/notesMasters/notesMaster1.xml" Id="R9a3c5e5e49bd4f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40230d36e14560" /><Relationship Type="http://schemas.openxmlformats.org/officeDocument/2006/relationships/notesMaster" Target="/ppt/notesMasters/notesMaster1.xml" Id="Rf3b6d02fd1304f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1d401ffd274834" /><Relationship Type="http://schemas.openxmlformats.org/officeDocument/2006/relationships/notesMaster" Target="/ppt/notesMasters/notesMaster1.xml" Id="R3672f07df2b847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965c2da2e74d7d" /><Relationship Type="http://schemas.openxmlformats.org/officeDocument/2006/relationships/notesMaster" Target="/ppt/notesMasters/notesMaster1.xml" Id="R6f80534c37ef44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5cbc8dad142b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5321b05ecde4104" /><Relationship Type="http://schemas.openxmlformats.org/officeDocument/2006/relationships/slideLayout" Target="/ppt/slideLayouts/slideLayout2.xml" Id="R5f67ca097ff543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67ca097ff543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aa9d04c1cb492a" /><Relationship Type="http://schemas.openxmlformats.org/officeDocument/2006/relationships/image" Target="/ppt/media/image.png" Id="R77af93bb8dfa40de" /><Relationship Type="http://schemas.openxmlformats.org/officeDocument/2006/relationships/image" Target="/ppt/media/image.svg" Id="R399bec63518e4886" /><Relationship Type="http://schemas.openxmlformats.org/officeDocument/2006/relationships/image" Target="/ppt/media/image2.png" Id="R2c2f94c91aa64ea9" /><Relationship Type="http://schemas.openxmlformats.org/officeDocument/2006/relationships/image" Target="/ppt/media/image2.svg" Id="R96c1ac1af36d426e" /><Relationship Type="http://schemas.openxmlformats.org/officeDocument/2006/relationships/notesSlide" Target="/ppt/notesSlides/notesSlide1.xml" Id="Rbebfe2b4ce3743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89eeeaa6d749de" /><Relationship Type="http://schemas.openxmlformats.org/officeDocument/2006/relationships/image" Target="/ppt/media/image3.png" Id="Rce73a96709f743a7" /><Relationship Type="http://schemas.openxmlformats.org/officeDocument/2006/relationships/image" Target="/ppt/media/image3.svg" Id="Rbb1b3273e89a4f38" /><Relationship Type="http://schemas.openxmlformats.org/officeDocument/2006/relationships/notesSlide" Target="/ppt/notesSlides/notesSlide2.xml" Id="R4c36cfecd74c40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4a8a1914ad4de5" /><Relationship Type="http://schemas.openxmlformats.org/officeDocument/2006/relationships/image" Target="/ppt/media/image4.png" Id="R099c4f4c001a48fe" /><Relationship Type="http://schemas.openxmlformats.org/officeDocument/2006/relationships/image" Target="/ppt/media/image4.svg" Id="R00b1b0706b254f37" /><Relationship Type="http://schemas.openxmlformats.org/officeDocument/2006/relationships/notesSlide" Target="/ppt/notesSlides/notesSlide3.xml" Id="Rc845d2e263fe4d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b5cb28a6564fa7" /><Relationship Type="http://schemas.openxmlformats.org/officeDocument/2006/relationships/image" Target="/ppt/media/image5.png" Id="R7972872f9ad24d59" /><Relationship Type="http://schemas.openxmlformats.org/officeDocument/2006/relationships/image" Target="/ppt/media/image5.svg" Id="Rd9406084a58f4e8f" /><Relationship Type="http://schemas.openxmlformats.org/officeDocument/2006/relationships/image" Target="/ppt/media/image6.png" Id="Rb88aca4ffa1a42d0" /><Relationship Type="http://schemas.openxmlformats.org/officeDocument/2006/relationships/image" Target="/ppt/media/image6.svg" Id="R50cfe3b3ef1448b0" /><Relationship Type="http://schemas.openxmlformats.org/officeDocument/2006/relationships/image" Target="/ppt/media/image7.png" Id="R2dd8845aa99f47f7" /><Relationship Type="http://schemas.openxmlformats.org/officeDocument/2006/relationships/image" Target="/ppt/media/image7.svg" Id="R5e86a2d28fb6471e" /><Relationship Type="http://schemas.openxmlformats.org/officeDocument/2006/relationships/image" Target="/ppt/media/image8.png" Id="R5a5d7b8771d84a15" /><Relationship Type="http://schemas.openxmlformats.org/officeDocument/2006/relationships/image" Target="/ppt/media/image8.svg" Id="R14f46e9c710e4395" /><Relationship Type="http://schemas.openxmlformats.org/officeDocument/2006/relationships/image" Target="/ppt/media/image9.png" Id="Rb3cfc7b564b44f89" /><Relationship Type="http://schemas.openxmlformats.org/officeDocument/2006/relationships/image" Target="/ppt/media/image9.svg" Id="R67d0cf287b774d89" /><Relationship Type="http://schemas.openxmlformats.org/officeDocument/2006/relationships/image" Target="/ppt/media/image10.png" Id="Ra9038a042efb4f11" /><Relationship Type="http://schemas.openxmlformats.org/officeDocument/2006/relationships/image" Target="/ppt/media/image10.svg" Id="R9fe2a64482a644f8" /><Relationship Type="http://schemas.openxmlformats.org/officeDocument/2006/relationships/image" Target="/ppt/media/image11.png" Id="Re4d7dd9e895646ad" /><Relationship Type="http://schemas.openxmlformats.org/officeDocument/2006/relationships/image" Target="/ppt/media/image11.svg" Id="Rbc0962715b0f489c" /><Relationship Type="http://schemas.openxmlformats.org/officeDocument/2006/relationships/notesSlide" Target="/ppt/notesSlides/notesSlide4.xml" Id="R73181e61d95f42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2d5178f4694981" /><Relationship Type="http://schemas.openxmlformats.org/officeDocument/2006/relationships/image" Target="/ppt/media/image12.png" Id="Rfe922c30162f414c" /><Relationship Type="http://schemas.openxmlformats.org/officeDocument/2006/relationships/image" Target="/ppt/media/image12.svg" Id="R9620f0624b4a43be" /><Relationship Type="http://schemas.openxmlformats.org/officeDocument/2006/relationships/image" Target="/ppt/media/image13.png" Id="Rb7a5639fb7444c5f" /><Relationship Type="http://schemas.openxmlformats.org/officeDocument/2006/relationships/image" Target="/ppt/media/image13.svg" Id="Rf655185a620f4703" /><Relationship Type="http://schemas.openxmlformats.org/officeDocument/2006/relationships/image" Target="/ppt/media/image14.png" Id="Red96a8d930164e2e" /><Relationship Type="http://schemas.openxmlformats.org/officeDocument/2006/relationships/image" Target="/ppt/media/image14.svg" Id="R02872f696e154332" /><Relationship Type="http://schemas.openxmlformats.org/officeDocument/2006/relationships/image" Target="/ppt/media/image15.png" Id="R132740c273e24fc2" /><Relationship Type="http://schemas.openxmlformats.org/officeDocument/2006/relationships/image" Target="/ppt/media/image15.svg" Id="R64b1dd0b1197401f" /><Relationship Type="http://schemas.openxmlformats.org/officeDocument/2006/relationships/image" Target="/ppt/media/image16.png" Id="R24cb67f08f2b45d1" /><Relationship Type="http://schemas.openxmlformats.org/officeDocument/2006/relationships/image" Target="/ppt/media/image16.svg" Id="R33f23c799a7946fb" /><Relationship Type="http://schemas.openxmlformats.org/officeDocument/2006/relationships/notesSlide" Target="/ppt/notesSlides/notesSlide5.xml" Id="R39595311199c49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cd1cc687a24904" /><Relationship Type="http://schemas.openxmlformats.org/officeDocument/2006/relationships/image" Target="/ppt/media/image17.png" Id="R917afc1bc86c4985" /><Relationship Type="http://schemas.openxmlformats.org/officeDocument/2006/relationships/image" Target="/ppt/media/image17.svg" Id="Rf6ee7aefa0fe48ec" /><Relationship Type="http://schemas.openxmlformats.org/officeDocument/2006/relationships/image" Target="/ppt/media/image18.png" Id="R8e8e6c6ae183444e" /><Relationship Type="http://schemas.openxmlformats.org/officeDocument/2006/relationships/image" Target="/ppt/media/image18.svg" Id="R4da4482bcba74583" /><Relationship Type="http://schemas.openxmlformats.org/officeDocument/2006/relationships/notesSlide" Target="/ppt/notesSlides/notesSlide6.xml" Id="R08b2293cb56a4f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2b9867ca9741fa" /><Relationship Type="http://schemas.openxmlformats.org/officeDocument/2006/relationships/image" Target="/ppt/media/image19.png" Id="Ra3063e7669ba4a4e" /><Relationship Type="http://schemas.openxmlformats.org/officeDocument/2006/relationships/image" Target="/ppt/media/image19.svg" Id="R1f8e774fc14e4d7b" /><Relationship Type="http://schemas.openxmlformats.org/officeDocument/2006/relationships/image" Target="/ppt/media/image20.png" Id="R9b1e9279c9d5492f" /><Relationship Type="http://schemas.openxmlformats.org/officeDocument/2006/relationships/image" Target="/ppt/media/image20.svg" Id="R08f0ec46cb814541" /><Relationship Type="http://schemas.openxmlformats.org/officeDocument/2006/relationships/notesSlide" Target="/ppt/notesSlides/notesSlide7.xml" Id="Rdb2f372cb60d41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1263fa01ef4211" /><Relationship Type="http://schemas.openxmlformats.org/officeDocument/2006/relationships/image" Target="/ppt/media/image21.png" Id="R52640c8713fb4f53" /><Relationship Type="http://schemas.openxmlformats.org/officeDocument/2006/relationships/image" Target="/ppt/media/image21.svg" Id="R96acce0439eb4baf" /><Relationship Type="http://schemas.openxmlformats.org/officeDocument/2006/relationships/image" Target="/ppt/media/image22.png" Id="Rf5910802e3194464" /><Relationship Type="http://schemas.openxmlformats.org/officeDocument/2006/relationships/image" Target="/ppt/media/image22.svg" Id="R72755248c93e4b8a" /><Relationship Type="http://schemas.openxmlformats.org/officeDocument/2006/relationships/notesSlide" Target="/ppt/notesSlides/notesSlide8.xml" Id="Rd4c7986becea4c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f153586693426e" /><Relationship Type="http://schemas.openxmlformats.org/officeDocument/2006/relationships/image" Target="/ppt/media/image23.png" Id="R2f18258256fe4801" /><Relationship Type="http://schemas.openxmlformats.org/officeDocument/2006/relationships/image" Target="/ppt/media/image23.svg" Id="R5f9c378a85b9489e" /><Relationship Type="http://schemas.openxmlformats.org/officeDocument/2006/relationships/image" Target="/ppt/media/image24.png" Id="R949555f3338b4e4d" /><Relationship Type="http://schemas.openxmlformats.org/officeDocument/2006/relationships/image" Target="/ppt/media/image24.svg" Id="Rb8dac94687c64dad" /><Relationship Type="http://schemas.openxmlformats.org/officeDocument/2006/relationships/notesSlide" Target="/ppt/notesSlides/notesSlide9.xml" Id="Re6d1baefdee141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3a1dce28374046" /><Relationship Type="http://schemas.openxmlformats.org/officeDocument/2006/relationships/image" Target="/ppt/media/image25.png" Id="R3d69b3da5f0e4cde" /><Relationship Type="http://schemas.openxmlformats.org/officeDocument/2006/relationships/image" Target="/ppt/media/image25.svg" Id="Rf3efed042c50481e" /><Relationship Type="http://schemas.openxmlformats.org/officeDocument/2006/relationships/notesSlide" Target="/ppt/notesSlides/notesSlide10.xml" Id="R488c98ec471548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CADDFD-6985-4A4E-8E7B-8DA61750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309D06-52E1-484D-BB72-BD10E794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48A5D-A933-40AD-9CB0-9C5100C6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7583D-3386-4BEB-88E8-EF85418B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9DAC9-4504-4005-9EB1-B8B4CF98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8C0FD-7F2A-4FC5-A128-80A8F8E4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C8BC7-1327-466B-9BBE-515889A7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1B585-B0A7-4647-B213-214639F1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55DBC-73E1-42DB-A7BA-6A44A1A6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8EF47-5602-486C-9BF5-8BD78125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81C1CF-2A43-4084-807F-2C9E3E7B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F72B1-F819-47B5-9A6C-A33525C9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8C1ED-6AD4-443D-B878-C8C07B9B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DACE6-E26F-455F-A299-401336E6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5EDD1-357D-4AF3-9748-AEB95B7E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0D8D3-3103-40A5-BC3C-0A56F7A3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85525-FCCE-440E-8947-67409128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964D5-E007-4186-A61F-8C087971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81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9131D-03D8-4E99-897D-A7FF54DB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5A905-4B72-44D0-8230-19CBED84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F6EBE5-5B48-42A1-99E3-29CAEF66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4D2B8-20F9-4D99-871C-DB559F9E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68671F-B0BD-46D5-B0FE-878EDCDE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95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A6B94-3180-47D0-A3C7-02FD8832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rPr>
              <a:t>SERVERLESS URL SHORTENER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671A52-56AD-4950-ABB6-F817DE8D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7429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289B6B-B1CE-4B35-9F0D-17F1412A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3ED7BA-2124-4DE0-B09A-07C02228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Serverless URL</a:t>
            </a:r>
          </a:p>
          <a:p xmlns:a="http://schemas.openxmlformats.org/drawingml/2006/main">
            <a:pPr algn="l">
              <a:def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Shortener with Analytics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D897C2-A934-478E-AACE-24287B2A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EBBCA"/>
                </a:solidFill>
                <a:latin typeface="Aptos"/>
                <a:ea typeface="Aptos"/>
                <a:cs typeface="Aptos"/>
              </a:rPr>
              <a:t>Cloud Computing Project using AWS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f93bb8dfa40de">
            <a:extLst>
              <a:ext uri="{96DAC541-7B7A-43D3-8B79-37D633B846F1}">
                <asvg:svgBlip xmlns:asvg="http://schemas.microsoft.com/office/drawing/2016/SVG/main" r:embed="R399bec63518e48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58300" y="1352550"/>
            <a:ext cx="819150" cy="8191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f94c91aa64ea9">
            <a:extLst>
              <a:ext uri="{96DAC541-7B7A-43D3-8B79-37D633B846F1}">
                <asvg:svgBlip xmlns:asvg="http://schemas.microsoft.com/office/drawing/2016/SVG/main" r:embed="R96c1ac1af36d426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0" y="203835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B24AED-F210-44A4-85DD-F8D48208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47625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2EDA6D-4E03-4BC1-9FCF-E42582D6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47625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B9FF66">
              <a:alpha val="7843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CB1B3E-DF75-4224-A39D-B3C95FEE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66675" cy="1771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0C4AA5-4936-475C-956A-CDC9DA24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500" b="1">
                <a:solidFill>
                  <a:srgbClr val="B9FF66"/>
                </a:solidFill>
                <a:latin typeface="Bahnschrift SemiBold"/>
                <a:ea typeface="Bahnschrift SemiBold"/>
                <a:cs typeface="Bahnschrift SemiBold"/>
              </a:rPr>
              <a:t>Presented By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0524AA-2220-4220-998E-2347A89F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Pankaj Raikar - 1RV25MC065</a:t>
            </a:r>
          </a:p>
          <a:p xmlns:a="http://schemas.openxmlformats.org/drawingml/2006/main">
            <a:pPr algn="l">
              <a:defRPr sz="16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Prem Kamble - 1RV25MC074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986663-D14C-4073-8E74-61541198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4095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61D455-372F-4AE3-97D5-2E0E49B0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67100"/>
            <a:ext cx="4095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5DE7FF">
              <a:alpha val="7843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722D7E-805B-4219-85B3-18331C91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67100"/>
            <a:ext cx="66675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FD50F1-4A02-45C4-BB3A-1FBFCFB4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6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Serverless Core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FA4194-D53D-416F-A771-2CD46A38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338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Short links, instant redirects, click analytics, and cloud-native scaling without managing servers.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315122-1BAB-4DE5-A03E-A1EA4967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3295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DE7FF">
              <a:alpha val="13333"/>
            </a:srgbClr>
          </a:solidFill>
          <a:ln xmlns:a="http://schemas.openxmlformats.org/drawingml/2006/main" w="10478">
            <a:solidFill>
              <a:srgbClr val="5DE7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F3AD9D-1E69-44B9-9A50-C4784A96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rPr>
              <a:t>Lambda + API Gateway + DynamoDB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9077E3-6FD2-4E3C-AAC0-461A52C0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57800"/>
            <a:ext cx="2667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9FF66">
              <a:alpha val="13333"/>
            </a:srgbClr>
          </a:solidFill>
          <a:ln xmlns:a="http://schemas.openxmlformats.org/drawingml/2006/main" w="10478">
            <a:solidFill>
              <a:srgbClr val="B9FF6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1206D1-835D-4D1B-A1B2-3C727774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24475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FF66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B9FF66"/>
                </a:solidFill>
                <a:latin typeface="Cascadia Code"/>
                <a:ea typeface="Cascadia Code"/>
                <a:cs typeface="Cascadia Code"/>
              </a:rPr>
              <a:t>S3 + CloudFront frontend</a:t>
            </a:r>
          </a:p>
        </p:txBody>
      </p:sp>
    </p:spTree>
    <p:extLst>
      <p:ext uri="{BB962C8B-B14F-4D97-AF65-F5344CB8AC3E}">
        <p14:creationId xmlns:p14="http://schemas.microsoft.com/office/powerpoint/2010/main" val="11027005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F53C41-D57C-4FBD-B685-C1FB4B88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31D9B-6F11-4F6A-810B-406770DE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ECCA1-7C6E-4962-9E0D-0975AB4E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B02A9-48A3-4B10-A1D8-256B755C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F7BC1-01BC-4261-B612-B12D4555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1763D-E1DA-4020-A539-1CF39107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CE8FF-F9EB-483E-BE04-F048F23D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C9589-EC46-4EFB-8B9E-09BFA7D3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9BD0F-8313-409C-80CB-0C7A5487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E01E8-703B-480B-8640-17F09468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C72A6-776B-44B4-A03E-3327AD5E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0F77C-ADE1-412B-9AD9-EB61BC02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23993-92D5-4208-AE06-F806851C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35617-677D-41B0-9935-71415077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58000-15A3-4ED2-9E39-216812D5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F597F-7F24-4B4F-8E07-9A8A376D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75A5A-4AA0-41E0-A102-452417C7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8A0A50-A596-4666-957B-45A49BC7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81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47F61-B51F-4F3E-8A7A-8D5ABD6B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117261-F77D-42C7-BB6C-17644DAE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40DB3-1E55-41A0-B0EE-8F639923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BA46E-C2B9-4520-8319-5E757FDB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53EC92-36FC-4456-A769-4297D7C5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95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0E0B40-4A8E-4783-93BF-A6828D7B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rPr>
              <a:t>INTRODUCTION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01DB50-92BC-4A50-B800-86B9CE18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7429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09AF1C-26BF-4E8D-BF57-FEBB22D8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67C826-90BC-416D-82E1-D0CE0E0F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What is a URL Shortener?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3FE16F-75EA-4CAF-A03B-1B661A83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EBBCA"/>
                </a:solidFill>
                <a:latin typeface="Aptos"/>
                <a:ea typeface="Aptos"/>
                <a:cs typeface="Aptos"/>
              </a:rPr>
              <a:t>A URL shortener converts long web addresses into compact links that are easier to share and track.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81197B-1635-4D2C-84D0-B7B4C279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2481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D2537A-1A10-49CB-BB0A-945957DB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42481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B9FF66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03F856-2ED0-4283-8F77-595082FB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E9B67A-3EAD-4769-8329-C298AA4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FF66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500" b="1">
                <a:solidFill>
                  <a:srgbClr val="B9FF66"/>
                </a:solidFill>
                <a:latin typeface="Bahnschrift SemiBold"/>
                <a:ea typeface="Bahnschrift SemiBold"/>
                <a:cs typeface="Bahnschrift SemiBold"/>
              </a:rPr>
              <a:t>Original URL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B4BE17-BB8D-4BB2-8141-E2FABFC0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https://amazon.in/products/mobile/iphone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853153-CFEB-4730-9FB8-20B02E91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86163"/>
            <a:ext cx="1028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2701A2-23F2-432F-A024-0D3B8230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C360B3-3E0F-48F3-A004-F7D091E1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76550"/>
            <a:ext cx="37909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849AAC-5645-4514-B026-37D9681E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37909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5DE7FF">
              <a:alpha val="7843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C14ACE-BA7A-4020-8EC7-BAB15043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66675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40BA4D-405B-4D5F-986F-1D2FA55D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670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DE7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500" b="1">
                <a:solidFill>
                  <a:srgbClr val="5DE7FF"/>
                </a:solidFill>
                <a:latin typeface="Bahnschrift SemiBold"/>
                <a:ea typeface="Bahnschrift SemiBold"/>
                <a:cs typeface="Bahnschrift SemiBold"/>
              </a:rPr>
              <a:t>Short URL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2C7565-AD1A-4202-BBB7-C7AC83C3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623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https://short.ly/aX92k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3a96709f743a7">
            <a:extLst>
              <a:ext uri="{96DAC541-7B7A-43D3-8B79-37D633B846F1}">
                <asvg:svgBlip xmlns:asvg="http://schemas.microsoft.com/office/drawing/2016/SVG/main" r:embed="Rbb1b3273e89a4f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77400" y="327660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51E95F-62A7-46EF-9ABB-5AF0EAA7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24400"/>
            <a:ext cx="723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170A14-B473-4B6E-8044-CF35A561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29150"/>
            <a:ext cx="7239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5490"/>
            </a:srgbClr>
          </a:solidFill>
          <a:ln xmlns:a="http://schemas.openxmlformats.org/drawingml/2006/main" w="12383">
            <a:solidFill>
              <a:srgbClr val="31496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5336CE-A347-43AE-8D3B-4E510984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57800"/>
            <a:ext cx="1638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D166">
              <a:alpha val="13333"/>
            </a:srgbClr>
          </a:solidFill>
          <a:ln xmlns:a="http://schemas.openxmlformats.org/drawingml/2006/main" w="10478">
            <a:solidFill>
              <a:srgbClr val="FFD16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C010C6-57C8-4E1A-A4E2-B37779E2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24475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166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FFD166"/>
                </a:solidFill>
                <a:latin typeface="Cascadia Code"/>
                <a:ea typeface="Cascadia Code"/>
                <a:cs typeface="Cascadia Code"/>
              </a:rPr>
              <a:t>MAIN FEATURES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72CC39-B75D-41F2-8B03-EDEBDF27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91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FA57BD-20DC-4FBE-AC33-2AD42D26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33950"/>
            <a:ext cx="377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Short URL generation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9137E4-5190-4FF2-9A0C-A6069B53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14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8EF5F0-96AC-45F7-98EE-900B3A6F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57800"/>
            <a:ext cx="377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Fast redirection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1E0122-434A-420F-BE9C-D5E5DE39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38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C562DC-F491-4EE8-BC3A-2E59BBF4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81650"/>
            <a:ext cx="377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Click analytics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7735C6D-F980-4C60-9F96-7BFCE7AC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62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590B68-D8BE-4D64-8CEC-FDC31407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905500"/>
            <a:ext cx="3771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Cloud deployment</a:t>
            </a:r>
          </a:p>
        </p:txBody>
      </p:sp>
    </p:spTree>
    <p:extLst>
      <p:ext uri="{BB962C8B-B14F-4D97-AF65-F5344CB8AC3E}">
        <p14:creationId xmlns:p14="http://schemas.microsoft.com/office/powerpoint/2010/main" val="19456984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603813-8E35-47E3-95E0-397539AA5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07934-E6AE-4463-A9D0-1B7C871E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C124C-2471-4753-B43D-A74355FA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E89D2-8099-443C-A31E-B961B973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1ACB6-6E1E-4B61-A193-815064F9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00CE6-1822-4D5C-B12C-FDC6623E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06453-D1D6-41D3-96C8-7C042230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60980-048C-4E97-969F-D2ECB2C7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5E6F4-C9AD-4AB3-A05E-9434CB62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195A7-7559-4005-A1A0-BD138BBF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F86FC-25FF-434F-BF36-3BE71B0E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A81C1-BC4D-436C-9C27-A6F7212D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E510E-6197-4A05-A657-6F2666F5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1C57C-3A22-4F69-81AE-7B34E37B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A2EED-9E0E-4708-AC81-E19D22D7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6FD60-0FF5-43A6-8BF4-F816D54F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C92E1-8A8F-4613-BDC8-10E9EB94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CDC63-4873-4104-A27B-3A3CE0A9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81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7F5CC-2DC7-445B-B11B-B9E8F96C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44930-E050-4262-8290-FBB8E66D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D55622-2D0C-4C56-91F9-3BEF23D8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3F0A1-2584-4294-A950-16D8B592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7EC10-4060-452B-AD39-7345AD28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95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6BD8C-A1BE-4370-BF33-EAA84CF7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rPr>
              <a:t>PROJECT OBJECTIVE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B8309-B332-40FE-B697-3B2675BC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7429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CDADA-F235-4AAC-8D86-697B08F7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8DFCEB-EBE4-4DFF-989B-D8B315A7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Objective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4CE5CF-36AB-475B-A870-DBC572A4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EBBCA"/>
                </a:solidFill>
                <a:latin typeface="Aptos"/>
                <a:ea typeface="Aptos"/>
                <a:cs typeface="Aptos"/>
              </a:rPr>
              <a:t>Build a scalable cloud-based URL shortener using AWS serverless services.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AA5A6B-C1D6-4A7A-9A93-DC873EE0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44767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FC4334-7B82-4392-9F76-1E6F0BAF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44767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5DE7FF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68FC27-D772-4ADF-B86A-ECAF374E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66675" cy="2247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c4f4c001a48fe">
            <a:extLst>
              <a:ext uri="{96DAC541-7B7A-43D3-8B79-37D633B846F1}">
                <asvg:svgBlip xmlns:asvg="http://schemas.microsoft.com/office/drawing/2016/SVG/main" r:embed="R00b1b0706b254f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8700" y="31051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C517BF-3F4E-471D-9910-10EB8495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6230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8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Application Goal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4C3453-23D2-4143-B0E4-D7785549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342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Use cloud-native architecture to reduce long URLs, process redirects, and record user click activity.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DA4757-2E23-415F-905C-0D585A36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1940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7A396D-9439-47F7-B0BB-F0CBD35E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80231C-F32A-4AA1-96E5-80AF4E38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241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F34BE8-0099-47A3-8E5C-130EB33B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FF66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2100" b="1">
                <a:solidFill>
                  <a:srgbClr val="B9FF66"/>
                </a:solidFill>
                <a:latin typeface="Bahnschrift SemiBold"/>
                <a:ea typeface="Bahnschrift SemiBold"/>
                <a:cs typeface="Bahnschrift SemiBold"/>
              </a:rPr>
              <a:t>0 servers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20331A-88BC-4EAD-963E-E745795B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1733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Backend execution is event-driven with AWS Lambda.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DE6FAC-942C-4CEF-B40F-F7B1F506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1940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0A1444-8A31-46A6-851A-FF2C1D47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2190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236B87-6C42-4274-8A34-2A1A572A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9FDC20-91E5-4081-A31B-6ACC5CDB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146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DE7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2100" b="1">
                <a:solidFill>
                  <a:srgbClr val="5DE7FF"/>
                </a:solidFill>
                <a:latin typeface="Bahnschrift SemiBold"/>
                <a:ea typeface="Bahnschrift SemiBold"/>
                <a:cs typeface="Bahnschrift SemiBold"/>
              </a:rPr>
              <a:t>Auto scale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9386D8-7A32-4975-BB2D-41A8F17D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14700"/>
            <a:ext cx="1733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Capacity grows with request traffic.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31CB80-B7BD-412D-87D7-A988896D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33850"/>
            <a:ext cx="46863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F40027-2D7B-42B7-A522-A641FC93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38600"/>
            <a:ext cx="46863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D166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480886-952D-4E44-BC69-18BAA17D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38600"/>
            <a:ext cx="66675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0F899F-672E-4634-B529-CF339348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D166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650" b="1">
                <a:solidFill>
                  <a:srgbClr val="FFD166"/>
                </a:solidFill>
                <a:latin typeface="Bahnschrift SemiBold"/>
                <a:ea typeface="Bahnschrift SemiBold"/>
                <a:cs typeface="Bahnschrift SemiBold"/>
              </a:rPr>
              <a:t>Goals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9F99D8-BEA7-495A-8ACD-01AE63A5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81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1D09F4-CA31-4823-A172-BFBC0012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24400"/>
            <a:ext cx="3486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Reduce long URLs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4E82BC-75B3-4D53-AE15-548EBD07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426F5C-E465-4C68-926B-878B5256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48250"/>
            <a:ext cx="3486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Track user clicks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AB58F2-955D-43B2-8864-17E2C4ED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29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079CEE-CA08-4529-8134-DC73E4AF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72100"/>
            <a:ext cx="3486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Minimize server management</a:t>
            </a:r>
          </a:p>
        </p:txBody>
      </p:sp>
    </p:spTree>
    <p:extLst>
      <p:ext uri="{BB962C8B-B14F-4D97-AF65-F5344CB8AC3E}">
        <p14:creationId xmlns:p14="http://schemas.microsoft.com/office/powerpoint/2010/main" val="2144409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377D50-AB2C-4C12-ABCD-3083DDF3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23053-6810-43B0-A165-6490A582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FCC08-274C-4126-B06B-FDC3B643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13446-45C8-41E6-AF97-1CB55FEE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ED7F8-C545-4684-B8E1-94E7F1F9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4647C-1E3E-4BC2-961B-79C40986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BD44E-AE70-412A-BC88-A60330AA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76FF8-9DA9-4386-A65C-D707B39A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C58B7-0AAE-4C90-94F1-A4339B17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7E4A1-8C1E-4332-AA68-6911AA9C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4406D-BE06-4038-86A7-FE1BC60E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6EFB8-E55F-489F-B0BD-5CBDE623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2441B-08E9-45D1-BECD-9A70A4A4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16DE6-6D0A-4FD2-9207-EFF1D469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5EC93-8076-4705-8B6F-D9F320E9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B4700-0B6E-4B6D-980D-06086E48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A8F44A-A89A-4ACA-BF2A-06D4C6E0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18042-B35E-44AA-8575-88CA7DB2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81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422E08-9027-4280-B9A9-AD6EE346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E95F9-26A1-4D19-9A9A-78662003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63394-334E-4FA6-B5EB-4DA2214B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9FB788-76F3-4669-ABDC-401649F5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5FFEA2-A5B6-4CA5-AE6E-0E28EE86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95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87B5EA-2DAE-49FE-B4DA-BCEB1E63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rPr>
              <a:t>AWS SERVICES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C54E59-F9D0-4B5D-8466-4539048E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7429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FA100D-3F26-4FAA-8E81-51D5E8CF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386684-DC9D-49C9-8AB6-372BC72B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AWS Services Used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5543E6-FDE9-4377-AE4B-4EDAD715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EBBCA"/>
                </a:solidFill>
                <a:latin typeface="Aptos"/>
                <a:ea typeface="Aptos"/>
                <a:cs typeface="Aptos"/>
              </a:rPr>
              <a:t>Each service owns one focused responsibility in the serverless workflow.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7D6551-97A7-48EA-AF65-A831A48E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C6A4F-3C10-4192-9B14-3CB7939D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5DE7FF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1CE8E0-12AC-4A46-BCFE-347E01C6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66675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2872f9ad24d59">
            <a:extLst>
              <a:ext uri="{96DAC541-7B7A-43D3-8B79-37D633B846F1}">
                <asvg:svgBlip xmlns:asvg="http://schemas.microsoft.com/office/drawing/2016/SVG/main" r:embed="Rd9406084a58f4e8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30003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90AEE4-FDDA-464D-9A1E-E530F5E0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527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AWS Lambda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EE217C-C7F1-49F3-ADE5-0BB4F292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Backend logic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6EC294-BBC1-49AC-A70B-070B9629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5750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714538-39CA-42C8-97D6-6E329EA0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622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B9FF66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5B22CF-4FD7-475E-A19B-C1685975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762250"/>
            <a:ext cx="66675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aca4ffa1a42d0">
            <a:extLst>
              <a:ext uri="{96DAC541-7B7A-43D3-8B79-37D633B846F1}">
                <asvg:svgBlip xmlns:asvg="http://schemas.microsoft.com/office/drawing/2016/SVG/main" r:embed="R50cfe3b3ef1448b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0" y="30003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DEC1C4-101F-43F5-B6B2-93ED1C3B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527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API Gateway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91AF35-5A88-46A8-9EF1-29A186C1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API communication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CCBA59-13EE-43E2-9475-A1C0AA65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0796C0-677C-4322-AA93-6D7B36A1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622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5DE7FF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643244-4E0C-4433-9529-89485019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62250"/>
            <a:ext cx="66675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8845aa99f47f7">
            <a:extLst>
              <a:ext uri="{96DAC541-7B7A-43D3-8B79-37D633B846F1}">
                <asvg:svgBlip xmlns:asvg="http://schemas.microsoft.com/office/drawing/2016/SVG/main" r:embed="R5e86a2d28fb647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86650" y="30003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33FD09-2340-4460-B9A5-005CFCC1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527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DynamoDB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37F3A6-CFEA-4F9C-B7CD-6DF616FF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385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Store URLs and analytics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A113C7-036A-4B68-9EC8-65505EC6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414F9AC-9ECB-4A07-A9BC-FD6BC5B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B9FF66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226FF6-09FE-4C74-8718-ADF253BB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66675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d7b8771d84a15">
            <a:extLst>
              <a:ext uri="{96DAC541-7B7A-43D3-8B79-37D633B846F1}">
                <asvg:svgBlip xmlns:asvg="http://schemas.microsoft.com/office/drawing/2016/SVG/main" r:embed="R14f46e9c710e43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40671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3918B9-7CC8-4E09-A27E-DC46EE63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Amazon S3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DA4FDB-B984-4D06-B610-3AAA46E4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Frontend hosting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D15719-54F1-46BD-AED9-EC790299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92430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8C2D1A-EE3E-4AAB-A719-15CF6E99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290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5DE7FF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63CA23-B14B-48C4-AE49-9B4F4C7F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29050"/>
            <a:ext cx="66675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fc7b564b44f89">
            <a:extLst>
              <a:ext uri="{96DAC541-7B7A-43D3-8B79-37D633B846F1}">
                <asvg:svgBlip xmlns:asvg="http://schemas.microsoft.com/office/drawing/2016/SVG/main" r:embed="R67d0cf287b774d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91000" y="40671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E9A176-055F-43A7-8012-08803A87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CloudFront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84A067-FCE8-491D-963A-923C6247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053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CDN and fast delivery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DB11E5-F89B-4972-953F-208AABBB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2430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D69053-245C-4F7B-AE9C-59ECA99C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B9FF66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B5D51F-74F8-4E72-A464-29338DC7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29050"/>
            <a:ext cx="66675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38a042efb4f11">
            <a:extLst>
              <a:ext uri="{96DAC541-7B7A-43D3-8B79-37D633B846F1}">
                <asvg:svgBlip xmlns:asvg="http://schemas.microsoft.com/office/drawing/2016/SVG/main" r:embed="R9fe2a64482a644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86650" y="40671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56B1756-51D1-4F8E-AD74-A45261D4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195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CloudWatch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D60891-91D3-4475-B2A6-FC7C1275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053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Monitoring and logs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4EBC86-D51C-4FC6-BFEF-7795F04B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E5C593-C3A2-40D0-8E02-75DE3C63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295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5DE7FF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4F8183-A1DF-4D02-BE08-C2E1D475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66675" cy="819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7dd9e895646ad">
            <a:extLst>
              <a:ext uri="{96DAC541-7B7A-43D3-8B79-37D633B846F1}">
                <asvg:svgBlip xmlns:asvg="http://schemas.microsoft.com/office/drawing/2016/SVG/main" r:embed="Rbc0962715b0f48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51339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0C54C9-196B-4AAA-A92A-C4E9D14E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8635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IAM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A403CB3-B541-4EDF-888D-8500536A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72100"/>
            <a:ext cx="2019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Security and permissions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D499283-11CA-4FF7-9FD5-9AD8A7CB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57750"/>
            <a:ext cx="2952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1707E38-EB90-495D-A7AF-9A98B4E1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62500"/>
            <a:ext cx="2952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D166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2B1FDC6-042F-4190-A7FF-AD25706B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6250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56E62B3-21A7-4D1B-A6B8-189E1FA5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29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166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FFD166"/>
                </a:solidFill>
                <a:latin typeface="Bahnschrift SemiBold"/>
                <a:ea typeface="Bahnschrift SemiBold"/>
                <a:cs typeface="Bahnschrift SemiBold"/>
              </a:rPr>
              <a:t>Service Chain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50B6812-1F29-4FBA-866C-F2A3C45D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149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Frontend -&gt; API Gateway -&gt; Lambda -&gt; DynamoDB</a:t>
            </a:r>
          </a:p>
        </p:txBody>
      </p:sp>
    </p:spTree>
    <p:extLst>
      <p:ext uri="{BB962C8B-B14F-4D97-AF65-F5344CB8AC3E}">
        <p14:creationId xmlns:p14="http://schemas.microsoft.com/office/powerpoint/2010/main" val="89082348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088291-5371-434E-8901-F9465E17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CA95B-3E81-494C-838C-41846203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FE72C-4377-4C9E-9639-ED145E6C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BACDF-8807-41CD-91E5-6E36DFC7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E1FAE-1C57-4077-8192-884843B7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4A7BC-BAFB-4B73-B3D9-2914F774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E5AF0-80FA-40D6-812F-0DB59921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A2DD3-B7C6-470C-9682-12A15695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5CC3B-5AA5-4698-90E2-DAC43594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C02D0-AC71-498B-80A3-1A8FC34E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3613D-08BF-4348-A0CE-33C674CD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944D9-5914-474F-88A9-620D968E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953729-F254-4562-97EA-8C655EF5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ABC48-2700-4488-B8D3-FC5B7820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8BB97-4E62-4668-8D13-998E215A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EBF8D-8E77-4A68-8548-928F2D3A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36102-D6C0-4EB1-AC89-B0BCF450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A0380-9685-421D-AD6D-AC871D93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81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8913E-6A36-4236-A3D2-BE26343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FE4F5-2AC5-4C9B-8481-01E6870B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D47252-C12B-4547-AF4E-8C5F1F1C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8D371-7DC4-46DA-BCAB-397CCEC0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FFF5F-9FA3-4B9B-9CAE-2705F028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95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B10070-068B-4BC5-BD36-A0080327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rPr>
              <a:t>ARCHITECTURE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8F9889-1538-47A1-B272-4D97C57F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7429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D683CC-4CE9-4A1B-B3AD-B8D5AFC7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963486-93D0-4F0F-936D-1F189CC1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System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DCB5F9-F212-49B3-87DF-5BD84693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EBBCA"/>
                </a:solidFill>
                <a:latin typeface="Aptos"/>
                <a:ea typeface="Aptos"/>
                <a:cs typeface="Aptos"/>
              </a:rPr>
              <a:t>A serverless flow handles link creation, redirection, and analytics without managing servers.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3FD551-3DB9-485C-9A56-6FE4395A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9FC746-15CC-4D45-8618-37098389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458995-A388-416C-88AA-5F4B4316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922c30162f414c">
            <a:extLst>
              <a:ext uri="{96DAC541-7B7A-43D3-8B79-37D633B846F1}">
                <asvg:svgBlip xmlns:asvg="http://schemas.microsoft.com/office/drawing/2016/SVG/main" r:embed="R9620f0624b4a43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" y="3009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1A6039-017D-4279-9298-82EB60B5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User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2B31C9-A139-42F9-90C5-2F444573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Submits long URL or clicks short URL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728C92-2A89-4D23-8E0F-387CE9CC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81388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6B2D3B-3A24-449D-B792-24A576B9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194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A6DC1E-F5AB-41B2-818F-93933237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765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C5634F-8244-47E9-8727-AAE7145A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8130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115287-C69B-4754-B216-6B58E245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813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a5639fb7444c5f">
            <a:extLst>
              <a:ext uri="{96DAC541-7B7A-43D3-8B79-37D633B846F1}">
                <asvg:svgBlip xmlns:asvg="http://schemas.microsoft.com/office/drawing/2016/SVG/main" r:embed="Rf655185a620f47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95625" y="3009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820E56-6248-4E41-83DB-5BE703D6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48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Frontend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E3B28D-1C2D-4F8C-9386-B4EC7A98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7528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S3 + CloudFront website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A11B34-AE51-4315-ADCB-57629F3F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81388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4CA995-1706-4769-B94C-883FF224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4194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19D689-8D57-4E51-B739-E90BCF54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765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E0D780-2DF5-4B09-B32B-6B12219A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26559D-2B07-495A-B985-A26B1E93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813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6a8d930164e2e">
            <a:extLst>
              <a:ext uri="{96DAC541-7B7A-43D3-8B79-37D633B846F1}">
                <asvg:svgBlip xmlns:asvg="http://schemas.microsoft.com/office/drawing/2016/SVG/main" r:embed="R02872f696e1543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38750" y="3009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8FBC25-D816-4B48-B4BC-60D5F274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48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API Gateway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EB41F4-8F4E-4573-9DC8-A9B4E7E5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528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Routes REST API requests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F5756D1-1B24-46EF-96A3-474D5FC8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1388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3E13EC-CD9D-439E-A2F6-62A3B5F7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194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CF8154-C51B-411D-8A72-EDE8EEE9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8765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C5B706F-51CF-4704-B3EB-462C671C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E4D9EA-B9B9-4EB0-B1B3-82E6E473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2740c273e24fc2">
            <a:extLst>
              <a:ext uri="{96DAC541-7B7A-43D3-8B79-37D633B846F1}">
                <asvg:svgBlip xmlns:asvg="http://schemas.microsoft.com/office/drawing/2016/SVG/main" r:embed="R64b1dd0b119740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81875" y="3009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20B6BC-B9C1-4558-9C37-C864196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48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AWS Lambda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6E2AD7-BBAD-478A-A6E0-9B7C307B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528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Executes backend logic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6E96D3-A824-4B0A-8854-8AC98307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481388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E2714B-CA89-47D5-85A8-34E6557C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4194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66BF1A-2F51-458B-8E6E-4E08E16C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7655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3A32BB-F18A-426E-9126-04D0E688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1619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2797AA0-7480-45EA-BEB3-F43A1B61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813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b67f08f2b45d1">
            <a:extLst>
              <a:ext uri="{96DAC541-7B7A-43D3-8B79-37D633B846F1}">
                <asvg:svgBlip xmlns:asvg="http://schemas.microsoft.com/office/drawing/2016/SVG/main" r:embed="R33f23c799a7946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0" y="300990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F20E7EB-D3AA-4392-B65C-1BD2546A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48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3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DynamoDB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DF68346-4C74-44C3-9044-568C917A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528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Stores URLs and analytics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5E260FF-842E-4334-9849-C55FAEE2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76800"/>
            <a:ext cx="7162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D28D9E3-85D5-4EBD-89FC-33F5CE52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81550"/>
            <a:ext cx="71628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D166">
              <a:alpha val="6275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F8E475-FBA6-487D-AFD6-DD0009E1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81550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E058EFD-9D0E-4FB7-B2AE-5E3F4F1A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05400"/>
            <a:ext cx="1638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D166">
              <a:alpha val="13333"/>
            </a:srgbClr>
          </a:solidFill>
          <a:ln xmlns:a="http://schemas.openxmlformats.org/drawingml/2006/main" w="10478">
            <a:solidFill>
              <a:srgbClr val="FFD16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8A911D6-D8A8-4B92-905E-64B7EFEE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72075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166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FFD166"/>
                </a:solidFill>
                <a:latin typeface="Cascadia Code"/>
                <a:ea typeface="Cascadia Code"/>
                <a:cs typeface="Cascadia Code"/>
              </a:rPr>
              <a:t>ANALYTICS FLOW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67708DD-0ADA-4EC3-B043-F1383D5A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048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User click -&gt; Lambda runs -&gt; Click count updated -&gt; Analytics stored</a:t>
            </a:r>
          </a:p>
        </p:txBody>
      </p:sp>
    </p:spTree>
    <p:extLst>
      <p:ext uri="{BB962C8B-B14F-4D97-AF65-F5344CB8AC3E}">
        <p14:creationId xmlns:p14="http://schemas.microsoft.com/office/powerpoint/2010/main" val="2171478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337E69-C18E-407F-8AC8-5FA313D1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6B7C7-8994-4828-B7A5-FA7ACFE0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693F3-1566-42C3-9793-1A74E16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2E57D-A1AA-47E6-89FD-6936D46B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C1C86-00D4-4E38-A3EC-59984EE3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AB12E-F411-4D9E-A5A6-DE6CCABA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05514-517B-47DF-81F3-D4757FAA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415AF-6BEE-4F6E-84EF-96789409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F1888-7842-44CC-B72B-02FD3FE3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C5737-82DD-472C-B935-96F01359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55D59-E325-49B8-8FFA-9F9A6C00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E12C8-5C0F-468A-87BC-96F8FF57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01267-9347-47D7-8F3A-7EF2A338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B6285-9FF8-4B3E-AABC-46B671D6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8F22D-1D8B-4D51-8628-760F9497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3BBFC-7829-4C89-9269-E876145F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6A591-18D8-4699-B8E6-090CED6D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C74B7-D6C5-4842-A9D8-42DA063F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81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AB7E2-D1FE-45BC-8EBC-34F5DD33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FFD33-5BCD-4FD2-8216-D76A3D40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7E7357-E035-461E-8FE4-B6CDB7E5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CB2A6-7D40-4CE0-8C00-233760D2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605A1-C522-4A66-A8EF-8118C8D4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95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D25905-EF14-425C-ACDF-CDDC3144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rPr>
              <a:t>FRONTEND + BACKEND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81CD8D-BD4C-45CF-8507-F7A932E2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7429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11CB7-6624-4BAF-887E-7153BDB0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5B3569-540A-4437-B777-6A53B2FE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Frontend and Backend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51194B-CD1A-4494-90E0-48D186D7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EBBCA"/>
                </a:solidFill>
                <a:latin typeface="Aptos"/>
                <a:ea typeface="Aptos"/>
                <a:cs typeface="Aptos"/>
              </a:rPr>
              <a:t>The frontend is hosted statically while Lambda handles backend execution only when needed.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2A0C49-7E1E-4DB5-A7BD-3A4FBA5D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4857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A638A7-77AC-4BEB-9BE3-F2DAFF3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857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5DE7FF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0B1B08-2DE1-4C52-BB7C-11A8B38B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66675" cy="2781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afc1bc86c4985">
            <a:extLst>
              <a:ext uri="{96DAC541-7B7A-43D3-8B79-37D633B846F1}">
                <asvg:svgBlip xmlns:asvg="http://schemas.microsoft.com/office/drawing/2016/SVG/main" r:embed="Rf6ee7aefa0fe48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4900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F54A13-A98E-4B27-BA4C-F0DFC1FA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623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9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Frontend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82ADF7-171B-41A9-A0BA-36DF5C02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DE7FF">
              <a:alpha val="13333"/>
            </a:srgbClr>
          </a:solidFill>
          <a:ln xmlns:a="http://schemas.openxmlformats.org/drawingml/2006/main" w="10478">
            <a:solidFill>
              <a:srgbClr val="5DE7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9A1BAF-87C8-4FE1-9BF4-83758009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rPr>
              <a:t>Amazon S3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56E33E-85BC-4ACF-8017-E861EC10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909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9FF66">
              <a:alpha val="13333"/>
            </a:srgbClr>
          </a:solidFill>
          <a:ln xmlns:a="http://schemas.openxmlformats.org/drawingml/2006/main" w="10478">
            <a:solidFill>
              <a:srgbClr val="B9FF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CCB310-5B45-4D15-A5E3-CE1ED240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FF66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B9FF66"/>
                </a:solidFill>
                <a:latin typeface="Cascadia Code"/>
                <a:ea typeface="Cascadia Code"/>
                <a:cs typeface="Cascadia Code"/>
              </a:rPr>
              <a:t>CloudFront CDN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907A9B-164A-4DE4-9B69-25E6A56D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B40384-F5B4-482E-8D3E-DB6A7D42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Fast website loading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D05E87-22D3-4C68-B98D-565C729E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0425F0-9155-4957-B7D4-A367B3EA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2440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Low hosting cost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FFF88C-6399-4FC8-9ED8-1CA88C51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A93AFC-8F77-4D8A-A486-9235DCDB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4825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Global content delivery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D82AC12-FA3B-4AFA-866B-FD34AC6C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76550"/>
            <a:ext cx="4857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3D25D7-3C84-40C8-AD98-59F68A7B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4857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B9FF66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9F5164-AF55-489D-B9C6-0C4D2FD9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66675" cy="2781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e6c6ae183444e">
            <a:extLst>
              <a:ext uri="{96DAC541-7B7A-43D3-8B79-37D633B846F1}">
                <asvg:svgBlip xmlns:asvg="http://schemas.microsoft.com/office/drawing/2016/SVG/main" r:embed="R4da4482bcba745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77050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5A931B-4BED-4BD7-9A9A-F2E348FB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623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9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Backend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842800-0BD5-480E-8EC6-60BA5700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90950"/>
            <a:ext cx="2495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9FF66">
              <a:alpha val="13333"/>
            </a:srgbClr>
          </a:solidFill>
          <a:ln xmlns:a="http://schemas.openxmlformats.org/drawingml/2006/main" w="10478">
            <a:solidFill>
              <a:srgbClr val="B9FF6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B225E9-BBC6-46EC-AACA-84786818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57625"/>
            <a:ext cx="2495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FF66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B9FF66"/>
                </a:solidFill>
                <a:latin typeface="Cascadia Code"/>
                <a:ea typeface="Cascadia Code"/>
                <a:cs typeface="Cascadia Code"/>
              </a:rPr>
              <a:t>AWS Lambda Functions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647B5C-13F4-40A1-9698-7795935B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00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01688B-D591-40ED-876F-3B05B881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4340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Create short URL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B38D11-522D-427A-8478-D74156C3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1B6ADE-6DAE-407C-B35F-0EBAFF56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2915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Redirect URLs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44A593-3873-4093-8936-A64BAFCD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72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A50CE8-D93D-491B-A92F-7528B591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1490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Update analytics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17EB6F-CF71-4A50-9B3A-5E9524E4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57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AB3E6A-DD83-4731-9140-AE211A12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0065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Auto scaling execution</a:t>
            </a:r>
          </a:p>
        </p:txBody>
      </p:sp>
    </p:spTree>
    <p:extLst>
      <p:ext uri="{BB962C8B-B14F-4D97-AF65-F5344CB8AC3E}">
        <p14:creationId xmlns:p14="http://schemas.microsoft.com/office/powerpoint/2010/main" val="10282204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AF372A-7B8D-4531-A7BE-ED402E8B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75F91-4453-45CB-AE34-188B35E4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4AE6E-1D80-4B50-A9C5-07DA664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D81DA-201E-4E81-89A2-AAE1E714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7D6DC-8828-489C-951C-A47D075E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407F3-030F-4C15-9CDA-0FCCC033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8EE07-41D9-4AD9-99A1-E0DB69A4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28646-2807-4BA7-8136-DA72BF14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FC31A-1E41-4412-A6FE-426406B1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96A88-45F6-4C9D-8202-DFA8A0A7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39941-7275-4673-A7C8-880DE669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957E4-B798-487E-9A93-18E758E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10C97-4A59-4AC4-AD49-C3FC02F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CB684-E746-49EF-AB42-E16E63A7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E2899E-EECD-4D42-B3B9-76BBB579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1954D-2072-4520-9701-4F3E59FD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E1E51-F081-488C-88A9-08277554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5D8B0-C8DB-4ADF-BE01-4583D719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81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1FB1A-2613-437C-9A59-C1E13E29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1A204-D55D-4C08-A73A-BB6F9762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AA0D7-DA12-4132-BABA-332A1610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EE77A-ED71-41F6-AE5F-B1628F8E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7855B-71A3-45E0-8238-BC664503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95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DCE22-570F-43A9-9071-3598412A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rPr>
              <a:t>DATABASE + ANALYTICS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D4FE28-B938-441C-B612-73301159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7429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DF7CCA-3B03-4E63-A06D-DCED2635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AE10A0-4EB3-45CF-BB4E-0F143C26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Database and Analytics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693339-D3FA-4035-B981-946A1DC3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EBBCA"/>
                </a:solidFill>
                <a:latin typeface="Aptos"/>
                <a:ea typeface="Aptos"/>
                <a:cs typeface="Aptos"/>
              </a:rPr>
              <a:t>DynamoDB stores URL mappings and click data for fast lookup and scalable analytics.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3E8F2A-4F9B-45A2-A0F5-35E104DB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45910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37A093-8AE9-4A60-B8DB-E4CDE168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45910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B9FF66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CC64E6-4032-4FE3-9B22-0C77DE4F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66675" cy="2609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63e7669ba4a4e">
            <a:extLst>
              <a:ext uri="{96DAC541-7B7A-43D3-8B79-37D633B846F1}">
                <asvg:svgBlip xmlns:asvg="http://schemas.microsoft.com/office/drawing/2016/SVG/main" r:embed="R1f8e774fc14e4d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5850" y="30861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A1755B-1164-4FD4-94C5-5A7C3851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432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8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DynamoDB Stores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1665C-05BF-454A-B1A2-180327C9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750863-DBB9-4D48-A4AF-8E04D3E9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Original URL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C036E3-BCFE-4079-809D-711D389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E332CC-DF2C-4A5A-8F45-22A0367C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Short ID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1C3CFF-8674-4E6D-A55E-A7A5D8BD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4221CB-288E-435D-BEE8-608E0F75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Click count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167D3A-FC1C-470A-96E6-E83FDE32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A7AF72-D4F7-4D93-B880-DDD0A830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7200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Timestamp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C8AFAD-A284-4755-A79B-4E3E084F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53000"/>
            <a:ext cx="2343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9FF66">
              <a:alpha val="13333"/>
            </a:srgbClr>
          </a:solidFill>
          <a:ln xmlns:a="http://schemas.openxmlformats.org/drawingml/2006/main" w="10478">
            <a:solidFill>
              <a:srgbClr val="B9FF6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FD3C5B-83E2-473C-ACC0-C651862C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9675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9FF66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B9FF66"/>
                </a:solidFill>
                <a:latin typeface="Cascadia Code"/>
                <a:ea typeface="Cascadia Code"/>
                <a:cs typeface="Cascadia Code"/>
              </a:rPr>
              <a:t>High-performance NoSQL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99A877-E42A-4011-97D1-C5F8DEEE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38450"/>
            <a:ext cx="45910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F7F4EC-B372-47E6-8FFD-78324B5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45910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5DE7FF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501C8E-27D0-4963-A964-05BAA232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43200"/>
            <a:ext cx="66675" cy="2609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e9279c9d5492f">
            <a:extLst>
              <a:ext uri="{96DAC541-7B7A-43D3-8B79-37D633B846F1}">
                <asvg:svgBlip xmlns:asvg="http://schemas.microsoft.com/office/drawing/2016/SVG/main" r:embed="R08f0ec46cb8145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67550" y="30861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82BE0C0-8F5F-45AF-B228-C999129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43250"/>
            <a:ext cx="276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8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Analytics Tracks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BF2F08-5DA7-4CEE-A47F-D144F22A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71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05A375-71F7-4BC7-8699-CB5ACD3E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147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Total clicks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FD984C-9C3C-4390-91B1-59CB5E3B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57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BD91BB-C292-4A89-AB1F-67151F0E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0050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Popular URLs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BAB4CD-D4D2-44AA-BD8D-D6F31F3B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A74A88-84BD-4FC4-A7F1-1CD3D846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862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User activity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AC1AA2-8CF4-4804-86CB-3CE2C5DF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291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E37A62-0347-4FFA-B8D6-718DC4F8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Redirection events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3BE2EF-C86E-4137-8EC7-8C859196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530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DE7FF">
              <a:alpha val="13333"/>
            </a:srgbClr>
          </a:solidFill>
          <a:ln xmlns:a="http://schemas.openxmlformats.org/drawingml/2006/main" w="10478">
            <a:solidFill>
              <a:srgbClr val="5DE7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73C45C-FBFA-4E4F-8D34-10B78C64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19675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rPr>
              <a:t>Scalable analytics layer</a:t>
            </a:r>
          </a:p>
        </p:txBody>
      </p:sp>
    </p:spTree>
    <p:extLst>
      <p:ext uri="{BB962C8B-B14F-4D97-AF65-F5344CB8AC3E}">
        <p14:creationId xmlns:p14="http://schemas.microsoft.com/office/powerpoint/2010/main" val="19425898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2F7C9F-BC35-46D1-8774-DF1219BE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67CD8-FCE8-403D-96AD-6C41E7B1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248BF-F8E8-48F5-A787-89EA3C98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6850A-1F18-4D88-AA84-29FD5190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045D6-5159-4FA8-BFF2-8430DE0D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06400-9E6A-4D3A-AFB7-F2E4B356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5D1D5-0A70-4852-8747-6BC8DE79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050FE-5AB0-41F3-80FA-8E256AB7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7DC92-1CB4-4377-8F2C-059F16A0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79654-CEFF-4C29-B816-FB5A28B9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47646-9B80-4FD2-B732-ECA1D6D8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05CCB-FF45-4E3D-95CD-1D400B4C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C4A3A-653D-447A-ACE7-263B6253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00977-5D5D-45E7-8FE6-B7E89022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48F0A-8CCD-46C8-B46F-0AE031C8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F9619-679B-4CA2-812A-0E44DE41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3EEC8-D560-4EB2-A41E-D4F580D9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10BBE-9AC7-4264-911B-60F548A4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81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F8806-1644-4090-8636-B54CC0FE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65391-C636-4B37-A9A8-FEE5C4B8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0A435-D61B-41D2-8CBF-9067C87B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DE91F-C657-468B-8976-6B15CEAA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193586-F3B7-4DCC-ADEA-34C933B6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95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C6E1E4-303C-4F84-BF58-A47B9502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rPr>
              <a:t>SECURITY + MONITORING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07107-F928-4847-9FFE-FE09ADEA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7429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CD616C-CA4D-45D0-9B03-AF946128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09AE4F-2FCF-442D-9FD6-9411E34C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Security and Monitoring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1D9FD3-9874-4849-9FAC-AE0ECA90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EBBCA"/>
                </a:solidFill>
                <a:latin typeface="Aptos"/>
                <a:ea typeface="Aptos"/>
                <a:cs typeface="Aptos"/>
              </a:rPr>
              <a:t>IAM protects AWS resources while CloudWatch gives visibility into application behavior.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661312-45B9-4ECD-9278-25784271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BECAD4-81BA-4BDA-B44B-4E312DC1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B9FF66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323E82-6CC0-4FE0-BBDE-EF28BCCD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40c8713fb4f53">
            <a:extLst>
              <a:ext uri="{96DAC541-7B7A-43D3-8B79-37D633B846F1}">
                <asvg:svgBlip xmlns:asvg="http://schemas.microsoft.com/office/drawing/2016/SVG/main" r:embed="R96acce0439eb4b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" y="3276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A3E670-4548-477A-B8A5-495F5971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147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22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IAM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AB14E6-4036-4C0C-A107-D210BCB7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290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Identity and Access Management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AD9CD6-CCCA-4AF2-8FD3-72B6343E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50372F-160E-4AE4-972D-585CEF22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8625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Access control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1657C4-F2D8-4F7F-A3A3-31FC7DEF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927ED4-FE3A-414A-9BE5-AFC57ADD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9105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Secure permissions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E0DBBC-4E4F-411C-8A10-02C1AC35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9E3F59-B4AC-4D68-90B1-1DB94CC6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Protect AWS resources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39C148-54BD-4255-B4E6-DE94DB05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09900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8E415F-BB6F-46F1-A681-7E6BCDC5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5DE7FF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609148-B4C2-483E-B0ED-9A102139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14650"/>
            <a:ext cx="66675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10802e3194464">
            <a:extLst>
              <a:ext uri="{96DAC541-7B7A-43D3-8B79-37D633B846F1}">
                <asvg:svgBlip xmlns:asvg="http://schemas.microsoft.com/office/drawing/2016/SVG/main" r:embed="R72755248c93e4b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86600" y="3276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5642E5-8355-4B2F-B945-1501D21B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147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22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CloudWatch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86308B-B208-426B-8AB3-0CAD6C55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290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Logs, metrics, and performance visibility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C37121-D706-40BD-81AD-175BF07A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C9566A-8E07-48C8-B699-A6062649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8625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Monitoring logs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700557-6FA7-44A9-A367-ED388E99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8DBC8F-8108-48F4-9721-073E0FAD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9105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Error tracking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EF75C5-1B10-4E61-94CD-503019D2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53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9152C7-B113-4C43-AAB2-02C15427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9585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232264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9A51D2-1F41-4659-9E5A-3B8D3F5B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F4FD5-96C9-459E-AEEC-2D0F278A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2398C-E2F5-4103-96F5-51D861BF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0BD3C-265D-46E8-A582-46FEB11F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02979-E3D7-42E4-BAB5-D358F1D9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935ED-ECBF-433C-B73A-167D1F2F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6A64F-7BFA-406A-8002-DE84905A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6360F-79E0-4CC0-A377-EB5A1783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8DA5A-65E7-4987-B573-909B74D5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14DCB-9DFD-4D97-A031-021925E0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025B9-9917-4DA7-BF1E-7334EE31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38F0C-F851-471D-9853-6872FAC5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6F042-5E4B-408E-81CD-4131873D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1CA48-8D31-480D-8AA8-1A70251A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1B925-3378-4A6C-8D3D-62F0F9D0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17EFB-7D59-4C26-938E-C8F1AC43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63DF0-054F-44B9-9689-1348631F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A947A5-49C8-4733-B137-240A4C77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81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9CAE8-BB50-4611-BF87-B4B8BDA3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66B0C2-D2B4-4F47-BED2-DCB7C17F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E031F1-BC9D-46DC-B2AA-DC4005DB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A94EC1-EF48-4A39-B616-5787A3A5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44B1E-4277-4967-9BC8-C4123FC5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95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D78AF2-B5FF-42ED-B076-7795C6FF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rPr>
              <a:t>ADVANTAGES + FUTURE SCOPE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56371F-4884-436B-BB73-E223982C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7429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95A5BE-BC05-454D-BBBD-90A269CB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BA8A73-E7D8-45CA-A56E-FD015FE3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Advantages and Future Scope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4104A-9788-4FAA-A4E1-5F15A4A8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EBBCA"/>
                </a:solidFill>
                <a:latin typeface="Aptos"/>
                <a:ea typeface="Aptos"/>
                <a:cs typeface="Aptos"/>
              </a:rPr>
              <a:t>The project is lightweight today and can grow into a richer analytics product.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70308-76FF-4C0B-9B17-2BC9EBB7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4476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7BB87D-2F48-4474-9E5A-E7059FAB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4476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B9FF66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DAF646-CF09-4019-8D47-7F6D0BEE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66675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8258256fe4801">
            <a:extLst>
              <a:ext uri="{96DAC541-7B7A-43D3-8B79-37D633B846F1}">
                <asvg:svgBlip xmlns:asvg="http://schemas.microsoft.com/office/drawing/2016/SVG/main" r:embed="R5f9c378a85b948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57300" y="32194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5F5A26-73D1-47C8-BC16-50AFDC0B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766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9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Advantages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DD188F-6621-4EA8-BDC1-DB206546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729EE0-13BC-4DA7-9EE3-83690247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Fully serverless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7DF0A0-C731-406A-930D-F9AA60F6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92C3F0-3D01-4DCB-91B6-F7F21541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2910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Cost efficient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E1CBA2-B2F8-4EF6-AD62-4DE7D723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318FE2-FFBC-4735-AC77-0F9312C0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1485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Highly scalable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7DC7658-8BC2-4496-A0C4-DF41F619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57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69571F-904B-4E89-9C41-3CD509C5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0060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Easy deployment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6672AD-29E4-48C7-ABB6-04D9B246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43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FC4BF2-098D-4FBB-882A-27806D06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86350"/>
            <a:ext cx="2914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Low maintenance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44E9BE-728A-4386-B414-0511F035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476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819008-22BC-463A-AD31-F7FDA305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4476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5DE7FF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8A2308-1A8A-4156-B281-A5173131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57500"/>
            <a:ext cx="66675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555f3338b4e4d">
            <a:extLst>
              <a:ext uri="{96DAC541-7B7A-43D3-8B79-37D633B846F1}">
                <asvg:svgBlip xmlns:asvg="http://schemas.microsoft.com/office/drawing/2016/SVG/main" r:embed="Rb8dac94687c64da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81850" y="32194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52AE59-C1FA-4E75-A425-E73F2D68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766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9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Future Scope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1DA01D-2E43-449F-8E3B-0564CEF3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00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B059C5-9BA6-4197-9DC5-AE273E19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4335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QR code support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AF8448-DB37-4469-94ED-B97B185B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86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17DBFA-2A3E-4ABB-8CD9-EF670489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2910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Custom URLs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A9C7929-6377-4077-B52A-47F1F998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572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96F249-358E-405A-86BA-05EFD2FD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1485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User authentication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B02AAE-618C-4CCE-849D-A050BC24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57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26B7B1-440B-42BE-9215-69D966EF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060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Geographic analytics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C2E8A0-9F13-4C81-9F34-F83B6F63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43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CD2273-1354-4845-9A47-32B7C848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86350"/>
            <a:ext cx="3105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F70E0A-ECF8-4E6B-9DE9-6D6F450B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10250"/>
            <a:ext cx="548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D166">
              <a:alpha val="13333"/>
            </a:srgbClr>
          </a:solidFill>
          <a:ln xmlns:a="http://schemas.openxmlformats.org/drawingml/2006/main" w="10478">
            <a:solidFill>
              <a:srgbClr val="FFD16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36E8B7-5CB3-49E1-8B80-F498CD9A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876925"/>
            <a:ext cx="548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166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FFD166"/>
                </a:solidFill>
                <a:latin typeface="Cascadia Code"/>
                <a:ea typeface="Cascadia Code"/>
                <a:cs typeface="Cascadia Code"/>
              </a:rPr>
              <a:t>NEXT ITERATION: richer dashboards + user accounts</a:t>
            </a:r>
          </a:p>
        </p:txBody>
      </p:sp>
    </p:spTree>
    <p:extLst>
      <p:ext uri="{BB962C8B-B14F-4D97-AF65-F5344CB8AC3E}">
        <p14:creationId xmlns:p14="http://schemas.microsoft.com/office/powerpoint/2010/main" val="14174173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0C9AE-16D2-46F2-95F8-450EC3EB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BB90C-3557-4EC5-B7C0-8145E9E5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F8118-A446-4FBA-AC3B-8253CDBE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B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F8018-CB9B-48C5-A56D-F1053FA9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21079-CA32-423F-8D38-11322279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C48BE-AA97-4112-8399-24B2B262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200F4-DBD1-4746-B077-2E8FDB5B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487F4-7BCE-45C7-A645-9AC88CEA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1B1B6-643C-46DA-86D8-DBA0571B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D5B5C-92B3-4FF9-AD57-3420C4A4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F26F7-8C4E-4A47-B6AE-EE5FAB42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52CC4-1C4F-45C8-8568-41934AE8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D8189-28A1-41C2-8C9B-8478A47B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B5BC9C-1565-4DCF-9E2E-D3C58905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F3675-0166-4078-A5EB-8A0EB60D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B0946-39BD-4DAE-B66C-6FFFF6CA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104900"/>
            <a:ext cx="9525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19F6D-5154-45DC-ADAF-C73AD016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2D22F-F199-44AA-BC36-4E834963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81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D5013-3956-4A38-A18D-83A559DA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241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F2D42D-02D7-4FF4-862B-F4A1CC28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67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E82DC3-76C5-49B6-802E-07BB7CD6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532B0-C8E5-484F-80EB-14F8DE3E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53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A3D27C-3FCD-4437-BB92-D09BF0A4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95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13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B895FB-FDF8-4E0B-8765-3D14D5D2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rPr>
              <a:t>CONCLUSION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02BDFD-A1CE-413E-A6A9-5BCB3A46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5750"/>
            <a:ext cx="7429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142F6-8529-4C6C-ADFD-D36EE545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"/>
            <a:ext cx="742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defRPr>
            </a:pPr>
            <a:r>
              <a:rPr sz="975" b="1">
                <a:solidFill>
                  <a:srgbClr val="07111F"/>
                </a:solidFill>
                <a:latin typeface="Cascadia Code"/>
                <a:ea typeface="Cascadia Code"/>
                <a:cs typeface="Cascadia Code"/>
              </a:rPr>
              <a:t>AWS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B3E902-62DA-4719-9FEA-A6519E8F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330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Conclusion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EA59B1-F4E8-44FB-B3BC-03449031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EBBCA"/>
                </a:solidFill>
                <a:latin typeface="Aptos"/>
                <a:ea typeface="Aptos"/>
                <a:cs typeface="Aptos"/>
              </a:rPr>
              <a:t>AWS cloud services can be combined to build scalable and efficient serverless applications.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9b3da5f0e4cde">
            <a:extLst>
              <a:ext uri="{96DAC541-7B7A-43D3-8B79-37D633B846F1}">
                <asvg:svgBlip xmlns:asvg="http://schemas.microsoft.com/office/drawing/2016/SVG/main" r:embed="Rf3efed042c5048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86950" y="12001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8699D5-F445-430A-924E-61A08714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4552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B24C4A-58B0-469E-8239-85DCE522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4552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5DE7FF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578A80-9EAB-4084-8CDA-AC07A1EF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66675" cy="2400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E7FF"/>
          </a:solidFill>
          <a:ln xmlns:a="http://schemas.openxmlformats.org/drawingml/2006/main" w="0">
            <a:solidFill>
              <a:srgbClr val="5DE7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BACE20-9D97-48AB-A152-C621A44D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9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Project Summary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724FB6-BD53-4BF7-A47B-9B0CB5AF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EBBC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EBBCA"/>
                </a:solidFill>
                <a:latin typeface="Aptos"/>
                <a:ea typeface="Aptos"/>
                <a:cs typeface="Aptos"/>
              </a:rPr>
              <a:t>The system shortens URLs, redirects users quickly, and records analytics using AWS serverless components.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5F31B3-D0C0-4362-969E-E516EA18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14900"/>
            <a:ext cx="3009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DE7FF">
              <a:alpha val="13333"/>
            </a:srgbClr>
          </a:solidFill>
          <a:ln xmlns:a="http://schemas.openxmlformats.org/drawingml/2006/main" w="10478">
            <a:solidFill>
              <a:srgbClr val="5DE7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B87249-9B97-4722-832E-64BD8526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81575"/>
            <a:ext cx="3009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defRPr>
            </a:pPr>
            <a:r>
              <a:rPr sz="900" b="1">
                <a:solidFill>
                  <a:srgbClr val="5DE7FF"/>
                </a:solidFill>
                <a:latin typeface="Cascadia Code"/>
                <a:ea typeface="Cascadia Code"/>
                <a:cs typeface="Cascadia Code"/>
              </a:rPr>
              <a:t>Serverless + Scalable + Observable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C1F7A4-9502-4213-A4AD-A5761C1E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09900"/>
            <a:ext cx="4552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000000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8C7597-D0B8-4278-9A4A-D82207F1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4552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B9FF66">
              <a:alpha val="7059"/>
            </a:srgbClr>
          </a:solidFill>
          <a:ln xmlns:a="http://schemas.openxmlformats.org/drawingml/2006/main" w="12383">
            <a:solidFill>
              <a:srgbClr val="2A456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A20959-2C67-48D5-8E00-980DCB8F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14650"/>
            <a:ext cx="66675" cy="2400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8EB2C3-EC51-423A-8357-772C122F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337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defRPr>
            </a:pPr>
            <a:r>
              <a:rPr sz="1950" b="1">
                <a:solidFill>
                  <a:srgbClr val="F8FBFF"/>
                </a:solidFill>
                <a:latin typeface="Bahnschrift SemiBold"/>
                <a:ea typeface="Bahnschrift SemiBold"/>
                <a:cs typeface="Bahnschrift SemiBold"/>
              </a:rPr>
              <a:t>Key Learnings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CECB02-CE29-4D5C-B64E-35CF955E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00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431EE8-4FE7-4611-9318-73EB258A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Cloud computing concepts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3C9130-ADE1-4C3D-83E1-5E633EAE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24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C29687-E2C2-4419-A872-1F45A9DB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Serverless architecture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A69E46A-8A72-4341-9C5A-EC18B816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482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84335A-6BED-4A71-88C6-9C93CD4F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AWS deployment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6C263D-EDB3-4216-BD54-41F94C3B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72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66"/>
          </a:solidFill>
          <a:ln xmlns:a="http://schemas.openxmlformats.org/drawingml/2006/main" w="0">
            <a:solidFill>
              <a:srgbClr val="B9FF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8F3027-A33B-4674-917B-6AB9FFB7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00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B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BFF"/>
                </a:solidFill>
                <a:latin typeface="Aptos"/>
                <a:ea typeface="Aptos"/>
                <a:cs typeface="Aptos"/>
              </a:rPr>
              <a:t>Monitoring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1874376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2026-05-21T16:16:51.3480000Z</dcterms:created>
  <dcterms:modified xsi:type="dcterms:W3CDTF">2026-05-21T16:16:51.3480000Z</dcterms:modified>
</coreProperties>
</file>