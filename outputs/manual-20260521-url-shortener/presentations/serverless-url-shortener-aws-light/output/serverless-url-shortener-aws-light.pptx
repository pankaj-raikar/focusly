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82184bad42e4951" /><Relationship Type="http://schemas.openxmlformats.org/officeDocument/2006/relationships/extended-properties" Target="/docProps/app.xml" Id="R26006379677c4f10" /><Relationship Type="http://schemas.openxmlformats.org/officeDocument/2006/relationships/officeDocument" Target="/ppt/presentation.xml" Id="Rc6c64908fe904ae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9a59528203e4288"/>
  </p:sldMasterIdLst>
  <p:notesMasterIdLst>
    <p:notesMasterId xmlns:r="http://schemas.openxmlformats.org/officeDocument/2006/relationships" r:id="Rdeec15a1ff754722"/>
  </p:notesMasterIdLst>
  <p:sldIdLst>
    <p:sldId xmlns:r="http://schemas.openxmlformats.org/officeDocument/2006/relationships" id="256" r:id="R33b0fd3db2d14090"/>
    <p:sldId xmlns:r="http://schemas.openxmlformats.org/officeDocument/2006/relationships" id="257" r:id="R8343f0a45ed74461"/>
    <p:sldId xmlns:r="http://schemas.openxmlformats.org/officeDocument/2006/relationships" id="258" r:id="R3fb7bdb9f1c049d0"/>
    <p:sldId xmlns:r="http://schemas.openxmlformats.org/officeDocument/2006/relationships" id="259" r:id="R8193fbce0cb4415b"/>
    <p:sldId xmlns:r="http://schemas.openxmlformats.org/officeDocument/2006/relationships" id="260" r:id="Rcbf80379ab744e68"/>
    <p:sldId xmlns:r="http://schemas.openxmlformats.org/officeDocument/2006/relationships" id="261" r:id="R66243dd760064033"/>
    <p:sldId xmlns:r="http://schemas.openxmlformats.org/officeDocument/2006/relationships" id="262" r:id="Raecddd5016d24c9e"/>
    <p:sldId xmlns:r="http://schemas.openxmlformats.org/officeDocument/2006/relationships" id="263" r:id="R49a425a331a246f7"/>
    <p:sldId xmlns:r="http://schemas.openxmlformats.org/officeDocument/2006/relationships" id="264" r:id="R9cc2bebf09224277"/>
    <p:sldId xmlns:r="http://schemas.openxmlformats.org/officeDocument/2006/relationships" id="265" r:id="Rb647e3186d494d5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a59528203e4288" /><Relationship Type="http://schemas.openxmlformats.org/officeDocument/2006/relationships/theme" Target="/ppt/theme/theme1.xml" Id="Rc931fc1358af4148" /><Relationship Type="http://schemas.openxmlformats.org/officeDocument/2006/relationships/notesMaster" Target="/ppt/notesMasters/notesMaster1.xml" Id="Rdeec15a1ff754722" /><Relationship Type="http://schemas.openxmlformats.org/officeDocument/2006/relationships/presProps" Target="/ppt/presProps.xml" Id="R53a458418ce948b0" /><Relationship Type="http://schemas.openxmlformats.org/officeDocument/2006/relationships/viewProps" Target="/ppt/viewProps.xml" Id="Re674f97aba5144c9" /><Relationship Type="http://schemas.openxmlformats.org/officeDocument/2006/relationships/tableStyles" Target="/ppt/tableStyles.xml" Id="R2e50fd57d5084ce9" /><Relationship Type="http://schemas.openxmlformats.org/officeDocument/2006/relationships/slide" Target="/ppt/slides/slide1.xml" Id="R33b0fd3db2d14090" /><Relationship Type="http://schemas.openxmlformats.org/officeDocument/2006/relationships/slide" Target="/ppt/slides/slide2.xml" Id="R8343f0a45ed74461" /><Relationship Type="http://schemas.openxmlformats.org/officeDocument/2006/relationships/slide" Target="/ppt/slides/slide3.xml" Id="R3fb7bdb9f1c049d0" /><Relationship Type="http://schemas.openxmlformats.org/officeDocument/2006/relationships/slide" Target="/ppt/slides/slide4.xml" Id="R8193fbce0cb4415b" /><Relationship Type="http://schemas.openxmlformats.org/officeDocument/2006/relationships/slide" Target="/ppt/slides/slide5.xml" Id="Rcbf80379ab744e68" /><Relationship Type="http://schemas.openxmlformats.org/officeDocument/2006/relationships/slide" Target="/ppt/slides/slide6.xml" Id="R66243dd760064033" /><Relationship Type="http://schemas.openxmlformats.org/officeDocument/2006/relationships/slide" Target="/ppt/slides/slide7.xml" Id="Raecddd5016d24c9e" /><Relationship Type="http://schemas.openxmlformats.org/officeDocument/2006/relationships/slide" Target="/ppt/slides/slide8.xml" Id="R49a425a331a246f7" /><Relationship Type="http://schemas.openxmlformats.org/officeDocument/2006/relationships/slide" Target="/ppt/slides/slide9.xml" Id="R9cc2bebf09224277" /><Relationship Type="http://schemas.openxmlformats.org/officeDocument/2006/relationships/slide" Target="/ppt/slides/slide10.xml" Id="Rb647e3186d494d5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e55b7feac5bf4ba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3a591c734384686" /><Relationship Type="http://schemas.openxmlformats.org/officeDocument/2006/relationships/notesMaster" Target="/ppt/notesMasters/notesMaster1.xml" Id="R3376a8cf7fb346b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34c9d08e2e445b5" /><Relationship Type="http://schemas.openxmlformats.org/officeDocument/2006/relationships/notesMaster" Target="/ppt/notesMasters/notesMaster1.xml" Id="R807c91e6e83642f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137c763d5694301" /><Relationship Type="http://schemas.openxmlformats.org/officeDocument/2006/relationships/notesMaster" Target="/ppt/notesMasters/notesMaster1.xml" Id="Rf62f10e332114dd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802a8b96a7942de" /><Relationship Type="http://schemas.openxmlformats.org/officeDocument/2006/relationships/notesMaster" Target="/ppt/notesMasters/notesMaster1.xml" Id="R7eddacce0cf44cc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023297b96bc4892" /><Relationship Type="http://schemas.openxmlformats.org/officeDocument/2006/relationships/notesMaster" Target="/ppt/notesMasters/notesMaster1.xml" Id="R336bfbed37cf4db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2e8be68a58047ca" /><Relationship Type="http://schemas.openxmlformats.org/officeDocument/2006/relationships/notesMaster" Target="/ppt/notesMasters/notesMaster1.xml" Id="Rfe6256f1f6254c9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6e9c71034ca4aef" /><Relationship Type="http://schemas.openxmlformats.org/officeDocument/2006/relationships/notesMaster" Target="/ppt/notesMasters/notesMaster1.xml" Id="R04cd9fee370a492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c02d92d72974801" /><Relationship Type="http://schemas.openxmlformats.org/officeDocument/2006/relationships/notesMaster" Target="/ppt/notesMasters/notesMaster1.xml" Id="R27e704cf207d4bb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a309b42cbd544a9" /><Relationship Type="http://schemas.openxmlformats.org/officeDocument/2006/relationships/notesMaster" Target="/ppt/notesMasters/notesMaster1.xml" Id="Rd33a71b80f814e9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9a82bacbbd04360" /><Relationship Type="http://schemas.openxmlformats.org/officeDocument/2006/relationships/notesMaster" Target="/ppt/notesMasters/notesMaster1.xml" Id="R1502a3f9a159458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d79f47e27b4215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0d4fb479a83e4e83" /><Relationship Type="http://schemas.openxmlformats.org/officeDocument/2006/relationships/slideLayout" Target="/ppt/slideLayouts/slideLayout2.xml" Id="R7a5ac0eb002c468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a5ac0eb002c468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dc2b08b67d24f05" /><Relationship Type="http://schemas.openxmlformats.org/officeDocument/2006/relationships/image" Target="/ppt/media/image.png" Id="Ra6beebdd59a64a2e" /><Relationship Type="http://schemas.openxmlformats.org/officeDocument/2006/relationships/image" Target="/ppt/media/image.svg" Id="Rcc4b22c1223b4b26" /><Relationship Type="http://schemas.openxmlformats.org/officeDocument/2006/relationships/image" Target="/ppt/media/image2.png" Id="R4ac659ecf951497c" /><Relationship Type="http://schemas.openxmlformats.org/officeDocument/2006/relationships/image" Target="/ppt/media/image2.svg" Id="R95e286799ddd4ede" /><Relationship Type="http://schemas.openxmlformats.org/officeDocument/2006/relationships/notesSlide" Target="/ppt/notesSlides/notesSlide1.xml" Id="Raab283458150434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62bd7ec35334c2a" /><Relationship Type="http://schemas.openxmlformats.org/officeDocument/2006/relationships/image" Target="/ppt/media/image3.png" Id="R397a6f570fb34836" /><Relationship Type="http://schemas.openxmlformats.org/officeDocument/2006/relationships/image" Target="/ppt/media/image3.svg" Id="Rf6777c988fe848b0" /><Relationship Type="http://schemas.openxmlformats.org/officeDocument/2006/relationships/notesSlide" Target="/ppt/notesSlides/notesSlide2.xml" Id="Rfc847b62768f457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40a871e1e534534" /><Relationship Type="http://schemas.openxmlformats.org/officeDocument/2006/relationships/image" Target="/ppt/media/image4.png" Id="R97daf557bcc94572" /><Relationship Type="http://schemas.openxmlformats.org/officeDocument/2006/relationships/image" Target="/ppt/media/image4.svg" Id="Rcf54da7a011a4c9f" /><Relationship Type="http://schemas.openxmlformats.org/officeDocument/2006/relationships/notesSlide" Target="/ppt/notesSlides/notesSlide3.xml" Id="Rfbeb35f7f17147a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29a49ac7d644847" /><Relationship Type="http://schemas.openxmlformats.org/officeDocument/2006/relationships/image" Target="/ppt/media/image5.png" Id="R47a34fd5d2c241df" /><Relationship Type="http://schemas.openxmlformats.org/officeDocument/2006/relationships/image" Target="/ppt/media/image5.svg" Id="Reef5375a86ce4d8e" /><Relationship Type="http://schemas.openxmlformats.org/officeDocument/2006/relationships/image" Target="/ppt/media/image6.png" Id="R91cb81af2af84f48" /><Relationship Type="http://schemas.openxmlformats.org/officeDocument/2006/relationships/image" Target="/ppt/media/image6.svg" Id="R83731fb17f754bff" /><Relationship Type="http://schemas.openxmlformats.org/officeDocument/2006/relationships/image" Target="/ppt/media/image7.png" Id="R21cb95f4f6204e18" /><Relationship Type="http://schemas.openxmlformats.org/officeDocument/2006/relationships/image" Target="/ppt/media/image7.svg" Id="Rbb4349fa486e4fa1" /><Relationship Type="http://schemas.openxmlformats.org/officeDocument/2006/relationships/image" Target="/ppt/media/image8.png" Id="Rb4a391c4a9a44740" /><Relationship Type="http://schemas.openxmlformats.org/officeDocument/2006/relationships/image" Target="/ppt/media/image8.svg" Id="R143978dc56ad4ce8" /><Relationship Type="http://schemas.openxmlformats.org/officeDocument/2006/relationships/image" Target="/ppt/media/image9.png" Id="R990c692f9d954e8a" /><Relationship Type="http://schemas.openxmlformats.org/officeDocument/2006/relationships/image" Target="/ppt/media/image9.svg" Id="Rd6115add2f3c4717" /><Relationship Type="http://schemas.openxmlformats.org/officeDocument/2006/relationships/image" Target="/ppt/media/image10.png" Id="Rbb91b35a75c34dcf" /><Relationship Type="http://schemas.openxmlformats.org/officeDocument/2006/relationships/image" Target="/ppt/media/image10.svg" Id="R8e92b65e4bb24918" /><Relationship Type="http://schemas.openxmlformats.org/officeDocument/2006/relationships/image" Target="/ppt/media/image11.png" Id="R12ba0b89184548d6" /><Relationship Type="http://schemas.openxmlformats.org/officeDocument/2006/relationships/image" Target="/ppt/media/image11.svg" Id="Raeab03dcfb344ddc" /><Relationship Type="http://schemas.openxmlformats.org/officeDocument/2006/relationships/notesSlide" Target="/ppt/notesSlides/notesSlide4.xml" Id="R36cec9262d274c4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a1f165c3bab4512" /><Relationship Type="http://schemas.openxmlformats.org/officeDocument/2006/relationships/image" Target="/ppt/media/image12.png" Id="Rf965c61e6bac4314" /><Relationship Type="http://schemas.openxmlformats.org/officeDocument/2006/relationships/image" Target="/ppt/media/image12.svg" Id="R8db9c79f43f0470b" /><Relationship Type="http://schemas.openxmlformats.org/officeDocument/2006/relationships/image" Target="/ppt/media/image13.png" Id="Rdc95eee2d62c43c6" /><Relationship Type="http://schemas.openxmlformats.org/officeDocument/2006/relationships/image" Target="/ppt/media/image13.svg" Id="R4a1610ecab674610" /><Relationship Type="http://schemas.openxmlformats.org/officeDocument/2006/relationships/image" Target="/ppt/media/image14.png" Id="R49c55e82414948f7" /><Relationship Type="http://schemas.openxmlformats.org/officeDocument/2006/relationships/image" Target="/ppt/media/image14.svg" Id="R44b677d21cb04a52" /><Relationship Type="http://schemas.openxmlformats.org/officeDocument/2006/relationships/image" Target="/ppt/media/image15.png" Id="R2c2ab83bc64548ee" /><Relationship Type="http://schemas.openxmlformats.org/officeDocument/2006/relationships/image" Target="/ppt/media/image15.svg" Id="Rd4b022ba39884dbe" /><Relationship Type="http://schemas.openxmlformats.org/officeDocument/2006/relationships/image" Target="/ppt/media/image16.png" Id="R469751f143164abb" /><Relationship Type="http://schemas.openxmlformats.org/officeDocument/2006/relationships/image" Target="/ppt/media/image16.svg" Id="R1b791feb7ad5446f" /><Relationship Type="http://schemas.openxmlformats.org/officeDocument/2006/relationships/notesSlide" Target="/ppt/notesSlides/notesSlide5.xml" Id="R3910eaa5e33c4ee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b36c03baaf54b94" /><Relationship Type="http://schemas.openxmlformats.org/officeDocument/2006/relationships/image" Target="/ppt/media/image17.png" Id="Ra11aa3f58e084e2f" /><Relationship Type="http://schemas.openxmlformats.org/officeDocument/2006/relationships/image" Target="/ppt/media/image17.svg" Id="Rb74badd2f3f14d57" /><Relationship Type="http://schemas.openxmlformats.org/officeDocument/2006/relationships/image" Target="/ppt/media/image18.png" Id="R63ffe788fcd74e5a" /><Relationship Type="http://schemas.openxmlformats.org/officeDocument/2006/relationships/image" Target="/ppt/media/image18.svg" Id="R45f3f7966ae94139" /><Relationship Type="http://schemas.openxmlformats.org/officeDocument/2006/relationships/notesSlide" Target="/ppt/notesSlides/notesSlide6.xml" Id="Rc418de4f705d48b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bc196840e724844" /><Relationship Type="http://schemas.openxmlformats.org/officeDocument/2006/relationships/image" Target="/ppt/media/image19.png" Id="Rf1396ffe817140d1" /><Relationship Type="http://schemas.openxmlformats.org/officeDocument/2006/relationships/image" Target="/ppt/media/image19.svg" Id="R021e307d0d474580" /><Relationship Type="http://schemas.openxmlformats.org/officeDocument/2006/relationships/image" Target="/ppt/media/image20.png" Id="Re9e104b882574b83" /><Relationship Type="http://schemas.openxmlformats.org/officeDocument/2006/relationships/image" Target="/ppt/media/image20.svg" Id="Raa910902de6c4ecd" /><Relationship Type="http://schemas.openxmlformats.org/officeDocument/2006/relationships/notesSlide" Target="/ppt/notesSlides/notesSlide7.xml" Id="R33bda9bc1c7d4a9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54891e767314916" /><Relationship Type="http://schemas.openxmlformats.org/officeDocument/2006/relationships/image" Target="/ppt/media/image21.png" Id="Rb6576f2e745b4358" /><Relationship Type="http://schemas.openxmlformats.org/officeDocument/2006/relationships/image" Target="/ppt/media/image21.svg" Id="R2ec07465c7ed4587" /><Relationship Type="http://schemas.openxmlformats.org/officeDocument/2006/relationships/image" Target="/ppt/media/image22.png" Id="Re9348f80719542db" /><Relationship Type="http://schemas.openxmlformats.org/officeDocument/2006/relationships/image" Target="/ppt/media/image22.svg" Id="R2a26e2db9c534941" /><Relationship Type="http://schemas.openxmlformats.org/officeDocument/2006/relationships/notesSlide" Target="/ppt/notesSlides/notesSlide8.xml" Id="R9320459045de4c1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d9e3f7b366f4751" /><Relationship Type="http://schemas.openxmlformats.org/officeDocument/2006/relationships/image" Target="/ppt/media/image23.png" Id="R6f169b8014024c96" /><Relationship Type="http://schemas.openxmlformats.org/officeDocument/2006/relationships/image" Target="/ppt/media/image23.svg" Id="R2cd7ff8e4e354fa2" /><Relationship Type="http://schemas.openxmlformats.org/officeDocument/2006/relationships/image" Target="/ppt/media/image24.png" Id="Rc5b7808cfe454bb2" /><Relationship Type="http://schemas.openxmlformats.org/officeDocument/2006/relationships/image" Target="/ppt/media/image24.svg" Id="Rc0a0ae2d985f49f8" /><Relationship Type="http://schemas.openxmlformats.org/officeDocument/2006/relationships/notesSlide" Target="/ppt/notesSlides/notesSlide9.xml" Id="R8d3bf85f0d9f4c0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0d7bce44ee2433e" /><Relationship Type="http://schemas.openxmlformats.org/officeDocument/2006/relationships/image" Target="/ppt/media/image25.png" Id="Rda1003af1e4c4ad7" /><Relationship Type="http://schemas.openxmlformats.org/officeDocument/2006/relationships/image" Target="/ppt/media/image25.svg" Id="Rd0da2a49a9f84f41" /><Relationship Type="http://schemas.openxmlformats.org/officeDocument/2006/relationships/notesSlide" Target="/ppt/notesSlides/notesSlide10.xml" Id="R028bd22b1f85469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05120E3-7BCA-4FE7-8596-4AA7DFF35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56963B-1503-4B41-B114-C2895CB0A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E5949D-295F-4C54-B70E-DA1FF51A8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CC1ECA-DBFC-4E4B-A92E-652CEAC3B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12395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31451F-C283-4F94-BF9B-0EC838168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12395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A3B538-D1F2-4230-97AC-2D2D8AD21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12395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52B01E-0F4C-4B11-BA83-58EABCADA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12395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A32B67-0BD7-4447-A8D6-099227D29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12395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E3B1F0-6725-42D7-8C80-DC04DCA44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12395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735D6F-2511-4FF0-9AFB-14B9D458A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12395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925D93-00C3-49E1-A8CC-4424C044D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12395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3074C1-7E62-4B3D-9382-05B4798BC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12395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75D2BD-20E7-4F08-A061-D1C4DF7B2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12395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CBC444-9E5E-4BFF-B641-9D9A2686C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112395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435874-A7C2-40B8-B3A5-D3FA18AD7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112395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37514D-7249-44F5-BCF9-47AF35D99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82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479E71-0C8C-4E75-BE4C-B90CDE3E6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193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963E07-F813-461E-97B2-61129C5AA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003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D51B6B-217D-4A84-BE48-404FA8668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5814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E9EDB6-F493-4ED8-B936-D2F1FAED5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3624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0A3454-F2B2-447F-8F6D-5B49B69D7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435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940B28-27B6-48EE-B6A0-76B08C27D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245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B55D9A-3F10-4CE4-966B-1AFE5E5B6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438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FB6B2"/>
                </a:solidFill>
                <a:latin typeface="Cascadia Code"/>
                <a:ea typeface="Cascadia Code"/>
                <a:cs typeface="Cascadia Code"/>
              </a:defRPr>
            </a:pPr>
            <a:r>
              <a:rPr sz="825" b="1">
                <a:solidFill>
                  <a:srgbClr val="1FB6B2"/>
                </a:solidFill>
                <a:latin typeface="Cascadia Code"/>
                <a:ea typeface="Cascadia Code"/>
                <a:cs typeface="Cascadia Code"/>
              </a:rPr>
              <a:t>SERVERLESS URL SHORTENER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9009A1-4789-475E-8D8D-F7A00827B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228600"/>
            <a:ext cx="7810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4F8C8"/>
          </a:solidFill>
          <a:ln xmlns:a="http://schemas.openxmlformats.org/drawingml/2006/main" w="9525">
            <a:solidFill>
              <a:srgbClr val="A7D86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61ECDB-D22B-4BF7-84C3-DEA8B4A8A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295275"/>
            <a:ext cx="781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22033"/>
                </a:solidFill>
                <a:latin typeface="Cascadia Code"/>
                <a:ea typeface="Cascadia Code"/>
                <a:cs typeface="Cascadia Code"/>
              </a:defRPr>
            </a:pPr>
            <a:r>
              <a:rPr sz="900" b="1">
                <a:solidFill>
                  <a:srgbClr val="122033"/>
                </a:solidFill>
                <a:latin typeface="Cascadia Code"/>
                <a:ea typeface="Cascadia Code"/>
                <a:cs typeface="Cascadia Code"/>
              </a:rPr>
              <a:t>AWS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974DFE-0595-4684-BF79-0C4DF389C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7810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22033"/>
                </a:solidFill>
                <a:latin typeface="Bahnschrift SemiBold"/>
                <a:ea typeface="Bahnschrift SemiBold"/>
                <a:cs typeface="Bahnschrift SemiBold"/>
              </a:defRPr>
            </a:pPr>
            <a:r>
              <a:rPr sz="3000" b="1">
                <a:solidFill>
                  <a:srgbClr val="122033"/>
                </a:solidFill>
                <a:latin typeface="Bahnschrift SemiBold"/>
                <a:ea typeface="Bahnschrift SemiBold"/>
                <a:cs typeface="Bahnschrift SemiBold"/>
              </a:rPr>
              <a:t>Serverless URL</a:t>
            </a:r>
          </a:p>
          <a:p xmlns:a="http://schemas.openxmlformats.org/drawingml/2006/main">
            <a:pPr algn="l">
              <a:defRPr sz="3000" b="1">
                <a:solidFill>
                  <a:srgbClr val="122033"/>
                </a:solidFill>
                <a:latin typeface="Bahnschrift SemiBold"/>
                <a:ea typeface="Bahnschrift SemiBold"/>
                <a:cs typeface="Bahnschrift SemiBold"/>
              </a:defRPr>
            </a:pPr>
            <a:r>
              <a:rPr sz="3000" b="1">
                <a:solidFill>
                  <a:srgbClr val="122033"/>
                </a:solidFill>
                <a:latin typeface="Bahnschrift SemiBold"/>
                <a:ea typeface="Bahnschrift SemiBold"/>
                <a:cs typeface="Bahnschrift SemiBold"/>
              </a:rPr>
              <a:t>Shortener with Analytics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3F93597-7AA7-4073-AC25-0C68BCB95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71700"/>
            <a:ext cx="7524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F4D5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3F4D5F"/>
                </a:solidFill>
                <a:latin typeface="Aptos"/>
                <a:ea typeface="Aptos"/>
                <a:cs typeface="Aptos"/>
              </a:rPr>
              <a:t>Cloud Computing Project using AWS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beebdd59a64a2e">
            <a:extLst>
              <a:ext uri="{96DAC541-7B7A-43D3-8B79-37D633B846F1}">
                <asvg:svgBlip xmlns:asvg="http://schemas.microsoft.com/office/drawing/2016/SVG/main" r:embed="Rcc4b22c1223b4b2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201150" y="1352550"/>
            <a:ext cx="704850" cy="704850"/>
          </a:xfrm>
          <a:prstGeom xmlns:a="http://schemas.openxmlformats.org/drawingml/2006/main" prst="rect">
            <a:avLst/>
          </a:prstGeom>
        </p:spPr>
      </p:pic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c659ecf951497c">
            <a:extLst>
              <a:ext uri="{96DAC541-7B7A-43D3-8B79-37D633B846F1}">
                <asvg:svgBlip xmlns:asvg="http://schemas.microsoft.com/office/drawing/2016/SVG/main" r:embed="R95e286799ddd4ed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134600" y="2038350"/>
            <a:ext cx="419100" cy="419100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00E6C95-8BE2-42CC-8FFE-3A5E07F0C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209925"/>
            <a:ext cx="47625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99A7B4">
              <a:alpha val="1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56FA4F6-BDC2-422B-8FAA-04F664B95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47625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22BBAA0-382F-4C97-8B52-7BCAAA513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57150" cy="1562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DE650"/>
          </a:solidFill>
          <a:ln xmlns:a="http://schemas.openxmlformats.org/drawingml/2006/main" w="0">
            <a:solidFill>
              <a:srgbClr val="9DE65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D2B8113-91EC-4CC0-BA27-CDB59ADAC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290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2033"/>
                </a:solidFill>
                <a:latin typeface="Bahnschrift SemiBold"/>
                <a:ea typeface="Bahnschrift SemiBold"/>
                <a:cs typeface="Bahnschrift SemiBold"/>
              </a:defRPr>
            </a:pPr>
            <a:r>
              <a:rPr sz="1425" b="1">
                <a:solidFill>
                  <a:srgbClr val="122033"/>
                </a:solidFill>
                <a:latin typeface="Bahnschrift SemiBold"/>
                <a:ea typeface="Bahnschrift SemiBold"/>
                <a:cs typeface="Bahnschrift SemiBold"/>
              </a:rPr>
              <a:t>Presented By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7F0FB2A-19A2-4114-A56F-C89C5AD4D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48100"/>
            <a:ext cx="3714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Pankaj Raikar - 1RV25MC065</a:t>
            </a:r>
          </a:p>
          <a:p xmlns:a="http://schemas.openxmlformats.org/drawingml/2006/main">
            <a:pPr algn="l">
              <a:defRPr sz="1575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Prem Kamble - 1RV25MC074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6DE7001-43B8-4CD6-9A34-8190C6FD5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3552825"/>
            <a:ext cx="40005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99A7B4">
              <a:alpha val="1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8C8B5F5-E43B-40CD-9F52-F18AE30F5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486150"/>
            <a:ext cx="40005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DDF1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F58AB3E-3316-462B-A3E8-2D42F1F0D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486150"/>
            <a:ext cx="57150" cy="1314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B6B2"/>
          </a:solidFill>
          <a:ln xmlns:a="http://schemas.openxmlformats.org/drawingml/2006/main" w="0">
            <a:solidFill>
              <a:srgbClr val="1FB6B2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6B8DA8A-ED28-4833-A692-F336FD420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7528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2033"/>
                </a:solidFill>
                <a:latin typeface="Bahnschrift SemiBold"/>
                <a:ea typeface="Bahnschrift SemiBold"/>
                <a:cs typeface="Bahnschrift SemiBold"/>
              </a:defRPr>
            </a:pPr>
            <a:r>
              <a:rPr sz="1650" b="1">
                <a:solidFill>
                  <a:srgbClr val="122033"/>
                </a:solidFill>
                <a:latin typeface="Bahnschrift SemiBold"/>
                <a:ea typeface="Bahnschrift SemiBold"/>
                <a:cs typeface="Bahnschrift SemiBold"/>
              </a:rPr>
              <a:t>Serverless Core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A86699F-BC25-4708-8F2D-D8AC63A12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152900"/>
            <a:ext cx="3048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F4D5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F4D5F"/>
                </a:solidFill>
                <a:latin typeface="Aptos"/>
                <a:ea typeface="Aptos"/>
                <a:cs typeface="Aptos"/>
              </a:rPr>
              <a:t>Short links, instant redirects, click analytics, and automatic cloud scalability.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7E2AD2B-E0D6-406B-8D99-83C8965AA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81600"/>
            <a:ext cx="33337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B6B2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70F863F-E070-4146-84F4-12D02FA4C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48275"/>
            <a:ext cx="3333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FB6B2"/>
                </a:solidFill>
                <a:latin typeface="Cascadia Code"/>
                <a:ea typeface="Cascadia Code"/>
                <a:cs typeface="Cascadia Code"/>
              </a:defRPr>
            </a:pPr>
            <a:r>
              <a:rPr sz="825" b="1">
                <a:solidFill>
                  <a:srgbClr val="1FB6B2"/>
                </a:solidFill>
                <a:latin typeface="Cascadia Code"/>
                <a:ea typeface="Cascadia Code"/>
                <a:cs typeface="Cascadia Code"/>
              </a:rPr>
              <a:t>Lambda + API Gateway + DynamoDB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B130C45-E2E2-4937-B845-32C718AC1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181600"/>
            <a:ext cx="26479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DE650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75B66F9-C4BC-44BB-B408-330E00E78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248275"/>
            <a:ext cx="2647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9DE650"/>
                </a:solidFill>
                <a:latin typeface="Cascadia Code"/>
                <a:ea typeface="Cascadia Code"/>
                <a:cs typeface="Cascadia Code"/>
              </a:defRPr>
            </a:pPr>
            <a:r>
              <a:rPr sz="825" b="1">
                <a:solidFill>
                  <a:srgbClr val="9DE650"/>
                </a:solidFill>
                <a:latin typeface="Cascadia Code"/>
                <a:ea typeface="Cascadia Code"/>
                <a:cs typeface="Cascadia Code"/>
              </a:rPr>
              <a:t>S3 + CloudFront frontend</a:t>
            </a:r>
          </a:p>
        </p:txBody>
      </p:sp>
    </p:spTree>
    <p:extLst>
      <p:ext uri="{BB962C8B-B14F-4D97-AF65-F5344CB8AC3E}">
        <p14:creationId xmlns:p14="http://schemas.microsoft.com/office/powerpoint/2010/main" val="53447529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72E28BB-AA6B-4FC3-AD8D-D320D7C3C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D7D12E-655C-4084-932F-5FF377EC6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B26039-1E4A-4487-B3A8-13BDD5088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42779B-A8BC-42E1-B88F-EBF779CD0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12395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74922F-C957-4AB6-A8E7-BB407FC2C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12395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3BB576-37CD-44D2-BEC6-D2DA7BEBF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12395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5EE10C-3504-47CA-93ED-A583EC2E9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12395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430A6D-99BE-4831-AEB0-C8AF54210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12395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C5D61E-9919-4625-9E8C-B8E88E545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12395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7C8F8F-36F4-4BB9-B33F-972B6CD1F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12395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B2D73D-DA9F-42A7-805B-53C5CD43D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12395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8602B3-D0E7-484E-BA48-1A03D4B58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12395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36E83B-3CBB-45DB-9476-92B0CCAAC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12395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92E33F-B869-4C3E-B1E5-3E2E7F0D3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112395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61B738-6E95-4AEB-A9EC-EC946F847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112395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CDC3A8-7445-4D07-B750-AC849B150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82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B57E2F-BDF5-43E3-A190-971F2CD9B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193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5A5279-808A-42A8-AA2F-318338086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003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D00CBF-FBFF-4D54-A60B-EAE6AB82E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5814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258A6D-8D58-44CA-87DE-68C8D46F1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3624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10CDB5-A8E5-4EDA-AE06-BC25F5D92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435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B806E1-D486-4C63-8DAD-C56A11109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245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AB1141-E631-498F-ABB6-1E3C10590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438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FB6B2"/>
                </a:solidFill>
                <a:latin typeface="Cascadia Code"/>
                <a:ea typeface="Cascadia Code"/>
                <a:cs typeface="Cascadia Code"/>
              </a:defRPr>
            </a:pPr>
            <a:r>
              <a:rPr sz="825" b="1">
                <a:solidFill>
                  <a:srgbClr val="1FB6B2"/>
                </a:solidFill>
                <a:latin typeface="Cascadia Code"/>
                <a:ea typeface="Cascadia Code"/>
                <a:cs typeface="Cascadia Code"/>
              </a:rPr>
              <a:t>INTRODUCTION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1BDF4E-0E6E-47A5-B3A6-838164D82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228600"/>
            <a:ext cx="7810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4F8C8"/>
          </a:solidFill>
          <a:ln xmlns:a="http://schemas.openxmlformats.org/drawingml/2006/main" w="9525">
            <a:solidFill>
              <a:srgbClr val="A7D86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55C6D3-25F7-49AB-9E07-338973C3B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295275"/>
            <a:ext cx="781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22033"/>
                </a:solidFill>
                <a:latin typeface="Cascadia Code"/>
                <a:ea typeface="Cascadia Code"/>
                <a:cs typeface="Cascadia Code"/>
              </a:defRPr>
            </a:pPr>
            <a:r>
              <a:rPr sz="900" b="1">
                <a:solidFill>
                  <a:srgbClr val="122033"/>
                </a:solidFill>
                <a:latin typeface="Cascadia Code"/>
                <a:ea typeface="Cascadia Code"/>
                <a:cs typeface="Cascadia Code"/>
              </a:rPr>
              <a:t>AWS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14FD3D0-B895-4AB1-A00E-303BACADE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7810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22033"/>
                </a:solidFill>
                <a:latin typeface="Bahnschrift SemiBold"/>
                <a:ea typeface="Bahnschrift SemiBold"/>
                <a:cs typeface="Bahnschrift SemiBold"/>
              </a:defRPr>
            </a:pPr>
            <a:r>
              <a:rPr sz="3000" b="1">
                <a:solidFill>
                  <a:srgbClr val="122033"/>
                </a:solidFill>
                <a:latin typeface="Bahnschrift SemiBold"/>
                <a:ea typeface="Bahnschrift SemiBold"/>
                <a:cs typeface="Bahnschrift SemiBold"/>
              </a:rPr>
              <a:t>What is a URL Shortener?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D7F2524-C32E-4FEC-80FF-6EA78D8C3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71700"/>
            <a:ext cx="7524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F4D5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3F4D5F"/>
                </a:solidFill>
                <a:latin typeface="Aptos"/>
                <a:ea typeface="Aptos"/>
                <a:cs typeface="Aptos"/>
              </a:rPr>
              <a:t>A URL shortener converts long web addresses into compact links that are easier to share and track.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FEF94D9-A259-423F-B1C5-EF1565A99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867025"/>
            <a:ext cx="41910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99A7B4">
              <a:alpha val="1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6996111-1228-4168-BB0B-BE7B34C35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00350"/>
            <a:ext cx="41910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4F8C8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08F896D-BBE9-4E5C-9BC4-CBC69F5F4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00350"/>
            <a:ext cx="57150" cy="1524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DE650"/>
          </a:solidFill>
          <a:ln xmlns:a="http://schemas.openxmlformats.org/drawingml/2006/main" w="0">
            <a:solidFill>
              <a:srgbClr val="9DE65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03539E9-AD0B-4A1F-AE7F-36CC38C3E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051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2033"/>
                </a:solidFill>
                <a:latin typeface="Bahnschrift SemiBold"/>
                <a:ea typeface="Bahnschrift SemiBold"/>
                <a:cs typeface="Bahnschrift SemiBold"/>
              </a:defRPr>
            </a:pPr>
            <a:r>
              <a:rPr sz="1500" b="1">
                <a:solidFill>
                  <a:srgbClr val="122033"/>
                </a:solidFill>
                <a:latin typeface="Bahnschrift SemiBold"/>
                <a:ea typeface="Bahnschrift SemiBold"/>
                <a:cs typeface="Bahnschrift SemiBold"/>
              </a:rPr>
              <a:t>Original URL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A81FD8F-4783-4469-8A7A-EB02EC7CE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81400"/>
            <a:ext cx="3333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https://amazon.in/products/mobile/iphone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3B78BD4-6380-46C7-93E0-64FA1B18C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548063"/>
            <a:ext cx="1066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B6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C2A91A4-2264-47ED-A292-122A78201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49567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FB6B2"/>
          </a:solidFill>
          <a:ln xmlns:a="http://schemas.openxmlformats.org/drawingml/2006/main" w="0">
            <a:solidFill>
              <a:srgbClr val="1FB6B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C4F9EF8-A4A6-49B1-9C45-AD05A3ACD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867025"/>
            <a:ext cx="37719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99A7B4">
              <a:alpha val="1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259D56E-191A-44F1-9876-2D3B44142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800350"/>
            <a:ext cx="37719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DDF1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E8293EC-8EBF-462F-93F8-A0E51CA0B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800350"/>
            <a:ext cx="57150" cy="1524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B6B2"/>
          </a:solidFill>
          <a:ln xmlns:a="http://schemas.openxmlformats.org/drawingml/2006/main" w="0">
            <a:solidFill>
              <a:srgbClr val="1FB6B2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DCEDA49-99CF-4724-A2D5-806E8913B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1051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2033"/>
                </a:solidFill>
                <a:latin typeface="Bahnschrift SemiBold"/>
                <a:ea typeface="Bahnschrift SemiBold"/>
                <a:cs typeface="Bahnschrift SemiBold"/>
              </a:defRPr>
            </a:pPr>
            <a:r>
              <a:rPr sz="1500" b="1">
                <a:solidFill>
                  <a:srgbClr val="122033"/>
                </a:solidFill>
                <a:latin typeface="Bahnschrift SemiBold"/>
                <a:ea typeface="Bahnschrift SemiBold"/>
                <a:cs typeface="Bahnschrift SemiBold"/>
              </a:rPr>
              <a:t>Short URL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D3DF64F-FA6E-4AA8-BEF6-57228FD7D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581400"/>
            <a:ext cx="2571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22033"/>
                </a:solidFill>
                <a:latin typeface="Aptos"/>
                <a:ea typeface="Aptos"/>
                <a:cs typeface="Aptos"/>
              </a:rPr>
              <a:t>https://short.ly/aX92k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7a6f570fb34836">
            <a:extLst>
              <a:ext uri="{96DAC541-7B7A-43D3-8B79-37D633B846F1}">
                <asvg:svgBlip xmlns:asvg="http://schemas.microsoft.com/office/drawing/2016/SVG/main" r:embed="Rf6777c988fe848b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658350" y="3276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A0217CE-4461-451C-98F7-2301AEBA6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4772025"/>
            <a:ext cx="72771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99A7B4">
              <a:alpha val="1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96FC598-1DBD-4D01-98B7-16FC26519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705350"/>
            <a:ext cx="72771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92F0127-7000-44AB-A703-4E6DB7023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705350"/>
            <a:ext cx="57150" cy="1447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6C85F"/>
          </a:solidFill>
          <a:ln xmlns:a="http://schemas.openxmlformats.org/drawingml/2006/main" w="0">
            <a:solidFill>
              <a:srgbClr val="F6C85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E434387-8ACB-4C90-88D9-7EF51EB56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257800"/>
            <a:ext cx="16192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6C85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8FFD641-A1B6-49F2-9D63-FFA65A211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324475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6C85F"/>
                </a:solidFill>
                <a:latin typeface="Cascadia Code"/>
                <a:ea typeface="Cascadia Code"/>
                <a:cs typeface="Cascadia Code"/>
              </a:defRPr>
            </a:pPr>
            <a:r>
              <a:rPr sz="825" b="1">
                <a:solidFill>
                  <a:srgbClr val="F6C85F"/>
                </a:solidFill>
                <a:latin typeface="Cascadia Code"/>
                <a:ea typeface="Cascadia Code"/>
                <a:cs typeface="Cascadia Code"/>
              </a:rPr>
              <a:t>MAIN FEATURES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876830C-E422-4CC6-9A52-B1AF36BB9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9911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B6B2"/>
          </a:solidFill>
          <a:ln xmlns:a="http://schemas.openxmlformats.org/drawingml/2006/main" w="0">
            <a:solidFill>
              <a:srgbClr val="1FB6B2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0F5ACD5-37BE-4D41-BBB8-09CCC48B7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914900"/>
            <a:ext cx="3790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Short URL generation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589B0C0-8A98-4087-BE5D-2E5466700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2768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B6B2"/>
          </a:solidFill>
          <a:ln xmlns:a="http://schemas.openxmlformats.org/drawingml/2006/main" w="0">
            <a:solidFill>
              <a:srgbClr val="1FB6B2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DF7B546-88D0-4888-A881-E51F2BF41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200650"/>
            <a:ext cx="3790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Fast redirection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5CBE723-88F9-43BB-9E6A-2DDC669AD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5626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B6B2"/>
          </a:solidFill>
          <a:ln xmlns:a="http://schemas.openxmlformats.org/drawingml/2006/main" w="0">
            <a:solidFill>
              <a:srgbClr val="1FB6B2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3F513F2-A149-4105-B243-D44EDAEA6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486400"/>
            <a:ext cx="3790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Click analytics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97B963B-58C4-4E89-A124-713CBF03B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8483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B6B2"/>
          </a:solidFill>
          <a:ln xmlns:a="http://schemas.openxmlformats.org/drawingml/2006/main" w="0">
            <a:solidFill>
              <a:srgbClr val="1FB6B2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5034EBC-3CEC-4BA2-BE63-35BB873B6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772150"/>
            <a:ext cx="3790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Cloud deployment</a:t>
            </a:r>
          </a:p>
        </p:txBody>
      </p:sp>
    </p:spTree>
    <p:extLst>
      <p:ext uri="{BB962C8B-B14F-4D97-AF65-F5344CB8AC3E}">
        <p14:creationId xmlns:p14="http://schemas.microsoft.com/office/powerpoint/2010/main" val="6086377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996B70C-FA14-4433-8B6D-3F614D631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B861FE-06EA-482F-B5AD-B35CC472C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B66F9A-FC76-4BD1-81A8-21D590525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6ED2C7-4B6D-413D-BEBC-0337C749C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12395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1E94BF-A241-4832-B857-FCC8E6887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12395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F0B33D-0A4F-40B2-90E6-BAAA1AA0F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12395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A05B6C-BA33-4DF2-AFE8-411C07B88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12395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E0C6C0-4F0D-4A22-A5CC-B541B66ED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12395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CA14B2-B9BA-4DF2-A0C5-CCD7A812B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12395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AAAD20-F5A5-47FD-AE41-B1B64F17C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12395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FF633B-7CE5-41FB-94D1-E8B7B683D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12395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CBD94C-F0BE-458B-9654-D3B93F481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12395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EB8F78-5A56-46F6-9D0E-671CC6D5F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12395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1F825F-70BC-4D90-B8B4-34CF85179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112395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951560-8530-40D2-9FC5-1D919F9A5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112395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E25BA3-3BDC-4376-B28E-E4F094D47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82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D69113-4A59-4471-BD86-CF1169C61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193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BD6023-5234-42DC-B09E-A391D067B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003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6BE29A-5F70-4269-9F64-B6A5F5691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5814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7ECC76-F951-441F-A215-9337E4841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3624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F30444-563F-475F-8996-2E047242A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435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DEC5DA-6C18-4B98-B1E3-65FBC3EA4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245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E4B245-4B99-47FE-82F9-9D12D3729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438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FB6B2"/>
                </a:solidFill>
                <a:latin typeface="Cascadia Code"/>
                <a:ea typeface="Cascadia Code"/>
                <a:cs typeface="Cascadia Code"/>
              </a:defRPr>
            </a:pPr>
            <a:r>
              <a:rPr sz="825" b="1">
                <a:solidFill>
                  <a:srgbClr val="1FB6B2"/>
                </a:solidFill>
                <a:latin typeface="Cascadia Code"/>
                <a:ea typeface="Cascadia Code"/>
                <a:cs typeface="Cascadia Code"/>
              </a:rPr>
              <a:t>PROJECT OBJECTIVE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AD3F04-00EB-4633-B35C-177D35738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228600"/>
            <a:ext cx="7810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4F8C8"/>
          </a:solidFill>
          <a:ln xmlns:a="http://schemas.openxmlformats.org/drawingml/2006/main" w="9525">
            <a:solidFill>
              <a:srgbClr val="A7D86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4F3FCA-E838-4E5F-9E7E-782C9BF09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295275"/>
            <a:ext cx="781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22033"/>
                </a:solidFill>
                <a:latin typeface="Cascadia Code"/>
                <a:ea typeface="Cascadia Code"/>
                <a:cs typeface="Cascadia Code"/>
              </a:defRPr>
            </a:pPr>
            <a:r>
              <a:rPr sz="900" b="1">
                <a:solidFill>
                  <a:srgbClr val="122033"/>
                </a:solidFill>
                <a:latin typeface="Cascadia Code"/>
                <a:ea typeface="Cascadia Code"/>
                <a:cs typeface="Cascadia Code"/>
              </a:rPr>
              <a:t>AWS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18CD27C-29CE-4FC7-8BC0-198DD72A8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7810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22033"/>
                </a:solidFill>
                <a:latin typeface="Bahnschrift SemiBold"/>
                <a:ea typeface="Bahnschrift SemiBold"/>
                <a:cs typeface="Bahnschrift SemiBold"/>
              </a:defRPr>
            </a:pPr>
            <a:r>
              <a:rPr sz="3000" b="1">
                <a:solidFill>
                  <a:srgbClr val="122033"/>
                </a:solidFill>
                <a:latin typeface="Bahnschrift SemiBold"/>
                <a:ea typeface="Bahnschrift SemiBold"/>
                <a:cs typeface="Bahnschrift SemiBold"/>
              </a:rPr>
              <a:t>Objective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A29283C-693B-487A-A170-C04BB3039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71700"/>
            <a:ext cx="7524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F4D5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3F4D5F"/>
                </a:solidFill>
                <a:latin typeface="Aptos"/>
                <a:ea typeface="Aptos"/>
                <a:cs typeface="Aptos"/>
              </a:rPr>
              <a:t>Build a scalable cloud-based URL shortener using AWS serverless services.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55EED46-2B56-4585-841D-79BBF5D13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847975"/>
            <a:ext cx="4514850" cy="232410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99A7B4">
              <a:alpha val="1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E44BC80-0EB3-4F8D-9F23-54676B4DE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81300"/>
            <a:ext cx="4514850" cy="232410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DDF1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880D27B-1D26-4963-8960-D8F24BFC6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81300"/>
            <a:ext cx="57150" cy="2324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B6B2"/>
          </a:solidFill>
          <a:ln xmlns:a="http://schemas.openxmlformats.org/drawingml/2006/main" w="0">
            <a:solidFill>
              <a:srgbClr val="1FB6B2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daf557bcc94572">
            <a:extLst>
              <a:ext uri="{96DAC541-7B7A-43D3-8B79-37D633B846F1}">
                <asvg:svgBlip xmlns:asvg="http://schemas.microsoft.com/office/drawing/2016/SVG/main" r:embed="Rcf54da7a011a4c9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47750" y="310515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EE8F3F2-7791-4917-A5D5-7075D5E3F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1813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2033"/>
                </a:solidFill>
                <a:latin typeface="Bahnschrift SemiBold"/>
                <a:ea typeface="Bahnschrift SemiBold"/>
                <a:cs typeface="Bahnschrift SemiBold"/>
              </a:defRPr>
            </a:pPr>
            <a:r>
              <a:rPr sz="1800" b="1">
                <a:solidFill>
                  <a:srgbClr val="122033"/>
                </a:solidFill>
                <a:latin typeface="Bahnschrift SemiBold"/>
                <a:ea typeface="Bahnschrift SemiBold"/>
                <a:cs typeface="Bahnschrift SemiBold"/>
              </a:rPr>
              <a:t>Application Goal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AD157F8-B72D-41B7-B9F0-B25B73C33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10000"/>
            <a:ext cx="3429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F4D5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3F4D5F"/>
                </a:solidFill>
                <a:latin typeface="Aptos"/>
                <a:ea typeface="Aptos"/>
                <a:cs typeface="Aptos"/>
              </a:rPr>
              <a:t>Use cloud-native architecture to reduce long URLs, process redirects, and track user click activity.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CE46D50-4457-49BB-ADA5-2014A5DAA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790825"/>
            <a:ext cx="2190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99A7B4">
              <a:alpha val="1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3BC5DF4-2F6F-4EB6-9CB4-A36021B2F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724150"/>
            <a:ext cx="2190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DE326FC-2AFB-4656-8780-9B2DB9E4F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724150"/>
            <a:ext cx="57150" cy="1104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DE650"/>
          </a:solidFill>
          <a:ln xmlns:a="http://schemas.openxmlformats.org/drawingml/2006/main" w="0">
            <a:solidFill>
              <a:srgbClr val="9DE65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DEABF82-03AE-4541-AE46-FA8F55333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14650"/>
            <a:ext cx="1733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9DE650"/>
                </a:solidFill>
                <a:latin typeface="Bahnschrift SemiBold"/>
                <a:ea typeface="Bahnschrift SemiBold"/>
                <a:cs typeface="Bahnschrift SemiBold"/>
              </a:defRPr>
            </a:pPr>
            <a:r>
              <a:rPr sz="2025" b="1">
                <a:solidFill>
                  <a:srgbClr val="9DE650"/>
                </a:solidFill>
                <a:latin typeface="Bahnschrift SemiBold"/>
                <a:ea typeface="Bahnschrift SemiBold"/>
                <a:cs typeface="Bahnschrift SemiBold"/>
              </a:rPr>
              <a:t>0 servers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E388078-7BA3-4A77-BEC7-3E7DFEB2D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14700"/>
            <a:ext cx="1733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F4D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F4D5F"/>
                </a:solidFill>
                <a:latin typeface="Aptos"/>
                <a:ea typeface="Aptos"/>
                <a:cs typeface="Aptos"/>
              </a:rPr>
              <a:t>Event-driven Lambda backend.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2305319-0602-4FBE-937A-9AAD3A7D4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790825"/>
            <a:ext cx="2190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99A7B4">
              <a:alpha val="1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BE10254-B524-4D58-8794-8A5BC5F35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724150"/>
            <a:ext cx="2190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C329F8C-3528-48AD-9EF7-407498895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724150"/>
            <a:ext cx="57150" cy="1104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B6B2"/>
          </a:solidFill>
          <a:ln xmlns:a="http://schemas.openxmlformats.org/drawingml/2006/main" w="0">
            <a:solidFill>
              <a:srgbClr val="1FB6B2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399C736-0FDD-4FD1-A7AE-A2D4B21E4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914650"/>
            <a:ext cx="1733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FB6B2"/>
                </a:solidFill>
                <a:latin typeface="Bahnschrift SemiBold"/>
                <a:ea typeface="Bahnschrift SemiBold"/>
                <a:cs typeface="Bahnschrift SemiBold"/>
              </a:defRPr>
            </a:pPr>
            <a:r>
              <a:rPr sz="2025" b="1">
                <a:solidFill>
                  <a:srgbClr val="1FB6B2"/>
                </a:solidFill>
                <a:latin typeface="Bahnschrift SemiBold"/>
                <a:ea typeface="Bahnschrift SemiBold"/>
                <a:cs typeface="Bahnschrift SemiBold"/>
              </a:rPr>
              <a:t>Auto scale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F14D205-E0A1-4691-B3B7-23E78C701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314700"/>
            <a:ext cx="1733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F4D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F4D5F"/>
                </a:solidFill>
                <a:latin typeface="Aptos"/>
                <a:ea typeface="Aptos"/>
                <a:cs typeface="Aptos"/>
              </a:rPr>
              <a:t>Capacity grows with request traffic.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CCFC398-B049-4B31-9124-BE2E83C69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4162425"/>
            <a:ext cx="468630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99A7B4">
              <a:alpha val="1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157AD55-B594-4D6F-AAA8-4C460389D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095750"/>
            <a:ext cx="468630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1C84AED-1DFA-4F77-902D-4B8DB2C1E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095750"/>
            <a:ext cx="57150" cy="1752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6C85F"/>
          </a:solidFill>
          <a:ln xmlns:a="http://schemas.openxmlformats.org/drawingml/2006/main" w="0">
            <a:solidFill>
              <a:srgbClr val="F6C85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6E31C84-DD33-4BBF-AE1A-82C508FB5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815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2033"/>
                </a:solidFill>
                <a:latin typeface="Bahnschrift SemiBold"/>
                <a:ea typeface="Bahnschrift SemiBold"/>
                <a:cs typeface="Bahnschrift SemiBold"/>
              </a:defRPr>
            </a:pPr>
            <a:r>
              <a:rPr sz="1650" b="1">
                <a:solidFill>
                  <a:srgbClr val="122033"/>
                </a:solidFill>
                <a:latin typeface="Bahnschrift SemiBold"/>
                <a:ea typeface="Bahnschrift SemiBold"/>
                <a:cs typeface="Bahnschrift SemiBold"/>
              </a:rPr>
              <a:t>Goals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E2D2C8D-2F1D-4445-A510-973EBE929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577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DE650"/>
          </a:solidFill>
          <a:ln xmlns:a="http://schemas.openxmlformats.org/drawingml/2006/main" w="0">
            <a:solidFill>
              <a:srgbClr val="9DE650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A4855F4-5F50-4A46-95C5-6176F2EB0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781550"/>
            <a:ext cx="3505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Reduce long URLs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00C6F47-C78D-4A83-864C-F03BA5E6B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625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DE650"/>
          </a:solidFill>
          <a:ln xmlns:a="http://schemas.openxmlformats.org/drawingml/2006/main" w="0">
            <a:solidFill>
              <a:srgbClr val="9DE650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A885E96-7F5D-4380-B448-665A99C65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86350"/>
            <a:ext cx="3505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Track user clicks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A9ED9BF-055D-41E6-9CFF-63EE072EB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4673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DE650"/>
          </a:solidFill>
          <a:ln xmlns:a="http://schemas.openxmlformats.org/drawingml/2006/main" w="0">
            <a:solidFill>
              <a:srgbClr val="9DE650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7B23BCA-DE55-4DDC-B696-78E918A4E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391150"/>
            <a:ext cx="3505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Minimize server management</a:t>
            </a:r>
          </a:p>
        </p:txBody>
      </p:sp>
    </p:spTree>
    <p:extLst>
      <p:ext uri="{BB962C8B-B14F-4D97-AF65-F5344CB8AC3E}">
        <p14:creationId xmlns:p14="http://schemas.microsoft.com/office/powerpoint/2010/main" val="208342599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44A7116-F607-4BED-912D-7A154C512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5E82CA-852D-4E3E-8EEC-8734243E7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B50B63-923D-42B7-A9AD-8970E5D59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09DFC8-51FD-43DE-BFB2-CBA052A5C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12395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3DC926-DD89-4845-B076-1CDD94ED5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12395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EA723B-F200-4222-8921-0BBC479F6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12395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2331F5-ADCE-4959-9B06-0A77B155A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12395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B7E5D7-F6D2-4035-B448-BAEB11E08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12395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8B9650-51F1-43EC-95BB-EBAD583A8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12395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DF5E4D-3654-4F12-947C-AD5C772FB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12395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626F62-F1EF-4DCF-ABF6-02B1628E9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12395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2FC040-EC0C-44A7-A1C1-AA7CF401C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12395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E661D1-5646-43FC-9D7B-B6F1476B6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12395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B5EE21-2A2E-493E-8491-580EF728A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112395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19236F-BEE7-4242-B83B-571B87F7A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112395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78344A-BA82-4AEC-85F4-C8251144A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82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275BFC-33C7-492A-B664-6D3E95DA2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193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F47522-37C2-4B12-A20F-CE5971FC6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003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C67416-A218-421C-863A-76A389790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5814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550E76-6FFD-4963-95FC-258483C3F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3624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8FFE77-16CD-4EE8-9D5E-C433F69B7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435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9DFCDB-364E-43D5-A719-0E7ACCE4D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245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E8312B-968C-4919-A23E-638120FAB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438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FB6B2"/>
                </a:solidFill>
                <a:latin typeface="Cascadia Code"/>
                <a:ea typeface="Cascadia Code"/>
                <a:cs typeface="Cascadia Code"/>
              </a:defRPr>
            </a:pPr>
            <a:r>
              <a:rPr sz="825" b="1">
                <a:solidFill>
                  <a:srgbClr val="1FB6B2"/>
                </a:solidFill>
                <a:latin typeface="Cascadia Code"/>
                <a:ea typeface="Cascadia Code"/>
                <a:cs typeface="Cascadia Code"/>
              </a:rPr>
              <a:t>AWS SERVICES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EEB66B-E8CD-443E-B70C-6B6945AFB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228600"/>
            <a:ext cx="7810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4F8C8"/>
          </a:solidFill>
          <a:ln xmlns:a="http://schemas.openxmlformats.org/drawingml/2006/main" w="9525">
            <a:solidFill>
              <a:srgbClr val="A7D86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45ECA6-778E-442D-AFF9-2973F7283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295275"/>
            <a:ext cx="781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22033"/>
                </a:solidFill>
                <a:latin typeface="Cascadia Code"/>
                <a:ea typeface="Cascadia Code"/>
                <a:cs typeface="Cascadia Code"/>
              </a:defRPr>
            </a:pPr>
            <a:r>
              <a:rPr sz="900" b="1">
                <a:solidFill>
                  <a:srgbClr val="122033"/>
                </a:solidFill>
                <a:latin typeface="Cascadia Code"/>
                <a:ea typeface="Cascadia Code"/>
                <a:cs typeface="Cascadia Code"/>
              </a:rPr>
              <a:t>AWS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D76A08-4ACF-4694-AA93-D3B9ABF48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7810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22033"/>
                </a:solidFill>
                <a:latin typeface="Bahnschrift SemiBold"/>
                <a:ea typeface="Bahnschrift SemiBold"/>
                <a:cs typeface="Bahnschrift SemiBold"/>
              </a:defRPr>
            </a:pPr>
            <a:r>
              <a:rPr sz="3000" b="1">
                <a:solidFill>
                  <a:srgbClr val="122033"/>
                </a:solidFill>
                <a:latin typeface="Bahnschrift SemiBold"/>
                <a:ea typeface="Bahnschrift SemiBold"/>
                <a:cs typeface="Bahnschrift SemiBold"/>
              </a:rPr>
              <a:t>AWS Services Used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5821166-250C-45A0-B3B7-7C156B364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71700"/>
            <a:ext cx="7524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F4D5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3F4D5F"/>
                </a:solidFill>
                <a:latin typeface="Aptos"/>
                <a:ea typeface="Aptos"/>
                <a:cs typeface="Aptos"/>
              </a:rPr>
              <a:t>Each service handles a focused part of the serverless URL shortener workflow.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DC496F9-F639-4F06-BB8C-D90015F34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828925"/>
            <a:ext cx="2952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99A7B4">
              <a:alpha val="1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5B25BD7-8FCD-459F-9755-1CCF3E05E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2952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DDF1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16DDEED-7865-49FF-A309-6AC38B1E2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57150" cy="819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B6B2"/>
          </a:solidFill>
          <a:ln xmlns:a="http://schemas.openxmlformats.org/drawingml/2006/main" w="0">
            <a:solidFill>
              <a:srgbClr val="1FB6B2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a34fd5d2c241df">
            <a:extLst>
              <a:ext uri="{96DAC541-7B7A-43D3-8B79-37D633B846F1}">
                <asvg:svgBlip xmlns:asvg="http://schemas.microsoft.com/office/drawing/2016/SVG/main" r:embed="Reef5375a86ce4d8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14400" y="300990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2DD865C-C888-4517-A014-034B74CED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62275"/>
            <a:ext cx="1943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2033"/>
                </a:solidFill>
                <a:latin typeface="Bahnschrift SemiBold"/>
                <a:ea typeface="Bahnschrift SemiBold"/>
                <a:cs typeface="Bahnschrift SemiBold"/>
              </a:defRPr>
            </a:pPr>
            <a:r>
              <a:rPr sz="1350" b="1">
                <a:solidFill>
                  <a:srgbClr val="122033"/>
                </a:solidFill>
                <a:latin typeface="Bahnschrift SemiBold"/>
                <a:ea typeface="Bahnschrift SemiBold"/>
                <a:cs typeface="Bahnschrift SemiBold"/>
              </a:rPr>
              <a:t>AWS Lambda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B6C2D90-866A-4B89-9FE1-890B9E880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238500"/>
            <a:ext cx="2019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D5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F4D5F"/>
                </a:solidFill>
                <a:latin typeface="Aptos"/>
                <a:ea typeface="Aptos"/>
                <a:cs typeface="Aptos"/>
              </a:rPr>
              <a:t>Backend logic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C2DB699-68CC-41EE-958A-AC723270B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2828925"/>
            <a:ext cx="2952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99A7B4">
              <a:alpha val="1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00624EE-BF0F-4515-A44B-52E1192E6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762250"/>
            <a:ext cx="2952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4F8C8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0947288-B38A-44FA-95B3-426A8578F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762250"/>
            <a:ext cx="57150" cy="819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DE650"/>
          </a:solidFill>
          <a:ln xmlns:a="http://schemas.openxmlformats.org/drawingml/2006/main" w="0">
            <a:solidFill>
              <a:srgbClr val="9DE650"/>
            </a:solidFill>
            <a:prstDash val="solid"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cb81af2af84f48">
            <a:extLst>
              <a:ext uri="{96DAC541-7B7A-43D3-8B79-37D633B846F1}">
                <asvg:svgBlip xmlns:asvg="http://schemas.microsoft.com/office/drawing/2016/SVG/main" r:embed="R83731fb17f754bf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191000" y="300990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8287AD3-734D-4CB8-A10E-6661AD922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962275"/>
            <a:ext cx="1943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2033"/>
                </a:solidFill>
                <a:latin typeface="Bahnschrift SemiBold"/>
                <a:ea typeface="Bahnschrift SemiBold"/>
                <a:cs typeface="Bahnschrift SemiBold"/>
              </a:defRPr>
            </a:pPr>
            <a:r>
              <a:rPr sz="1350" b="1">
                <a:solidFill>
                  <a:srgbClr val="122033"/>
                </a:solidFill>
                <a:latin typeface="Bahnschrift SemiBold"/>
                <a:ea typeface="Bahnschrift SemiBold"/>
                <a:cs typeface="Bahnschrift SemiBold"/>
              </a:rPr>
              <a:t>API Gateway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11D6A4A-3C29-4B99-9962-C4DA9486F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238500"/>
            <a:ext cx="2019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D5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F4D5F"/>
                </a:solidFill>
                <a:latin typeface="Aptos"/>
                <a:ea typeface="Aptos"/>
                <a:cs typeface="Aptos"/>
              </a:rPr>
              <a:t>API communication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70E17FD-862F-481A-84C6-D618BC79D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828925"/>
            <a:ext cx="2952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99A7B4">
              <a:alpha val="1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F10BAE3-0486-425E-8ADF-47C58B887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62250"/>
            <a:ext cx="2952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DDF1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4C52655-36A5-4B74-AD4A-102E1948E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62250"/>
            <a:ext cx="57150" cy="819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B6B2"/>
          </a:solidFill>
          <a:ln xmlns:a="http://schemas.openxmlformats.org/drawingml/2006/main" w="0">
            <a:solidFill>
              <a:srgbClr val="1FB6B2"/>
            </a:solidFill>
            <a:prstDash val="solid"/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cb95f4f6204e18">
            <a:extLst>
              <a:ext uri="{96DAC541-7B7A-43D3-8B79-37D633B846F1}">
                <asvg:svgBlip xmlns:asvg="http://schemas.microsoft.com/office/drawing/2016/SVG/main" r:embed="Rbb4349fa486e4fa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467600" y="300990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377B2DF-D099-48FC-AB6A-3BDC9F792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962275"/>
            <a:ext cx="1943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2033"/>
                </a:solidFill>
                <a:latin typeface="Bahnschrift SemiBold"/>
                <a:ea typeface="Bahnschrift SemiBold"/>
                <a:cs typeface="Bahnschrift SemiBold"/>
              </a:defRPr>
            </a:pPr>
            <a:r>
              <a:rPr sz="1350" b="1">
                <a:solidFill>
                  <a:srgbClr val="122033"/>
                </a:solidFill>
                <a:latin typeface="Bahnschrift SemiBold"/>
                <a:ea typeface="Bahnschrift SemiBold"/>
                <a:cs typeface="Bahnschrift SemiBold"/>
              </a:rPr>
              <a:t>DynamoDB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7E335AC-9032-4F8F-8181-5F8D157FD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238500"/>
            <a:ext cx="2019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D5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F4D5F"/>
                </a:solidFill>
                <a:latin typeface="Aptos"/>
                <a:ea typeface="Aptos"/>
                <a:cs typeface="Aptos"/>
              </a:rPr>
              <a:t>Store URLs and analytics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547D9A6-9138-4091-9755-C7BFFEBCB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876675"/>
            <a:ext cx="2952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99A7B4">
              <a:alpha val="1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2E5ADA3-4EF7-46E1-B035-53D1966D8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2952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4F8C8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F4FA97B-3E52-4C71-ABF1-59EB4A303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57150" cy="819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DE650"/>
          </a:solidFill>
          <a:ln xmlns:a="http://schemas.openxmlformats.org/drawingml/2006/main" w="0">
            <a:solidFill>
              <a:srgbClr val="9DE650"/>
            </a:solidFill>
            <a:prstDash val="solid"/>
          </a:ln>
        </p:spPr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a391c4a9a44740">
            <a:extLst>
              <a:ext uri="{96DAC541-7B7A-43D3-8B79-37D633B846F1}">
                <asvg:svgBlip xmlns:asvg="http://schemas.microsoft.com/office/drawing/2016/SVG/main" r:embed="R143978dc56ad4ce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14400" y="40576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036F3D0-0013-4DAD-B018-3E4942580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010025"/>
            <a:ext cx="1943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2033"/>
                </a:solidFill>
                <a:latin typeface="Bahnschrift SemiBold"/>
                <a:ea typeface="Bahnschrift SemiBold"/>
                <a:cs typeface="Bahnschrift SemiBold"/>
              </a:defRPr>
            </a:pPr>
            <a:r>
              <a:rPr sz="1350" b="1">
                <a:solidFill>
                  <a:srgbClr val="122033"/>
                </a:solidFill>
                <a:latin typeface="Bahnschrift SemiBold"/>
                <a:ea typeface="Bahnschrift SemiBold"/>
                <a:cs typeface="Bahnschrift SemiBold"/>
              </a:rPr>
              <a:t>Amazon S3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45BBD93-8B44-49D8-AB6C-AAF571E6C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286250"/>
            <a:ext cx="2019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D5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F4D5F"/>
                </a:solidFill>
                <a:latin typeface="Aptos"/>
                <a:ea typeface="Aptos"/>
                <a:cs typeface="Aptos"/>
              </a:rPr>
              <a:t>Frontend hosting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646BB04-7881-4134-A536-87F420D72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3876675"/>
            <a:ext cx="2952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99A7B4">
              <a:alpha val="1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9B7EA01-00F8-4A23-BBEF-4143525F0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810000"/>
            <a:ext cx="2952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DDF1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EE432E9-5F3A-4A6A-84D5-8F01F37B9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810000"/>
            <a:ext cx="57150" cy="819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B6B2"/>
          </a:solidFill>
          <a:ln xmlns:a="http://schemas.openxmlformats.org/drawingml/2006/main" w="0">
            <a:solidFill>
              <a:srgbClr val="1FB6B2"/>
            </a:solidFill>
            <a:prstDash val="solid"/>
          </a:ln>
        </p:spPr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0c692f9d954e8a">
            <a:extLst>
              <a:ext uri="{96DAC541-7B7A-43D3-8B79-37D633B846F1}">
                <asvg:svgBlip xmlns:asvg="http://schemas.microsoft.com/office/drawing/2016/SVG/main" r:embed="Rd6115add2f3c471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191000" y="40576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69C8A6E-6407-410B-A1BF-F219758E2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010025"/>
            <a:ext cx="1943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2033"/>
                </a:solidFill>
                <a:latin typeface="Bahnschrift SemiBold"/>
                <a:ea typeface="Bahnschrift SemiBold"/>
                <a:cs typeface="Bahnschrift SemiBold"/>
              </a:defRPr>
            </a:pPr>
            <a:r>
              <a:rPr sz="1350" b="1">
                <a:solidFill>
                  <a:srgbClr val="122033"/>
                </a:solidFill>
                <a:latin typeface="Bahnschrift SemiBold"/>
                <a:ea typeface="Bahnschrift SemiBold"/>
                <a:cs typeface="Bahnschrift SemiBold"/>
              </a:rPr>
              <a:t>CloudFront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CBE8855-477D-46FF-B200-3DFCB9E8C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286250"/>
            <a:ext cx="2019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D5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F4D5F"/>
                </a:solidFill>
                <a:latin typeface="Aptos"/>
                <a:ea typeface="Aptos"/>
                <a:cs typeface="Aptos"/>
              </a:rPr>
              <a:t>CDN and fast delivery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9F622BA-6996-490F-8195-BDC0C429C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876675"/>
            <a:ext cx="2952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99A7B4">
              <a:alpha val="1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CC6003A-C993-46A8-BBB1-CE1964193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10000"/>
            <a:ext cx="2952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4F8C8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EE2E93A-FE1A-458C-AF6B-27E0DC488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10000"/>
            <a:ext cx="57150" cy="819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DE650"/>
          </a:solidFill>
          <a:ln xmlns:a="http://schemas.openxmlformats.org/drawingml/2006/main" w="0">
            <a:solidFill>
              <a:srgbClr val="9DE650"/>
            </a:solidFill>
            <a:prstDash val="solid"/>
          </a:ln>
        </p:spPr>
      </p:sp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91b35a75c34dcf">
            <a:extLst>
              <a:ext uri="{96DAC541-7B7A-43D3-8B79-37D633B846F1}">
                <asvg:svgBlip xmlns:asvg="http://schemas.microsoft.com/office/drawing/2016/SVG/main" r:embed="R8e92b65e4bb2491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467600" y="40576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702D914-C3D6-4EFE-B947-634F61E1A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010025"/>
            <a:ext cx="1943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2033"/>
                </a:solidFill>
                <a:latin typeface="Bahnschrift SemiBold"/>
                <a:ea typeface="Bahnschrift SemiBold"/>
                <a:cs typeface="Bahnschrift SemiBold"/>
              </a:defRPr>
            </a:pPr>
            <a:r>
              <a:rPr sz="1350" b="1">
                <a:solidFill>
                  <a:srgbClr val="122033"/>
                </a:solidFill>
                <a:latin typeface="Bahnschrift SemiBold"/>
                <a:ea typeface="Bahnschrift SemiBold"/>
                <a:cs typeface="Bahnschrift SemiBold"/>
              </a:rPr>
              <a:t>CloudWatch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6BED615-ACE0-4CA0-8ADC-83EAB2EE9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286250"/>
            <a:ext cx="2019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D5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F4D5F"/>
                </a:solidFill>
                <a:latin typeface="Aptos"/>
                <a:ea typeface="Aptos"/>
                <a:cs typeface="Aptos"/>
              </a:rPr>
              <a:t>Monitoring and logs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98864B6-0DDC-4653-AC30-F5CA6C01B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924425"/>
            <a:ext cx="2952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99A7B4">
              <a:alpha val="1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26646F5-A5A1-430C-BE95-32C2AB8F0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2952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DDF1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A640D73-4C54-4C17-827A-2AAA56E0E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57150" cy="819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B6B2"/>
          </a:solidFill>
          <a:ln xmlns:a="http://schemas.openxmlformats.org/drawingml/2006/main" w="0">
            <a:solidFill>
              <a:srgbClr val="1FB6B2"/>
            </a:solidFill>
            <a:prstDash val="solid"/>
          </a:ln>
        </p:spPr>
      </p:sp>
      <p:pic>
        <p:nvPicPr>
          <p:cNvPr id="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ba0b89184548d6">
            <a:extLst>
              <a:ext uri="{96DAC541-7B7A-43D3-8B79-37D633B846F1}">
                <asvg:svgBlip xmlns:asvg="http://schemas.microsoft.com/office/drawing/2016/SVG/main" r:embed="Raeab03dcfb344dd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14400" y="510540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30F5B20-1995-46BA-8751-67A5D55AF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057775"/>
            <a:ext cx="1943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2033"/>
                </a:solidFill>
                <a:latin typeface="Bahnschrift SemiBold"/>
                <a:ea typeface="Bahnschrift SemiBold"/>
                <a:cs typeface="Bahnschrift SemiBold"/>
              </a:defRPr>
            </a:pPr>
            <a:r>
              <a:rPr sz="1350" b="1">
                <a:solidFill>
                  <a:srgbClr val="122033"/>
                </a:solidFill>
                <a:latin typeface="Bahnschrift SemiBold"/>
                <a:ea typeface="Bahnschrift SemiBold"/>
                <a:cs typeface="Bahnschrift SemiBold"/>
              </a:rPr>
              <a:t>IAM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049FA73-EEB1-44E0-B382-60BF78C63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334000"/>
            <a:ext cx="2019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D5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F4D5F"/>
                </a:solidFill>
                <a:latin typeface="Aptos"/>
                <a:ea typeface="Aptos"/>
                <a:cs typeface="Aptos"/>
              </a:rPr>
              <a:t>Security and permissions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DDA0D7A9-2FF2-407F-BE43-FC553E12A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829175"/>
            <a:ext cx="29908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99A7B4">
              <a:alpha val="1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115C9CF-3493-4C5D-BA8C-1EDB9F514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762500"/>
            <a:ext cx="29908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FDD0C83-0DCD-4F36-9A36-575579B33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762500"/>
            <a:ext cx="57150" cy="1009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6C85F"/>
          </a:solidFill>
          <a:ln xmlns:a="http://schemas.openxmlformats.org/drawingml/2006/main" w="0">
            <a:solidFill>
              <a:srgbClr val="F6C85F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44DD392-2D3A-40BC-A811-BE345079E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0101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2033"/>
                </a:solidFill>
                <a:latin typeface="Bahnschrift SemiBold"/>
                <a:ea typeface="Bahnschrift SemiBold"/>
                <a:cs typeface="Bahnschrift SemiBold"/>
              </a:defRPr>
            </a:pPr>
            <a:r>
              <a:rPr sz="1350" b="1">
                <a:solidFill>
                  <a:srgbClr val="122033"/>
                </a:solidFill>
                <a:latin typeface="Bahnschrift SemiBold"/>
                <a:ea typeface="Bahnschrift SemiBold"/>
                <a:cs typeface="Bahnschrift SemiBold"/>
              </a:rPr>
              <a:t>Service Chain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CBDEC5D-642A-42C9-9A16-AECE34154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295900"/>
            <a:ext cx="23622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F4D5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F4D5F"/>
                </a:solidFill>
                <a:latin typeface="Aptos"/>
                <a:ea typeface="Aptos"/>
                <a:cs typeface="Aptos"/>
              </a:rPr>
              <a:t>Frontend -&gt; API Gateway -&gt; Lambda -&gt; DynamoDB</a:t>
            </a:r>
          </a:p>
        </p:txBody>
      </p:sp>
    </p:spTree>
    <p:extLst>
      <p:ext uri="{BB962C8B-B14F-4D97-AF65-F5344CB8AC3E}">
        <p14:creationId xmlns:p14="http://schemas.microsoft.com/office/powerpoint/2010/main" val="133148683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72F1866-C9B5-4E9E-83A2-CB0313D96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EDC519-3021-418A-9914-600D78FFC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8343B9-0364-418A-A898-D3A12C32A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323661-5C62-4CDE-86B4-7F6090890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12395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900AA4-7FD9-4B21-8BD6-614CF3D30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12395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12B99A-0413-4F85-B72B-1BCB50D5A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12395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04BB17-760E-4C61-9E1E-8440933BF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12395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70A3FE-4FEE-4B04-9848-B3315F6F6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12395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51F927-4990-4110-A326-73CF5F19D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12395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5D0B4A-1AAB-46CC-BAA7-AC83A14A7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12395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B31FC8-A777-475B-A069-F489449AD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12395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F596E0-CBA2-4CB6-B540-6A35B8349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12395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F2DB82-10A0-4DCC-A024-5835A009F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12395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C288A7-3B63-455D-B2A5-7DAEA9AA3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112395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C79D4D-A81B-4DD5-BF23-55DE0D6D4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112395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53157D-B2F8-4B4D-A1D8-FC38AA8D2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82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FAC4E9-6A6C-49D4-A31E-E3B5B3E6F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193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EF82BD-A310-4F8C-8B4A-DE3AF4332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003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48B727-5E45-4099-9C0C-176047118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5814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D5D336-ACEB-46D7-A7E0-32049DC4C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3624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D830BD-9337-475A-B27B-7CCC8387D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435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059D63-46D6-415E-8F4F-3ECD7EC2C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245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C9180A-D107-41AD-8CAB-3630FEA42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438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FB6B2"/>
                </a:solidFill>
                <a:latin typeface="Cascadia Code"/>
                <a:ea typeface="Cascadia Code"/>
                <a:cs typeface="Cascadia Code"/>
              </a:defRPr>
            </a:pPr>
            <a:r>
              <a:rPr sz="825" b="1">
                <a:solidFill>
                  <a:srgbClr val="1FB6B2"/>
                </a:solidFill>
                <a:latin typeface="Cascadia Code"/>
                <a:ea typeface="Cascadia Code"/>
                <a:cs typeface="Cascadia Code"/>
              </a:rPr>
              <a:t>ARCHITECTURE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91D8E2-8448-48A5-A49E-6B75ACC96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228600"/>
            <a:ext cx="7810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4F8C8"/>
          </a:solidFill>
          <a:ln xmlns:a="http://schemas.openxmlformats.org/drawingml/2006/main" w="9525">
            <a:solidFill>
              <a:srgbClr val="A7D86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71AB61-4ACA-4B9C-BF20-5AC628D28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295275"/>
            <a:ext cx="781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22033"/>
                </a:solidFill>
                <a:latin typeface="Cascadia Code"/>
                <a:ea typeface="Cascadia Code"/>
                <a:cs typeface="Cascadia Code"/>
              </a:defRPr>
            </a:pPr>
            <a:r>
              <a:rPr sz="900" b="1">
                <a:solidFill>
                  <a:srgbClr val="122033"/>
                </a:solidFill>
                <a:latin typeface="Cascadia Code"/>
                <a:ea typeface="Cascadia Code"/>
                <a:cs typeface="Cascadia Code"/>
              </a:rPr>
              <a:t>AWS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A03048-94B1-416C-A2FA-533FFA1F8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7810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22033"/>
                </a:solidFill>
                <a:latin typeface="Bahnschrift SemiBold"/>
                <a:ea typeface="Bahnschrift SemiBold"/>
                <a:cs typeface="Bahnschrift SemiBold"/>
              </a:defRPr>
            </a:pPr>
            <a:r>
              <a:rPr sz="3000" b="1">
                <a:solidFill>
                  <a:srgbClr val="122033"/>
                </a:solidFill>
                <a:latin typeface="Bahnschrift SemiBold"/>
                <a:ea typeface="Bahnschrift SemiBold"/>
                <a:cs typeface="Bahnschrift SemiBold"/>
              </a:rPr>
              <a:t>System Architecture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3ACA8BD-1794-4885-B11F-B526ADE6F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71700"/>
            <a:ext cx="7524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F4D5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3F4D5F"/>
                </a:solidFill>
                <a:latin typeface="Aptos"/>
                <a:ea typeface="Aptos"/>
                <a:cs typeface="Aptos"/>
              </a:rPr>
              <a:t>A serverless flow handles link creation, redirection, and analytics without managing servers.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001C8B0-9C17-4155-8916-43A758030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943225"/>
            <a:ext cx="15811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99A7B4">
              <a:alpha val="1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A290693-A35D-46C4-BD61-CB8FED467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76550"/>
            <a:ext cx="15811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E4F8C8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D20E561-F505-4A09-93C1-5D680DFCC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76550"/>
            <a:ext cx="57150" cy="1390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DE650"/>
          </a:solidFill>
          <a:ln xmlns:a="http://schemas.openxmlformats.org/drawingml/2006/main" w="0">
            <a:solidFill>
              <a:srgbClr val="9DE650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65c61e6bac4314">
            <a:extLst>
              <a:ext uri="{96DAC541-7B7A-43D3-8B79-37D633B846F1}">
                <asvg:svgBlip xmlns:asvg="http://schemas.microsoft.com/office/drawing/2016/SVG/main" r:embed="R8db9c79f43f0470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52500" y="31051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27A27A2-43EF-4FBD-84B1-A756CC624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4330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2033"/>
                </a:solidFill>
                <a:latin typeface="Bahnschrift SemiBold"/>
                <a:ea typeface="Bahnschrift SemiBold"/>
                <a:cs typeface="Bahnschrift SemiBold"/>
              </a:defRPr>
            </a:pPr>
            <a:r>
              <a:rPr sz="1350" b="1">
                <a:solidFill>
                  <a:srgbClr val="122033"/>
                </a:solidFill>
                <a:latin typeface="Bahnschrift SemiBold"/>
                <a:ea typeface="Bahnschrift SemiBold"/>
                <a:cs typeface="Bahnschrift SemiBold"/>
              </a:rPr>
              <a:t>User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DCA47FC-16F1-4797-B031-B02246248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48100"/>
            <a:ext cx="1200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F4D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F4D5F"/>
                </a:solidFill>
                <a:latin typeface="Aptos"/>
                <a:ea typeface="Aptos"/>
                <a:cs typeface="Aptos"/>
              </a:rPr>
              <a:t>Submits URL or clicks short URL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238CADB-2AA3-4D07-8055-69BC08EFA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548063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B6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BFC03A4-DDDA-43BB-AE6B-847D1290D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49567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FB6B2"/>
          </a:solidFill>
          <a:ln xmlns:a="http://schemas.openxmlformats.org/drawingml/2006/main" w="0">
            <a:solidFill>
              <a:srgbClr val="1FB6B2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1277510-E08F-4E1A-BB73-B6660AD02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943225"/>
            <a:ext cx="15811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99A7B4">
              <a:alpha val="1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18929FE-97A8-4983-ADE1-8762C3600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876550"/>
            <a:ext cx="15811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DDF1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8289242-E349-4AA2-9478-A45D7FCFB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876550"/>
            <a:ext cx="57150" cy="1390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B6B2"/>
          </a:solidFill>
          <a:ln xmlns:a="http://schemas.openxmlformats.org/drawingml/2006/main" w="0">
            <a:solidFill>
              <a:srgbClr val="1FB6B2"/>
            </a:solidFill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95eee2d62c43c6">
            <a:extLst>
              <a:ext uri="{96DAC541-7B7A-43D3-8B79-37D633B846F1}">
                <asvg:svgBlip xmlns:asvg="http://schemas.microsoft.com/office/drawing/2016/SVG/main" r:embed="R4a1610ecab67461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105150" y="31051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C389E70-766B-4166-9DB3-9C98D7BB9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54330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2033"/>
                </a:solidFill>
                <a:latin typeface="Bahnschrift SemiBold"/>
                <a:ea typeface="Bahnschrift SemiBold"/>
                <a:cs typeface="Bahnschrift SemiBold"/>
              </a:defRPr>
            </a:pPr>
            <a:r>
              <a:rPr sz="1350" b="1">
                <a:solidFill>
                  <a:srgbClr val="122033"/>
                </a:solidFill>
                <a:latin typeface="Bahnschrift SemiBold"/>
                <a:ea typeface="Bahnschrift SemiBold"/>
                <a:cs typeface="Bahnschrift SemiBold"/>
              </a:rPr>
              <a:t>Frontend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EB4DFA4-250B-4E77-9D6E-9CAF95EA0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848100"/>
            <a:ext cx="1200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F4D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F4D5F"/>
                </a:solidFill>
                <a:latin typeface="Aptos"/>
                <a:ea typeface="Aptos"/>
                <a:cs typeface="Aptos"/>
              </a:rPr>
              <a:t>S3 + CloudFront website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3AB4FFA-547D-4107-A503-1DC6180C2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548063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B6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B525ADE-55C7-473D-8837-B155617F9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49567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FB6B2"/>
          </a:solidFill>
          <a:ln xmlns:a="http://schemas.openxmlformats.org/drawingml/2006/main" w="0">
            <a:solidFill>
              <a:srgbClr val="1FB6B2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8F150C9-1F61-4A37-A248-217A6CF41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2943225"/>
            <a:ext cx="15811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99A7B4">
              <a:alpha val="1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6971D62-AA1B-4EED-A161-D717F6C2B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876550"/>
            <a:ext cx="15811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E4F8C8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F1525B1-8E08-4913-A96E-EFC3CFA54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876550"/>
            <a:ext cx="57150" cy="1390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DE650"/>
          </a:solidFill>
          <a:ln xmlns:a="http://schemas.openxmlformats.org/drawingml/2006/main" w="0">
            <a:solidFill>
              <a:srgbClr val="9DE650"/>
            </a:solidFill>
            <a:prstDash val="solid"/>
          </a:ln>
        </p:spPr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c55e82414948f7">
            <a:extLst>
              <a:ext uri="{96DAC541-7B7A-43D3-8B79-37D633B846F1}">
                <asvg:svgBlip xmlns:asvg="http://schemas.microsoft.com/office/drawing/2016/SVG/main" r:embed="R44b677d21cb04a5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257800" y="31051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9FF0D52-031F-4B31-90A4-4314BE5BC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54330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2033"/>
                </a:solidFill>
                <a:latin typeface="Bahnschrift SemiBold"/>
                <a:ea typeface="Bahnschrift SemiBold"/>
                <a:cs typeface="Bahnschrift SemiBold"/>
              </a:defRPr>
            </a:pPr>
            <a:r>
              <a:rPr sz="1350" b="1">
                <a:solidFill>
                  <a:srgbClr val="122033"/>
                </a:solidFill>
                <a:latin typeface="Bahnschrift SemiBold"/>
                <a:ea typeface="Bahnschrift SemiBold"/>
                <a:cs typeface="Bahnschrift SemiBold"/>
              </a:rPr>
              <a:t>API Gateway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959F9CF-14FF-41F9-8C59-BA23BE42D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848100"/>
            <a:ext cx="1200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F4D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F4D5F"/>
                </a:solidFill>
                <a:latin typeface="Aptos"/>
                <a:ea typeface="Aptos"/>
                <a:cs typeface="Aptos"/>
              </a:rPr>
              <a:t>Routes REST API requests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0108398-E503-49E8-A07C-18C7A497E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548063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B6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2FDD61F-4211-402F-B57B-1E60384AB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49567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FB6B2"/>
          </a:solidFill>
          <a:ln xmlns:a="http://schemas.openxmlformats.org/drawingml/2006/main" w="0">
            <a:solidFill>
              <a:srgbClr val="1FB6B2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E893DB6-5D4E-4E2B-AE39-A967EF326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2943225"/>
            <a:ext cx="15811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99A7B4">
              <a:alpha val="1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AA4B2B5-FDCF-4B5D-9B51-4DF44CDE2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876550"/>
            <a:ext cx="15811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DDF1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6839CCA-8970-4754-88D7-3C4BC7A86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876550"/>
            <a:ext cx="57150" cy="1390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B6B2"/>
          </a:solidFill>
          <a:ln xmlns:a="http://schemas.openxmlformats.org/drawingml/2006/main" w="0">
            <a:solidFill>
              <a:srgbClr val="1FB6B2"/>
            </a:solidFill>
            <a:prstDash val="solid"/>
          </a:ln>
        </p:spPr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2ab83bc64548ee">
            <a:extLst>
              <a:ext uri="{96DAC541-7B7A-43D3-8B79-37D633B846F1}">
                <asvg:svgBlip xmlns:asvg="http://schemas.microsoft.com/office/drawing/2016/SVG/main" r:embed="Rd4b022ba39884db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410450" y="31051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09AFF2E-2972-4EDD-9BCF-C57C82023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54330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2033"/>
                </a:solidFill>
                <a:latin typeface="Bahnschrift SemiBold"/>
                <a:ea typeface="Bahnschrift SemiBold"/>
                <a:cs typeface="Bahnschrift SemiBold"/>
              </a:defRPr>
            </a:pPr>
            <a:r>
              <a:rPr sz="1350" b="1">
                <a:solidFill>
                  <a:srgbClr val="122033"/>
                </a:solidFill>
                <a:latin typeface="Bahnschrift SemiBold"/>
                <a:ea typeface="Bahnschrift SemiBold"/>
                <a:cs typeface="Bahnschrift SemiBold"/>
              </a:rPr>
              <a:t>AWS Lambda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E987708-D491-45F4-800D-1E925DB66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848100"/>
            <a:ext cx="1200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F4D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F4D5F"/>
                </a:solidFill>
                <a:latin typeface="Aptos"/>
                <a:ea typeface="Aptos"/>
                <a:cs typeface="Aptos"/>
              </a:rPr>
              <a:t>Executes backend logic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4768440-5C65-479D-93B4-393F3FA04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548063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B6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7BA0D17-174B-42B2-A050-DDA8956B0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49567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FB6B2"/>
          </a:solidFill>
          <a:ln xmlns:a="http://schemas.openxmlformats.org/drawingml/2006/main" w="0">
            <a:solidFill>
              <a:srgbClr val="1FB6B2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FF9CACD-DE59-48E9-B76E-A33C4B449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2943225"/>
            <a:ext cx="15811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99A7B4">
              <a:alpha val="1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54DDE91-757E-47B5-9CAE-2787351BC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876550"/>
            <a:ext cx="15811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E4F8C8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165B751-AEDC-4291-BA33-BCE1CEF77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876550"/>
            <a:ext cx="57150" cy="1390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DE650"/>
          </a:solidFill>
          <a:ln xmlns:a="http://schemas.openxmlformats.org/drawingml/2006/main" w="0">
            <a:solidFill>
              <a:srgbClr val="9DE650"/>
            </a:solidFill>
            <a:prstDash val="solid"/>
          </a:ln>
        </p:spPr>
      </p:sp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9751f143164abb">
            <a:extLst>
              <a:ext uri="{96DAC541-7B7A-43D3-8B79-37D633B846F1}">
                <asvg:svgBlip xmlns:asvg="http://schemas.microsoft.com/office/drawing/2016/SVG/main" r:embed="R1b791feb7ad5446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563100" y="31051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6BB723B-97D2-401D-8B42-8456138D3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54330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2033"/>
                </a:solidFill>
                <a:latin typeface="Bahnschrift SemiBold"/>
                <a:ea typeface="Bahnschrift SemiBold"/>
                <a:cs typeface="Bahnschrift SemiBold"/>
              </a:defRPr>
            </a:pPr>
            <a:r>
              <a:rPr sz="1350" b="1">
                <a:solidFill>
                  <a:srgbClr val="122033"/>
                </a:solidFill>
                <a:latin typeface="Bahnschrift SemiBold"/>
                <a:ea typeface="Bahnschrift SemiBold"/>
                <a:cs typeface="Bahnschrift SemiBold"/>
              </a:rPr>
              <a:t>DynamoDB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672E75C-4003-4930-AFEF-50B546CA3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848100"/>
            <a:ext cx="1200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F4D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F4D5F"/>
                </a:solidFill>
                <a:latin typeface="Aptos"/>
                <a:ea typeface="Aptos"/>
                <a:cs typeface="Aptos"/>
              </a:rPr>
              <a:t>Stores URLs and analytics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C9F5A44-8B48-423E-A3C9-103E82F70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4962525"/>
            <a:ext cx="71628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99A7B4">
              <a:alpha val="1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E52B519-47E5-41E8-A790-03342F2B6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895850"/>
            <a:ext cx="71628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8CF4218-C2D8-4FEC-B778-02FE3B8F1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895850"/>
            <a:ext cx="57150" cy="895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6C85F"/>
          </a:solidFill>
          <a:ln xmlns:a="http://schemas.openxmlformats.org/drawingml/2006/main" w="0">
            <a:solidFill>
              <a:srgbClr val="F6C85F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DCD3EA5-A6C7-42FD-BACB-142880646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5181600"/>
            <a:ext cx="16383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6C85F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F010E755-C9D9-493F-9F9E-4AC4C7627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5248275"/>
            <a:ext cx="1638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6C85F"/>
                </a:solidFill>
                <a:latin typeface="Cascadia Code"/>
                <a:ea typeface="Cascadia Code"/>
                <a:cs typeface="Cascadia Code"/>
              </a:defRPr>
            </a:pPr>
            <a:r>
              <a:rPr sz="825" b="1">
                <a:solidFill>
                  <a:srgbClr val="F6C85F"/>
                </a:solidFill>
                <a:latin typeface="Cascadia Code"/>
                <a:ea typeface="Cascadia Code"/>
                <a:cs typeface="Cascadia Code"/>
              </a:rPr>
              <a:t>ANALYTICS FLOW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29398EB8-2D45-48B7-8215-F7DCDEE78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5124450"/>
            <a:ext cx="4095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User click -&gt; Lambda runs -&gt; Click count updated -&gt; Analytics stored</a:t>
            </a:r>
          </a:p>
        </p:txBody>
      </p:sp>
    </p:spTree>
    <p:extLst>
      <p:ext uri="{BB962C8B-B14F-4D97-AF65-F5344CB8AC3E}">
        <p14:creationId xmlns:p14="http://schemas.microsoft.com/office/powerpoint/2010/main" val="97904356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215EFB8-A969-4831-ACF1-A90C8A49F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777326-F146-402C-AE59-74FDCEDC6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4D46C2-5C43-4F02-9649-F5533705A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51488F-CAD4-4F68-8B07-944FDF465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12395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60CC51-8996-4BDF-8CAF-644F492B3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12395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A251E4-0B8F-43C9-BE96-19539DBF7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12395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DD6EED-3874-4D7F-9D7A-3A0AF0D2C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12395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402681-FC3C-421E-9A8C-3D8D72AFB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12395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A7BBFF-FCB0-48C2-BC27-F50726E92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12395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D8EC56-A833-4D2B-86BA-051E3E20C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12395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703FBB-1360-4F2A-84DA-39184EDC1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12395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6726B3-6CEB-48A2-A8CA-1413E2AFD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12395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430F0E-9481-45E5-ABD3-FDA56350E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12395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261737-6D3F-4E91-B4D1-2B0132366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112395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EA5D4F-A149-4749-A6AD-AA7C7B91A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112395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533B92-ECF0-4F0D-B409-1662E15C9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82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611B39-B10B-4E7C-8FD7-938A4FAE9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193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E3C14E-5F0B-473F-A3BA-BC564B199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003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FAFF8E-A8FE-453E-9BEF-5105EEC8A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5814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C74918-7DBF-4E7F-B5EA-3BB36CEC7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3624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ADB296-E88D-4841-831C-71425892D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435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ADFB60-177A-4F9F-A87C-3B3E35545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245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140E33-3CB4-43EF-B8A7-B40846306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438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FB6B2"/>
                </a:solidFill>
                <a:latin typeface="Cascadia Code"/>
                <a:ea typeface="Cascadia Code"/>
                <a:cs typeface="Cascadia Code"/>
              </a:defRPr>
            </a:pPr>
            <a:r>
              <a:rPr sz="825" b="1">
                <a:solidFill>
                  <a:srgbClr val="1FB6B2"/>
                </a:solidFill>
                <a:latin typeface="Cascadia Code"/>
                <a:ea typeface="Cascadia Code"/>
                <a:cs typeface="Cascadia Code"/>
              </a:rPr>
              <a:t>FRONTEND + BACKEND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160537-D5ED-4564-A694-668A1C02D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228600"/>
            <a:ext cx="7810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4F8C8"/>
          </a:solidFill>
          <a:ln xmlns:a="http://schemas.openxmlformats.org/drawingml/2006/main" w="9525">
            <a:solidFill>
              <a:srgbClr val="A7D86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2A5097-D9D9-45E1-895B-F1325B45A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295275"/>
            <a:ext cx="781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22033"/>
                </a:solidFill>
                <a:latin typeface="Cascadia Code"/>
                <a:ea typeface="Cascadia Code"/>
                <a:cs typeface="Cascadia Code"/>
              </a:defRPr>
            </a:pPr>
            <a:r>
              <a:rPr sz="900" b="1">
                <a:solidFill>
                  <a:srgbClr val="122033"/>
                </a:solidFill>
                <a:latin typeface="Cascadia Code"/>
                <a:ea typeface="Cascadia Code"/>
                <a:cs typeface="Cascadia Code"/>
              </a:rPr>
              <a:t>AWS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964122-2CDA-4754-A53A-559D3FA90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7810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22033"/>
                </a:solidFill>
                <a:latin typeface="Bahnschrift SemiBold"/>
                <a:ea typeface="Bahnschrift SemiBold"/>
                <a:cs typeface="Bahnschrift SemiBold"/>
              </a:defRPr>
            </a:pPr>
            <a:r>
              <a:rPr sz="3000" b="1">
                <a:solidFill>
                  <a:srgbClr val="122033"/>
                </a:solidFill>
                <a:latin typeface="Bahnschrift SemiBold"/>
                <a:ea typeface="Bahnschrift SemiBold"/>
                <a:cs typeface="Bahnschrift SemiBold"/>
              </a:rPr>
              <a:t>Frontend and Backend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9C20F53-B8AC-4CBD-BCAB-6B53CE32C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71700"/>
            <a:ext cx="7524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F4D5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3F4D5F"/>
                </a:solidFill>
                <a:latin typeface="Aptos"/>
                <a:ea typeface="Aptos"/>
                <a:cs typeface="Aptos"/>
              </a:rPr>
              <a:t>The frontend is hosted statically while Lambda handles backend execution only when needed.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8B5E888-E949-4751-9908-6A4700A0B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847975"/>
            <a:ext cx="485775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99A7B4">
              <a:alpha val="1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60B2DC5-E893-4D47-A1D0-1533174C7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81300"/>
            <a:ext cx="485775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DDF1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F5E9DF1-6477-4E46-9F85-D08A1F865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81300"/>
            <a:ext cx="57150" cy="2781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B6B2"/>
          </a:solidFill>
          <a:ln xmlns:a="http://schemas.openxmlformats.org/drawingml/2006/main" w="0">
            <a:solidFill>
              <a:srgbClr val="1FB6B2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1aa3f58e084e2f">
            <a:extLst>
              <a:ext uri="{96DAC541-7B7A-43D3-8B79-37D633B846F1}">
                <asvg:svgBlip xmlns:asvg="http://schemas.microsoft.com/office/drawing/2016/SVG/main" r:embed="Rb74badd2f3f14d5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23950" y="310515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3AEFE78-1886-413B-941E-4108AECE2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181350"/>
            <a:ext cx="228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22033"/>
                </a:solidFill>
                <a:latin typeface="Bahnschrift SemiBold"/>
                <a:ea typeface="Bahnschrift SemiBold"/>
                <a:cs typeface="Bahnschrift SemiBold"/>
              </a:defRPr>
            </a:pPr>
            <a:r>
              <a:rPr sz="1950" b="1">
                <a:solidFill>
                  <a:srgbClr val="122033"/>
                </a:solidFill>
                <a:latin typeface="Bahnschrift SemiBold"/>
                <a:ea typeface="Bahnschrift SemiBold"/>
                <a:cs typeface="Bahnschrift SemiBold"/>
              </a:rPr>
              <a:t>Frontend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2F656F7-30BC-46BE-BA02-4FFF2A486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10000"/>
            <a:ext cx="14287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B6B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2E51E7C-549B-4428-8D30-30A69BAAB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76675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FB6B2"/>
                </a:solidFill>
                <a:latin typeface="Cascadia Code"/>
                <a:ea typeface="Cascadia Code"/>
                <a:cs typeface="Cascadia Code"/>
              </a:defRPr>
            </a:pPr>
            <a:r>
              <a:rPr sz="825" b="1">
                <a:solidFill>
                  <a:srgbClr val="1FB6B2"/>
                </a:solidFill>
                <a:latin typeface="Cascadia Code"/>
                <a:ea typeface="Cascadia Code"/>
                <a:cs typeface="Cascadia Code"/>
              </a:rPr>
              <a:t>Amazon S3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F6BDF22-3241-493F-B888-88F946A26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810000"/>
            <a:ext cx="18097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DE65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0590FF8-D310-4F65-BF69-314BAC90E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876675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9DE650"/>
                </a:solidFill>
                <a:latin typeface="Cascadia Code"/>
                <a:ea typeface="Cascadia Code"/>
                <a:cs typeface="Cascadia Code"/>
              </a:defRPr>
            </a:pPr>
            <a:r>
              <a:rPr sz="825" b="1">
                <a:solidFill>
                  <a:srgbClr val="9DE650"/>
                </a:solidFill>
                <a:latin typeface="Cascadia Code"/>
                <a:ea typeface="Cascadia Code"/>
                <a:cs typeface="Cascadia Code"/>
              </a:rPr>
              <a:t>CloudFront CDN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BCFADC7-D8CF-4F9E-937F-EC2A8FF50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4958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B6B2"/>
          </a:solidFill>
          <a:ln xmlns:a="http://schemas.openxmlformats.org/drawingml/2006/main" w="0">
            <a:solidFill>
              <a:srgbClr val="1FB6B2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DAF0D00-A954-4CAD-A4A6-B38681E65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19600"/>
            <a:ext cx="3124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Fast website loading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DC875E5-12A8-4DDE-B136-1262A9445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8196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B6B2"/>
          </a:solidFill>
          <a:ln xmlns:a="http://schemas.openxmlformats.org/drawingml/2006/main" w="0">
            <a:solidFill>
              <a:srgbClr val="1FB6B2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B486BB7-2B02-4E5B-8817-3AC96D23F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743450"/>
            <a:ext cx="3124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Low hosting cost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2F596AA-3BE9-4A5F-B7E7-6FF460A43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435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B6B2"/>
          </a:solidFill>
          <a:ln xmlns:a="http://schemas.openxmlformats.org/drawingml/2006/main" w="0">
            <a:solidFill>
              <a:srgbClr val="1FB6B2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49D1AF4-D264-425A-B1E8-9EAF0BD7E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67300"/>
            <a:ext cx="3124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Global content delivery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F4A640F-4F9E-4A58-B961-172BC0A65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847975"/>
            <a:ext cx="485775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99A7B4">
              <a:alpha val="1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6BC7745-D5E8-414E-A1B2-BC959DCA0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781300"/>
            <a:ext cx="485775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E4F8C8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F34F8EE-7E48-44D3-9CA7-12059BDEA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781300"/>
            <a:ext cx="57150" cy="2781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DE650"/>
          </a:solidFill>
          <a:ln xmlns:a="http://schemas.openxmlformats.org/drawingml/2006/main" w="0">
            <a:solidFill>
              <a:srgbClr val="9DE650"/>
            </a:solidFill>
            <a:prstDash val="solid"/>
          </a:ln>
        </p:spPr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ffe788fcd74e5a">
            <a:extLst>
              <a:ext uri="{96DAC541-7B7A-43D3-8B79-37D633B846F1}">
                <asvg:svgBlip xmlns:asvg="http://schemas.microsoft.com/office/drawing/2016/SVG/main" r:embed="R45f3f7966ae9413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96100" y="310515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FD1B023-70B2-47E8-8400-A5224262C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181350"/>
            <a:ext cx="228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22033"/>
                </a:solidFill>
                <a:latin typeface="Bahnschrift SemiBold"/>
                <a:ea typeface="Bahnschrift SemiBold"/>
                <a:cs typeface="Bahnschrift SemiBold"/>
              </a:defRPr>
            </a:pPr>
            <a:r>
              <a:rPr sz="1950" b="1">
                <a:solidFill>
                  <a:srgbClr val="122033"/>
                </a:solidFill>
                <a:latin typeface="Bahnschrift SemiBold"/>
                <a:ea typeface="Bahnschrift SemiBold"/>
                <a:cs typeface="Bahnschrift SemiBold"/>
              </a:rPr>
              <a:t>Backend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B1DE6B4-0A28-4C3E-A5CA-5E34649E9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810000"/>
            <a:ext cx="24955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DE650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7FDD80B-CB0C-4596-858E-18715BA74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876675"/>
            <a:ext cx="2495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9DE650"/>
                </a:solidFill>
                <a:latin typeface="Cascadia Code"/>
                <a:ea typeface="Cascadia Code"/>
                <a:cs typeface="Cascadia Code"/>
              </a:defRPr>
            </a:pPr>
            <a:r>
              <a:rPr sz="825" b="1">
                <a:solidFill>
                  <a:srgbClr val="9DE650"/>
                </a:solidFill>
                <a:latin typeface="Cascadia Code"/>
                <a:ea typeface="Cascadia Code"/>
                <a:cs typeface="Cascadia Code"/>
              </a:rPr>
              <a:t>AWS Lambda Functions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5ABE27B-2102-47B9-B70D-B7C2ADAD5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4196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DE650"/>
          </a:solidFill>
          <a:ln xmlns:a="http://schemas.openxmlformats.org/drawingml/2006/main" w="0">
            <a:solidFill>
              <a:srgbClr val="9DE650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9B79EEB-E952-41CB-9D82-C7C4CFA5B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343400"/>
            <a:ext cx="3124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Create short URL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AA39394-8E0F-4284-8455-4669E3D82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7053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DE650"/>
          </a:solidFill>
          <a:ln xmlns:a="http://schemas.openxmlformats.org/drawingml/2006/main" w="0">
            <a:solidFill>
              <a:srgbClr val="9DE650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0EE82CA-1F03-4CCC-BAFC-A423AFB17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629150"/>
            <a:ext cx="3124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Redirect URLs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1375BEC-5E7C-4154-B086-6D5BD8C2D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9911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DE650"/>
          </a:solidFill>
          <a:ln xmlns:a="http://schemas.openxmlformats.org/drawingml/2006/main" w="0">
            <a:solidFill>
              <a:srgbClr val="9DE650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FEA0F6E-1FB6-4196-ADF9-3B410470F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914900"/>
            <a:ext cx="3124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Update analytics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23F8CC5-701F-4CA2-81B8-8184F5A30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2768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DE650"/>
          </a:solidFill>
          <a:ln xmlns:a="http://schemas.openxmlformats.org/drawingml/2006/main" w="0">
            <a:solidFill>
              <a:srgbClr val="9DE650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BAB682A-1934-4C9E-BAF1-232E79B90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5200650"/>
            <a:ext cx="3124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Auto scaling execution</a:t>
            </a:r>
          </a:p>
        </p:txBody>
      </p:sp>
    </p:spTree>
    <p:extLst>
      <p:ext uri="{BB962C8B-B14F-4D97-AF65-F5344CB8AC3E}">
        <p14:creationId xmlns:p14="http://schemas.microsoft.com/office/powerpoint/2010/main" val="34578833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7F70A20-FDE8-4322-ADA2-049A1C197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AD8447-2F77-422E-8916-EB45C1AA0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9E67B6-70DF-49D9-AE94-86F41EB09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E78830-8EFB-4EDA-B1AB-661183E0E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12395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73440A-E83C-4440-B0C4-D65C5D7F8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12395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A9CEA2-1EB6-4BB6-84EE-C56A74D93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12395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EA3478-E24A-41D9-AAD6-43B00DC07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12395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E65B02-85B4-49F0-8ADB-63328C5A1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12395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7CE4CE-139E-4F16-8B7F-83A4C1919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12395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8A669B-7DB7-4C00-90CD-A02B10F14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12395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31DF1E-BF98-4A58-861C-3BD9F0525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12395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017723-61BC-4923-AE6D-171F016D0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12395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B57689-0D09-42B3-A538-63E7C42AC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12395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D8909E-7BCE-457C-AD2A-28763DEDA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112395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F30BEE-1979-4772-9F43-7A2E4CBDD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112395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CC4884-E40B-4299-AA6E-D0ABF621F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82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23E6E3-A0E6-4760-843C-B363D8701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193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879380-E5B9-482F-B114-A50847042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003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61D49C-BF2B-42A1-B028-514ED5BAC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5814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10071F-CE73-44F4-84F0-8D7E662B9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3624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8FA0C9-FDDC-4ACC-8F08-D9A6320BE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435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3D8ADC-2875-4903-8623-78494D4B2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245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3661DB-916F-4364-8E75-7BB8CB027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438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FB6B2"/>
                </a:solidFill>
                <a:latin typeface="Cascadia Code"/>
                <a:ea typeface="Cascadia Code"/>
                <a:cs typeface="Cascadia Code"/>
              </a:defRPr>
            </a:pPr>
            <a:r>
              <a:rPr sz="825" b="1">
                <a:solidFill>
                  <a:srgbClr val="1FB6B2"/>
                </a:solidFill>
                <a:latin typeface="Cascadia Code"/>
                <a:ea typeface="Cascadia Code"/>
                <a:cs typeface="Cascadia Code"/>
              </a:rPr>
              <a:t>DATABASE + ANALYTICS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727DC5-7804-4CAD-AD3F-3430F0C6C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228600"/>
            <a:ext cx="7810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4F8C8"/>
          </a:solidFill>
          <a:ln xmlns:a="http://schemas.openxmlformats.org/drawingml/2006/main" w="9525">
            <a:solidFill>
              <a:srgbClr val="A7D86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6AC40D-8ED1-4E99-869E-C0EFD2A94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295275"/>
            <a:ext cx="781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22033"/>
                </a:solidFill>
                <a:latin typeface="Cascadia Code"/>
                <a:ea typeface="Cascadia Code"/>
                <a:cs typeface="Cascadia Code"/>
              </a:defRPr>
            </a:pPr>
            <a:r>
              <a:rPr sz="900" b="1">
                <a:solidFill>
                  <a:srgbClr val="122033"/>
                </a:solidFill>
                <a:latin typeface="Cascadia Code"/>
                <a:ea typeface="Cascadia Code"/>
                <a:cs typeface="Cascadia Code"/>
              </a:rPr>
              <a:t>AWS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095F39-328A-42C5-9A77-CBAF60D57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7810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22033"/>
                </a:solidFill>
                <a:latin typeface="Bahnschrift SemiBold"/>
                <a:ea typeface="Bahnschrift SemiBold"/>
                <a:cs typeface="Bahnschrift SemiBold"/>
              </a:defRPr>
            </a:pPr>
            <a:r>
              <a:rPr sz="3000" b="1">
                <a:solidFill>
                  <a:srgbClr val="122033"/>
                </a:solidFill>
                <a:latin typeface="Bahnschrift SemiBold"/>
                <a:ea typeface="Bahnschrift SemiBold"/>
                <a:cs typeface="Bahnschrift SemiBold"/>
              </a:rPr>
              <a:t>Database and Analytics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615E8A9-946D-4911-89B8-908685425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71700"/>
            <a:ext cx="7524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F4D5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3F4D5F"/>
                </a:solidFill>
                <a:latin typeface="Aptos"/>
                <a:ea typeface="Aptos"/>
                <a:cs typeface="Aptos"/>
              </a:rPr>
              <a:t>DynamoDB stores URL mappings and click data for fast lookup and scalable analytics.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222566C-5F5B-4EC7-AA8E-61A3E6300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809875"/>
            <a:ext cx="4591050" cy="2705100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99A7B4">
              <a:alpha val="1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9CAA7BA-A9AD-4C78-8F6D-260E4F124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43200"/>
            <a:ext cx="4591050" cy="2705100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E4F8C8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4FE0629-E7D4-4375-B888-7BDB9C8F6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43200"/>
            <a:ext cx="57150" cy="2705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DE650"/>
          </a:solidFill>
          <a:ln xmlns:a="http://schemas.openxmlformats.org/drawingml/2006/main" w="0">
            <a:solidFill>
              <a:srgbClr val="9DE650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396ffe817140d1">
            <a:extLst>
              <a:ext uri="{96DAC541-7B7A-43D3-8B79-37D633B846F1}">
                <asvg:svgBlip xmlns:asvg="http://schemas.microsoft.com/office/drawing/2016/SVG/main" r:embed="R021e307d0d47458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04900" y="308610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A6946E2-79EB-4A6F-A574-6438F456F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162300"/>
            <a:ext cx="266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2033"/>
                </a:solidFill>
                <a:latin typeface="Bahnschrift SemiBold"/>
                <a:ea typeface="Bahnschrift SemiBold"/>
                <a:cs typeface="Bahnschrift SemiBold"/>
              </a:defRPr>
            </a:pPr>
            <a:r>
              <a:rPr sz="1800" b="1">
                <a:solidFill>
                  <a:srgbClr val="122033"/>
                </a:solidFill>
                <a:latin typeface="Bahnschrift SemiBold"/>
                <a:ea typeface="Bahnschrift SemiBold"/>
                <a:cs typeface="Bahnschrift SemiBold"/>
              </a:rPr>
              <a:t>DynamoDB Stores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9963655-03E4-41CD-8A05-516FA9FAB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290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DE650"/>
          </a:solidFill>
          <a:ln xmlns:a="http://schemas.openxmlformats.org/drawingml/2006/main" w="0">
            <a:solidFill>
              <a:srgbClr val="9DE65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1968EE6-B4AB-4D6F-B057-6A4C87A43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52850"/>
            <a:ext cx="2933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Original URL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1F7188E-B66B-4985-9030-9BFAF70DB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338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DE650"/>
          </a:solidFill>
          <a:ln xmlns:a="http://schemas.openxmlformats.org/drawingml/2006/main" w="0">
            <a:solidFill>
              <a:srgbClr val="9DE65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A130C9A-777F-4997-8E25-A119E8DF8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57650"/>
            <a:ext cx="2933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Short ID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6365591-1F76-468F-A148-061A35164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4386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DE650"/>
          </a:solidFill>
          <a:ln xmlns:a="http://schemas.openxmlformats.org/drawingml/2006/main" w="0">
            <a:solidFill>
              <a:srgbClr val="9DE65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F972D6A-0116-47D4-977B-099E7D279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62450"/>
            <a:ext cx="2933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Click count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B4C5D99-9FEE-400F-9A14-2101C10F9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434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DE650"/>
          </a:solidFill>
          <a:ln xmlns:a="http://schemas.openxmlformats.org/drawingml/2006/main" w="0">
            <a:solidFill>
              <a:srgbClr val="9DE65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290B6C0-6504-4C06-8146-78B57719E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67250"/>
            <a:ext cx="2933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Timestamp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F1396D9-BD46-4332-98EA-763964400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010150"/>
            <a:ext cx="23431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DE65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ACF86ED-229E-4B34-8C09-83F395C90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076825"/>
            <a:ext cx="2343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9DE650"/>
                </a:solidFill>
                <a:latin typeface="Cascadia Code"/>
                <a:ea typeface="Cascadia Code"/>
                <a:cs typeface="Cascadia Code"/>
              </a:defRPr>
            </a:pPr>
            <a:r>
              <a:rPr sz="825" b="1">
                <a:solidFill>
                  <a:srgbClr val="9DE650"/>
                </a:solidFill>
                <a:latin typeface="Cascadia Code"/>
                <a:ea typeface="Cascadia Code"/>
                <a:cs typeface="Cascadia Code"/>
              </a:rPr>
              <a:t>High-performance NoSQL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761F75F-C084-4FB6-A531-CF91421C8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2809875"/>
            <a:ext cx="4591050" cy="2705100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99A7B4">
              <a:alpha val="1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636CFAC-4736-41A3-844B-D398D72ED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43200"/>
            <a:ext cx="4591050" cy="2705100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DDF1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A42EEBD-5B8B-47BE-8067-2F3A6CA8E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43200"/>
            <a:ext cx="57150" cy="2705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B6B2"/>
          </a:solidFill>
          <a:ln xmlns:a="http://schemas.openxmlformats.org/drawingml/2006/main" w="0">
            <a:solidFill>
              <a:srgbClr val="1FB6B2"/>
            </a:solidFill>
            <a:prstDash val="solid"/>
          </a:ln>
        </p:spPr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e104b882574b83">
            <a:extLst>
              <a:ext uri="{96DAC541-7B7A-43D3-8B79-37D633B846F1}">
                <asvg:svgBlip xmlns:asvg="http://schemas.microsoft.com/office/drawing/2016/SVG/main" r:embed="Raa910902de6c4ec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086600" y="308610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52EC3EF-D130-4FF0-A3B4-905D9D883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162300"/>
            <a:ext cx="2762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2033"/>
                </a:solidFill>
                <a:latin typeface="Bahnschrift SemiBold"/>
                <a:ea typeface="Bahnschrift SemiBold"/>
                <a:cs typeface="Bahnschrift SemiBold"/>
              </a:defRPr>
            </a:pPr>
            <a:r>
              <a:rPr sz="1800" b="1">
                <a:solidFill>
                  <a:srgbClr val="122033"/>
                </a:solidFill>
                <a:latin typeface="Bahnschrift SemiBold"/>
                <a:ea typeface="Bahnschrift SemiBold"/>
                <a:cs typeface="Bahnschrift SemiBold"/>
              </a:rPr>
              <a:t>Analytics Tracks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D4C3CBD-082B-4731-84E3-1E3E76BF2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8290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B6B2"/>
          </a:solidFill>
          <a:ln xmlns:a="http://schemas.openxmlformats.org/drawingml/2006/main" w="0">
            <a:solidFill>
              <a:srgbClr val="1FB6B2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79EBBC9-B537-4732-91A0-DDDD63EB9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752850"/>
            <a:ext cx="3028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Total clicks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4CA84A1-2D75-4CA1-921F-D8E300B0F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1338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B6B2"/>
          </a:solidFill>
          <a:ln xmlns:a="http://schemas.openxmlformats.org/drawingml/2006/main" w="0">
            <a:solidFill>
              <a:srgbClr val="1FB6B2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FEDE065-24E3-4640-A966-9D8996312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057650"/>
            <a:ext cx="3028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Popular URLs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E65FC22-EA6D-435E-B45A-69967F8B6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4386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B6B2"/>
          </a:solidFill>
          <a:ln xmlns:a="http://schemas.openxmlformats.org/drawingml/2006/main" w="0">
            <a:solidFill>
              <a:srgbClr val="1FB6B2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D356028-BE94-4D1E-87C8-B3E9B0F71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362450"/>
            <a:ext cx="3028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User activity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50505EA-B730-4849-9E83-1A3D48B1A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7434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B6B2"/>
          </a:solidFill>
          <a:ln xmlns:a="http://schemas.openxmlformats.org/drawingml/2006/main" w="0">
            <a:solidFill>
              <a:srgbClr val="1FB6B2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C35F555-33D3-49DE-B413-B18BBA54E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667250"/>
            <a:ext cx="3028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Redirection events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0A6E38B-44DD-4CD7-BAD8-02B3CDF1A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010150"/>
            <a:ext cx="24765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B6B2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0B28E7D-7753-475C-A615-E095B8520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076825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FB6B2"/>
                </a:solidFill>
                <a:latin typeface="Cascadia Code"/>
                <a:ea typeface="Cascadia Code"/>
                <a:cs typeface="Cascadia Code"/>
              </a:defRPr>
            </a:pPr>
            <a:r>
              <a:rPr sz="825" b="1">
                <a:solidFill>
                  <a:srgbClr val="1FB6B2"/>
                </a:solidFill>
                <a:latin typeface="Cascadia Code"/>
                <a:ea typeface="Cascadia Code"/>
                <a:cs typeface="Cascadia Code"/>
              </a:rPr>
              <a:t>Scalable analytics layer</a:t>
            </a:r>
          </a:p>
        </p:txBody>
      </p:sp>
    </p:spTree>
    <p:extLst>
      <p:ext uri="{BB962C8B-B14F-4D97-AF65-F5344CB8AC3E}">
        <p14:creationId xmlns:p14="http://schemas.microsoft.com/office/powerpoint/2010/main" val="163989505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0BD1EB2-1BE7-4805-9E5B-B68BA00ED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25F84F-5B67-405B-A0A5-A5AEDE6D4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636335-5320-41BA-B506-D7D899FF3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576732-8E95-4CA8-B666-7AF407952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12395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23AB80-B556-4833-8E49-7114A1E76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12395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B56459-DB51-4ADD-9362-4C0D8224A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12395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D16F9C-2538-4ABF-8E19-07D0CA597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12395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85A8F5-FE25-4CD1-8691-83E809914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12395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95E7C8-2817-44E8-8180-9703B0EAD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12395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CECD97-78BA-462C-AB47-BCDDD6CE0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12395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5BD012-EFF9-46B3-96D8-E97E45C3F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12395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3D62D1-131D-44AC-9A13-39A811CB7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12395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620C53-56BB-4503-A560-61C689631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12395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E88C37-57E4-47F9-8B87-E6A728626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112395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BAF0A5-7619-4BAF-A955-31CB81B84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112395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BF669D-47BF-49DE-A86C-FA1690B07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82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54E252-1ADC-4D97-A02A-3F12D3814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193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32A626-1695-41D2-A708-03BD13F04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003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432996-167B-42CE-A568-B1F83A1E5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5814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313A89-5059-4E86-886D-7785FC599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3624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705C21-0005-4434-B359-96F986F82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435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AA9EF8-9B89-4629-B776-A0AD82845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245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806EA4-C16F-4F0B-B751-E828180C1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438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FB6B2"/>
                </a:solidFill>
                <a:latin typeface="Cascadia Code"/>
                <a:ea typeface="Cascadia Code"/>
                <a:cs typeface="Cascadia Code"/>
              </a:defRPr>
            </a:pPr>
            <a:r>
              <a:rPr sz="825" b="1">
                <a:solidFill>
                  <a:srgbClr val="1FB6B2"/>
                </a:solidFill>
                <a:latin typeface="Cascadia Code"/>
                <a:ea typeface="Cascadia Code"/>
                <a:cs typeface="Cascadia Code"/>
              </a:rPr>
              <a:t>SECURITY + MONITORING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52AA35-5E24-40D3-A979-D034EF1B9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228600"/>
            <a:ext cx="7810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4F8C8"/>
          </a:solidFill>
          <a:ln xmlns:a="http://schemas.openxmlformats.org/drawingml/2006/main" w="9525">
            <a:solidFill>
              <a:srgbClr val="A7D86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4C1DC2-DF42-41BE-9E7F-F71A58F4A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295275"/>
            <a:ext cx="781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22033"/>
                </a:solidFill>
                <a:latin typeface="Cascadia Code"/>
                <a:ea typeface="Cascadia Code"/>
                <a:cs typeface="Cascadia Code"/>
              </a:defRPr>
            </a:pPr>
            <a:r>
              <a:rPr sz="900" b="1">
                <a:solidFill>
                  <a:srgbClr val="122033"/>
                </a:solidFill>
                <a:latin typeface="Cascadia Code"/>
                <a:ea typeface="Cascadia Code"/>
                <a:cs typeface="Cascadia Code"/>
              </a:rPr>
              <a:t>AWS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61BFC88-40A6-4D18-94D4-F2087C3E5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7810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22033"/>
                </a:solidFill>
                <a:latin typeface="Bahnschrift SemiBold"/>
                <a:ea typeface="Bahnschrift SemiBold"/>
                <a:cs typeface="Bahnschrift SemiBold"/>
              </a:defRPr>
            </a:pPr>
            <a:r>
              <a:rPr sz="3000" b="1">
                <a:solidFill>
                  <a:srgbClr val="122033"/>
                </a:solidFill>
                <a:latin typeface="Bahnschrift SemiBold"/>
                <a:ea typeface="Bahnschrift SemiBold"/>
                <a:cs typeface="Bahnschrift SemiBold"/>
              </a:rPr>
              <a:t>Security and Monitoring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9A8A400-62D3-4568-9C42-2DC787E1B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71700"/>
            <a:ext cx="7524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F4D5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3F4D5F"/>
                </a:solidFill>
                <a:latin typeface="Aptos"/>
                <a:ea typeface="Aptos"/>
                <a:cs typeface="Aptos"/>
              </a:rPr>
              <a:t>IAM protects AWS resources while CloudWatch gives visibility into application behavior.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7710737-6F8C-4D2C-9B81-D4DC8B564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981325"/>
            <a:ext cx="4476750" cy="24193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99A7B4">
              <a:alpha val="1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0EFE96A-5142-452D-8C95-AA367BAAC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14650"/>
            <a:ext cx="4476750" cy="24193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E4F8C8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57A885D-83D1-4FD8-A7A2-E1733F827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14650"/>
            <a:ext cx="57150" cy="2419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DE650"/>
          </a:solidFill>
          <a:ln xmlns:a="http://schemas.openxmlformats.org/drawingml/2006/main" w="0">
            <a:solidFill>
              <a:srgbClr val="9DE650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576f2e745b4358">
            <a:extLst>
              <a:ext uri="{96DAC541-7B7A-43D3-8B79-37D633B846F1}">
                <asvg:svgBlip xmlns:asvg="http://schemas.microsoft.com/office/drawing/2016/SVG/main" r:embed="R2ec07465c7ed458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295400" y="327660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B578C42-480E-491D-BD36-763859133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314700"/>
            <a:ext cx="114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2033"/>
                </a:solidFill>
                <a:latin typeface="Bahnschrift SemiBold"/>
                <a:ea typeface="Bahnschrift SemiBold"/>
                <a:cs typeface="Bahnschrift SemiBold"/>
              </a:defRPr>
            </a:pPr>
            <a:r>
              <a:rPr sz="2250" b="1">
                <a:solidFill>
                  <a:srgbClr val="122033"/>
                </a:solidFill>
                <a:latin typeface="Bahnschrift SemiBold"/>
                <a:ea typeface="Bahnschrift SemiBold"/>
                <a:cs typeface="Bahnschrift SemiBold"/>
              </a:rPr>
              <a:t>IAM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5024470-3602-430C-ADD9-24C160B8D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82905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F4D5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F4D5F"/>
                </a:solidFill>
                <a:latin typeface="Aptos"/>
                <a:ea typeface="Aptos"/>
                <a:cs typeface="Aptos"/>
              </a:rPr>
              <a:t>Identity and Access Management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5E1AA6F-0DAE-4FD4-B26F-333947AB2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4196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DE650"/>
          </a:solidFill>
          <a:ln xmlns:a="http://schemas.openxmlformats.org/drawingml/2006/main" w="0">
            <a:solidFill>
              <a:srgbClr val="9DE65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A50CA19-DEAC-4471-8F4F-94733BFE8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343400"/>
            <a:ext cx="2647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Access control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0F0F954-9DB9-49CC-B263-2E3296A55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7244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DE650"/>
          </a:solidFill>
          <a:ln xmlns:a="http://schemas.openxmlformats.org/drawingml/2006/main" w="0">
            <a:solidFill>
              <a:srgbClr val="9DE65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002CB25-7245-41A8-A206-F75E751FD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648200"/>
            <a:ext cx="2647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Secure permissions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CB77CF0-8E1D-4843-A502-395F8EBD7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0292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DE650"/>
          </a:solidFill>
          <a:ln xmlns:a="http://schemas.openxmlformats.org/drawingml/2006/main" w="0">
            <a:solidFill>
              <a:srgbClr val="9DE65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12D75E2-6383-4E5F-98BB-86231DD00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953000"/>
            <a:ext cx="2647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Protect AWS resources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F0B1919-3861-45A3-802A-19314287D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2981325"/>
            <a:ext cx="4476750" cy="24193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99A7B4">
              <a:alpha val="1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13C7E96-EA47-4681-B2C1-D82A4F6AB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914650"/>
            <a:ext cx="4476750" cy="24193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DDF1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759876E-105C-4213-98EC-DFE133FE1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914650"/>
            <a:ext cx="57150" cy="2419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B6B2"/>
          </a:solidFill>
          <a:ln xmlns:a="http://schemas.openxmlformats.org/drawingml/2006/main" w="0">
            <a:solidFill>
              <a:srgbClr val="1FB6B2"/>
            </a:solidFill>
            <a:prstDash val="solid"/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348f80719542db">
            <a:extLst>
              <a:ext uri="{96DAC541-7B7A-43D3-8B79-37D633B846F1}">
                <asvg:svgBlip xmlns:asvg="http://schemas.microsoft.com/office/drawing/2016/SVG/main" r:embed="R2a26e2db9c53494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086600" y="327660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B616F73-F028-4F02-BF89-BEA408BF0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31470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2033"/>
                </a:solidFill>
                <a:latin typeface="Bahnschrift SemiBold"/>
                <a:ea typeface="Bahnschrift SemiBold"/>
                <a:cs typeface="Bahnschrift SemiBold"/>
              </a:defRPr>
            </a:pPr>
            <a:r>
              <a:rPr sz="2250" b="1">
                <a:solidFill>
                  <a:srgbClr val="122033"/>
                </a:solidFill>
                <a:latin typeface="Bahnschrift SemiBold"/>
                <a:ea typeface="Bahnschrift SemiBold"/>
                <a:cs typeface="Bahnschrift SemiBold"/>
              </a:rPr>
              <a:t>CloudWatch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634D837-FA24-4E78-B0A5-10BCB9F0B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829050"/>
            <a:ext cx="266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F4D5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F4D5F"/>
                </a:solidFill>
                <a:latin typeface="Aptos"/>
                <a:ea typeface="Aptos"/>
                <a:cs typeface="Aptos"/>
              </a:rPr>
              <a:t>Logs, metrics, and performance visibility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E55AFF3-5C29-46D8-9600-A00A70607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4196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B6B2"/>
          </a:solidFill>
          <a:ln xmlns:a="http://schemas.openxmlformats.org/drawingml/2006/main" w="0">
            <a:solidFill>
              <a:srgbClr val="1FB6B2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D4C2CF3-8E43-439F-BEEE-9C4888A62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343400"/>
            <a:ext cx="2647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Monitoring logs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43EB44D-66F4-4541-BA7A-E46BA667F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7244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B6B2"/>
          </a:solidFill>
          <a:ln xmlns:a="http://schemas.openxmlformats.org/drawingml/2006/main" w="0">
            <a:solidFill>
              <a:srgbClr val="1FB6B2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FDDE319-12D7-42D1-AA86-5DCD809FA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648200"/>
            <a:ext cx="2647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Error tracking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74056FC-092A-469E-80BB-545CA59F8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0292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B6B2"/>
          </a:solidFill>
          <a:ln xmlns:a="http://schemas.openxmlformats.org/drawingml/2006/main" w="0">
            <a:solidFill>
              <a:srgbClr val="1FB6B2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4B43DC7-9DC7-41D7-9441-9BF382FF5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953000"/>
            <a:ext cx="2647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Performance analysis</a:t>
            </a:r>
          </a:p>
        </p:txBody>
      </p:sp>
    </p:spTree>
    <p:extLst>
      <p:ext uri="{BB962C8B-B14F-4D97-AF65-F5344CB8AC3E}">
        <p14:creationId xmlns:p14="http://schemas.microsoft.com/office/powerpoint/2010/main" val="140972913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9A2EDBC-3297-4629-A54E-0061C3B6A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699FF2-A4C7-427E-9DC1-44D351711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C05B4C-63DF-47A7-A85E-69395C414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FB888E-A13B-468C-B3C6-C9F5E77ED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12395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2BE8CA-78F1-42C1-B420-ADC0EFC2E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12395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B3495B-8EC4-4A58-9A5D-4FD963833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12395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193185-856D-4BAA-A0DC-4BD898666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12395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4168E2-39DF-45AF-B273-231648B2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12395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01DC9C-F8C3-4430-8CCB-D25423C02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12395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C2A149-8A47-4203-85B7-702449B87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12395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62031E-93C7-4413-9C66-D52055CF9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12395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111100-89DD-4312-9BAB-C2A3E6110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12395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84AB10-5333-457A-A451-D5CF84508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12395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9CA108-21BD-4127-B927-2F23082F3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112395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C4927A-2F3C-4CAD-967E-6CD6E9220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112395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2DC47B-98BD-4CCB-B42E-C3D72AE49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82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D0E54C-5F7C-49A5-87EC-2726EFF2C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193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9D16B0-6F8E-413C-8B21-3E023F042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003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C10953-C74D-4709-955E-287D69829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5814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ED745E-F348-460C-8F63-7A17CA0D9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3624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F17CFA-A27B-47DC-BEC8-469F72B22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435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9918A8-2EC0-430A-8C5A-0B888CEE8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245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884240-889F-4130-9EA0-8949454BE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438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FB6B2"/>
                </a:solidFill>
                <a:latin typeface="Cascadia Code"/>
                <a:ea typeface="Cascadia Code"/>
                <a:cs typeface="Cascadia Code"/>
              </a:defRPr>
            </a:pPr>
            <a:r>
              <a:rPr sz="825" b="1">
                <a:solidFill>
                  <a:srgbClr val="1FB6B2"/>
                </a:solidFill>
                <a:latin typeface="Cascadia Code"/>
                <a:ea typeface="Cascadia Code"/>
                <a:cs typeface="Cascadia Code"/>
              </a:rPr>
              <a:t>ADVANTAGES + FUTURE SCOPE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45A088-6318-4627-98ED-78CCB2318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228600"/>
            <a:ext cx="7810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4F8C8"/>
          </a:solidFill>
          <a:ln xmlns:a="http://schemas.openxmlformats.org/drawingml/2006/main" w="9525">
            <a:solidFill>
              <a:srgbClr val="A7D86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932D1C-D201-4E37-B024-CEBE3DAE4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295275"/>
            <a:ext cx="781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22033"/>
                </a:solidFill>
                <a:latin typeface="Cascadia Code"/>
                <a:ea typeface="Cascadia Code"/>
                <a:cs typeface="Cascadia Code"/>
              </a:defRPr>
            </a:pPr>
            <a:r>
              <a:rPr sz="900" b="1">
                <a:solidFill>
                  <a:srgbClr val="122033"/>
                </a:solidFill>
                <a:latin typeface="Cascadia Code"/>
                <a:ea typeface="Cascadia Code"/>
                <a:cs typeface="Cascadia Code"/>
              </a:rPr>
              <a:t>AWS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5A6F82-C930-48A2-BE72-35AC059A5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7810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22033"/>
                </a:solidFill>
                <a:latin typeface="Bahnschrift SemiBold"/>
                <a:ea typeface="Bahnschrift SemiBold"/>
                <a:cs typeface="Bahnschrift SemiBold"/>
              </a:defRPr>
            </a:pPr>
            <a:r>
              <a:rPr sz="3000" b="1">
                <a:solidFill>
                  <a:srgbClr val="122033"/>
                </a:solidFill>
                <a:latin typeface="Bahnschrift SemiBold"/>
                <a:ea typeface="Bahnschrift SemiBold"/>
                <a:cs typeface="Bahnschrift SemiBold"/>
              </a:rPr>
              <a:t>Advantages and Future Scope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C39A39F-7D5F-4B1D-AE8B-CB3A332D3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71700"/>
            <a:ext cx="7524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F4D5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3F4D5F"/>
                </a:solidFill>
                <a:latin typeface="Aptos"/>
                <a:ea typeface="Aptos"/>
                <a:cs typeface="Aptos"/>
              </a:rPr>
              <a:t>The project is lightweight today and can grow into a richer analytics product.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A4F2250-B68F-405D-9CAD-B93182045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943225"/>
            <a:ext cx="447675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99A7B4">
              <a:alpha val="1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20D4DE9-2928-435F-82B2-59925ABFB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76550"/>
            <a:ext cx="447675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E4F8C8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CEF0FF3-5875-4360-BC78-EA94D0347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76550"/>
            <a:ext cx="57150" cy="2571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DE650"/>
          </a:solidFill>
          <a:ln xmlns:a="http://schemas.openxmlformats.org/drawingml/2006/main" w="0">
            <a:solidFill>
              <a:srgbClr val="9DE650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169b8014024c96">
            <a:extLst>
              <a:ext uri="{96DAC541-7B7A-43D3-8B79-37D633B846F1}">
                <asvg:svgBlip xmlns:asvg="http://schemas.microsoft.com/office/drawing/2016/SVG/main" r:embed="R2cd7ff8e4e354fa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276350" y="3238500"/>
            <a:ext cx="419100" cy="419100"/>
          </a:xfrm>
          <a:prstGeom xmlns:a="http://schemas.openxmlformats.org/drawingml/2006/main" prst="rect">
            <a:avLst/>
          </a:prstGeom>
        </p:spPr>
      </p:pic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F3217E7-CB37-4DCB-B097-02AB133AA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31470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22033"/>
                </a:solidFill>
                <a:latin typeface="Bahnschrift SemiBold"/>
                <a:ea typeface="Bahnschrift SemiBold"/>
                <a:cs typeface="Bahnschrift SemiBold"/>
              </a:defRPr>
            </a:pPr>
            <a:r>
              <a:rPr sz="1950" b="1">
                <a:solidFill>
                  <a:srgbClr val="122033"/>
                </a:solidFill>
                <a:latin typeface="Bahnschrift SemiBold"/>
                <a:ea typeface="Bahnschrift SemiBold"/>
                <a:cs typeface="Bahnschrift SemiBold"/>
              </a:rPr>
              <a:t>Advantages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00C9486-4496-40A6-BB2C-DE7209D53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0386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DE650"/>
          </a:solidFill>
          <a:ln xmlns:a="http://schemas.openxmlformats.org/drawingml/2006/main" w="0">
            <a:solidFill>
              <a:srgbClr val="9DE65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52DBE32-CE93-4601-9D16-9553A57B0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962400"/>
            <a:ext cx="2933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Fully serverless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0EDEDEC-9994-4A93-AB43-431583AA3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3243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DE650"/>
          </a:solidFill>
          <a:ln xmlns:a="http://schemas.openxmlformats.org/drawingml/2006/main" w="0">
            <a:solidFill>
              <a:srgbClr val="9DE65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3671597-03C9-4EA8-816E-CE2B55547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248150"/>
            <a:ext cx="2933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Cost efficient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4812C89-98B0-4BF7-8D85-C6C691662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6101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DE650"/>
          </a:solidFill>
          <a:ln xmlns:a="http://schemas.openxmlformats.org/drawingml/2006/main" w="0">
            <a:solidFill>
              <a:srgbClr val="9DE65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6C89A08-F729-40D3-BE23-DFD26A87F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533900"/>
            <a:ext cx="2933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Highly scalable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5EBE1CC-194D-4A5D-AE73-17036228C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8958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DE650"/>
          </a:solidFill>
          <a:ln xmlns:a="http://schemas.openxmlformats.org/drawingml/2006/main" w="0">
            <a:solidFill>
              <a:srgbClr val="9DE65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A0B2A3B-BC4C-4C02-8A10-7500409CC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819650"/>
            <a:ext cx="2933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Easy deployment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3A3EDA9-7EE7-4BCB-8668-0E73A96AA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1816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DE650"/>
          </a:solidFill>
          <a:ln xmlns:a="http://schemas.openxmlformats.org/drawingml/2006/main" w="0">
            <a:solidFill>
              <a:srgbClr val="9DE65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41A0DE3-BA3A-4BD0-865F-1F7DB02DB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105400"/>
            <a:ext cx="2933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Low maintenance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1E6C1E4-8D62-47C1-90A5-FB4B305EB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2943225"/>
            <a:ext cx="447675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99A7B4">
              <a:alpha val="1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009A789-830E-4EC9-8E26-7AEF9FD61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876550"/>
            <a:ext cx="447675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DDF1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447583E-2997-48A2-ACF1-4BA0D92C9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876550"/>
            <a:ext cx="57150" cy="2571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B6B2"/>
          </a:solidFill>
          <a:ln xmlns:a="http://schemas.openxmlformats.org/drawingml/2006/main" w="0">
            <a:solidFill>
              <a:srgbClr val="1FB6B2"/>
            </a:solidFill>
            <a:prstDash val="solid"/>
          </a:ln>
        </p:spPr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b7808cfe454bb2">
            <a:extLst>
              <a:ext uri="{96DAC541-7B7A-43D3-8B79-37D633B846F1}">
                <asvg:svgBlip xmlns:asvg="http://schemas.microsoft.com/office/drawing/2016/SVG/main" r:embed="Rc0a0ae2d985f49f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200900" y="3238500"/>
            <a:ext cx="419100" cy="419100"/>
          </a:xfrm>
          <a:prstGeom xmlns:a="http://schemas.openxmlformats.org/drawingml/2006/main" prst="rect">
            <a:avLst/>
          </a:prstGeom>
        </p:spPr>
      </p:pic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C6A7B20-4F57-4824-8082-AC780251E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1470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22033"/>
                </a:solidFill>
                <a:latin typeface="Bahnschrift SemiBold"/>
                <a:ea typeface="Bahnschrift SemiBold"/>
                <a:cs typeface="Bahnschrift SemiBold"/>
              </a:defRPr>
            </a:pPr>
            <a:r>
              <a:rPr sz="1950" b="1">
                <a:solidFill>
                  <a:srgbClr val="122033"/>
                </a:solidFill>
                <a:latin typeface="Bahnschrift SemiBold"/>
                <a:ea typeface="Bahnschrift SemiBold"/>
                <a:cs typeface="Bahnschrift SemiBold"/>
              </a:rPr>
              <a:t>Future Scope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57B9E7C-DA41-4AD0-AB82-BA0E2E87E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0386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B6B2"/>
          </a:solidFill>
          <a:ln xmlns:a="http://schemas.openxmlformats.org/drawingml/2006/main" w="0">
            <a:solidFill>
              <a:srgbClr val="1FB6B2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32D632F-A69D-4BBE-A216-080722F12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962400"/>
            <a:ext cx="3124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QR code support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6F4819F-1B17-4E05-AEA5-27BDB7338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3243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B6B2"/>
          </a:solidFill>
          <a:ln xmlns:a="http://schemas.openxmlformats.org/drawingml/2006/main" w="0">
            <a:solidFill>
              <a:srgbClr val="1FB6B2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9162E8B-75CB-4442-90F3-DF31DB3C3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48150"/>
            <a:ext cx="3124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Custom URLs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7D75512-F6A4-439A-ADB8-BB15FF089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6101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B6B2"/>
          </a:solidFill>
          <a:ln xmlns:a="http://schemas.openxmlformats.org/drawingml/2006/main" w="0">
            <a:solidFill>
              <a:srgbClr val="1FB6B2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E513360-9C96-4582-9A66-887652009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533900"/>
            <a:ext cx="3124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User authentication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0343CDA-BCFF-4D03-9AEC-82FB1B5A8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8958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B6B2"/>
          </a:solidFill>
          <a:ln xmlns:a="http://schemas.openxmlformats.org/drawingml/2006/main" w="0">
            <a:solidFill>
              <a:srgbClr val="1FB6B2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2A39EE7-FA9C-409A-8DFB-9801ACD4B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819650"/>
            <a:ext cx="3124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Geographic analytics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AC1387A-B0D0-42B8-ABEC-332786964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1816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B6B2"/>
          </a:solidFill>
          <a:ln xmlns:a="http://schemas.openxmlformats.org/drawingml/2006/main" w="0">
            <a:solidFill>
              <a:srgbClr val="1FB6B2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B524A0C-FCEC-420A-BE82-E68AA27FB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105400"/>
            <a:ext cx="3124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Admin dashboard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8A90527-2CF5-40CA-8C2B-727D4B466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810250"/>
            <a:ext cx="54864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6C85F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3F99E0B-221D-4246-A56D-78B7519C4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876925"/>
            <a:ext cx="5486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6C85F"/>
                </a:solidFill>
                <a:latin typeface="Cascadia Code"/>
                <a:ea typeface="Cascadia Code"/>
                <a:cs typeface="Cascadia Code"/>
              </a:defRPr>
            </a:pPr>
            <a:r>
              <a:rPr sz="825" b="1">
                <a:solidFill>
                  <a:srgbClr val="F6C85F"/>
                </a:solidFill>
                <a:latin typeface="Cascadia Code"/>
                <a:ea typeface="Cascadia Code"/>
                <a:cs typeface="Cascadia Code"/>
              </a:rPr>
              <a:t>NEXT ITERATION: richer dashboards + user accounts</a:t>
            </a:r>
          </a:p>
        </p:txBody>
      </p:sp>
    </p:spTree>
    <p:extLst>
      <p:ext uri="{BB962C8B-B14F-4D97-AF65-F5344CB8AC3E}">
        <p14:creationId xmlns:p14="http://schemas.microsoft.com/office/powerpoint/2010/main" val="4872169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D07687E-C2D8-4911-B1F0-D769377CE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25B83A-2F51-49B6-ADE1-87198DC08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53A086-DD4F-4FEE-9F72-37C2AFA55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26EFC2-2701-4531-9F26-72EF84AD1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12395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5CE994-3B9B-491E-AFAB-CA0DFD239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12395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73107D-87E5-4C26-9AD2-01A5D3985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12395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2A1097-6703-4D4F-8969-AC6B28073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12395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1D357D-517F-48CA-8072-AB501587C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12395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58F47C-23DB-45E4-9B0E-92713C9B0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12395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098B6A-3B6D-42E5-898A-AD76B3FB6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12395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2280CD-5E99-44E0-A1DF-70CFB9EB5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12395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4A79BD-6001-41CF-AA3A-C1ED3EF09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12395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11E681-998A-4477-AEDD-034DB3819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12395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60BEC9-846C-4750-8A28-12BF5E96B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112395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3CD3F9-5A73-4E35-8156-9774ABC3A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1123950"/>
            <a:ext cx="95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10EBA5-A5EC-440D-8BDA-C786DAC65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82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AD9DC0-7689-483E-8D48-3D4BB934B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193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C82DEB-E9BB-4962-B176-25263597E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003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B9C184-88FD-4DDB-896D-A1FC88B01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5814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956339-FD8E-40F3-9766-0C932D00A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3624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171304-875B-4A39-8E04-8E95F6EEB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435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19B0F3-7092-4B3B-B176-DDC84FC9F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245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E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8E0837-EA4D-44BA-86E5-5642A9288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438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FB6B2"/>
                </a:solidFill>
                <a:latin typeface="Cascadia Code"/>
                <a:ea typeface="Cascadia Code"/>
                <a:cs typeface="Cascadia Code"/>
              </a:defRPr>
            </a:pPr>
            <a:r>
              <a:rPr sz="825" b="1">
                <a:solidFill>
                  <a:srgbClr val="1FB6B2"/>
                </a:solidFill>
                <a:latin typeface="Cascadia Code"/>
                <a:ea typeface="Cascadia Code"/>
                <a:cs typeface="Cascadia Code"/>
              </a:rPr>
              <a:t>CONCLUSION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62BD77-11EB-464F-BBB1-AA55C30BB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228600"/>
            <a:ext cx="7810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4F8C8"/>
          </a:solidFill>
          <a:ln xmlns:a="http://schemas.openxmlformats.org/drawingml/2006/main" w="9525">
            <a:solidFill>
              <a:srgbClr val="A7D86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53885E-2068-48AF-9F1D-1AC7D2DA5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295275"/>
            <a:ext cx="781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22033"/>
                </a:solidFill>
                <a:latin typeface="Cascadia Code"/>
                <a:ea typeface="Cascadia Code"/>
                <a:cs typeface="Cascadia Code"/>
              </a:defRPr>
            </a:pPr>
            <a:r>
              <a:rPr sz="900" b="1">
                <a:solidFill>
                  <a:srgbClr val="122033"/>
                </a:solidFill>
                <a:latin typeface="Cascadia Code"/>
                <a:ea typeface="Cascadia Code"/>
                <a:cs typeface="Cascadia Code"/>
              </a:rPr>
              <a:t>AWS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E82BA4-31DE-4D76-9E6C-EED2365A1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7810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22033"/>
                </a:solidFill>
                <a:latin typeface="Bahnschrift SemiBold"/>
                <a:ea typeface="Bahnschrift SemiBold"/>
                <a:cs typeface="Bahnschrift SemiBold"/>
              </a:defRPr>
            </a:pPr>
            <a:r>
              <a:rPr sz="3000" b="1">
                <a:solidFill>
                  <a:srgbClr val="122033"/>
                </a:solidFill>
                <a:latin typeface="Bahnschrift SemiBold"/>
                <a:ea typeface="Bahnschrift SemiBold"/>
                <a:cs typeface="Bahnschrift SemiBold"/>
              </a:rPr>
              <a:t>Conclusion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D46066F-D146-474F-9E3D-EF05EEC17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71700"/>
            <a:ext cx="7524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F4D5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3F4D5F"/>
                </a:solidFill>
                <a:latin typeface="Aptos"/>
                <a:ea typeface="Aptos"/>
                <a:cs typeface="Aptos"/>
              </a:rPr>
              <a:t>AWS cloud services can be combined to build scalable and efficient serverless applications.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1003af1e4c4ad7">
            <a:extLst>
              <a:ext uri="{96DAC541-7B7A-43D3-8B79-37D633B846F1}">
                <asvg:svgBlip xmlns:asvg="http://schemas.microsoft.com/office/drawing/2016/SVG/main" r:embed="Rd0da2a49a9f84f4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867900" y="12573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F408CC5-9BA2-4408-8F78-B2AF5CB32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981325"/>
            <a:ext cx="4552950" cy="24003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99A7B4">
              <a:alpha val="1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7BE9557-4BD7-4A5B-9355-0E730E547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14650"/>
            <a:ext cx="4552950" cy="24003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DDF1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2AE58D2-EB53-4C2B-AB39-356BAAF1C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14650"/>
            <a:ext cx="57150" cy="2400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B6B2"/>
          </a:solidFill>
          <a:ln xmlns:a="http://schemas.openxmlformats.org/drawingml/2006/main" w="0">
            <a:solidFill>
              <a:srgbClr val="1FB6B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20E0669-DED0-4F90-A26B-BD338CDB5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333750"/>
            <a:ext cx="266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22033"/>
                </a:solidFill>
                <a:latin typeface="Bahnschrift SemiBold"/>
                <a:ea typeface="Bahnschrift SemiBold"/>
                <a:cs typeface="Bahnschrift SemiBold"/>
              </a:defRPr>
            </a:pPr>
            <a:r>
              <a:rPr sz="1950" b="1">
                <a:solidFill>
                  <a:srgbClr val="122033"/>
                </a:solidFill>
                <a:latin typeface="Bahnschrift SemiBold"/>
                <a:ea typeface="Bahnschrift SemiBold"/>
                <a:cs typeface="Bahnschrift SemiBold"/>
              </a:rPr>
              <a:t>Project Summary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CF3DD06-4458-4D76-8A80-4F42A76EF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05250"/>
            <a:ext cx="3143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F4D5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3F4D5F"/>
                </a:solidFill>
                <a:latin typeface="Aptos"/>
                <a:ea typeface="Aptos"/>
                <a:cs typeface="Aptos"/>
              </a:rPr>
              <a:t>The system shortens URLs, redirects users quickly, and records analytics using AWS serverless components.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AF8C99F-8D9A-4F55-80C8-E44D82347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914900"/>
            <a:ext cx="30099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B6B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F2B7FEC-7563-4BB0-9979-4AB95D9C3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981575"/>
            <a:ext cx="3009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FB6B2"/>
                </a:solidFill>
                <a:latin typeface="Cascadia Code"/>
                <a:ea typeface="Cascadia Code"/>
                <a:cs typeface="Cascadia Code"/>
              </a:defRPr>
            </a:pPr>
            <a:r>
              <a:rPr sz="825" b="1">
                <a:solidFill>
                  <a:srgbClr val="1FB6B2"/>
                </a:solidFill>
                <a:latin typeface="Cascadia Code"/>
                <a:ea typeface="Cascadia Code"/>
                <a:cs typeface="Cascadia Code"/>
              </a:rPr>
              <a:t>Serverless + Scalable + Observable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95D06CB-37F5-49EB-B565-053241C9F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981325"/>
            <a:ext cx="4552950" cy="24003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99A7B4">
              <a:alpha val="1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72CB753-0368-4479-8F8E-A199FD7A6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914650"/>
            <a:ext cx="4552950" cy="24003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E4F8C8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74BECB9-1EC7-46E6-B5F0-717BA6C75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914650"/>
            <a:ext cx="57150" cy="2400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DE650"/>
          </a:solidFill>
          <a:ln xmlns:a="http://schemas.openxmlformats.org/drawingml/2006/main" w="0">
            <a:solidFill>
              <a:srgbClr val="9DE65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1345FB2-74CA-4BBD-967A-4121E7A19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333750"/>
            <a:ext cx="266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22033"/>
                </a:solidFill>
                <a:latin typeface="Bahnschrift SemiBold"/>
                <a:ea typeface="Bahnschrift SemiBold"/>
                <a:cs typeface="Bahnschrift SemiBold"/>
              </a:defRPr>
            </a:pPr>
            <a:r>
              <a:rPr sz="1950" b="1">
                <a:solidFill>
                  <a:srgbClr val="122033"/>
                </a:solidFill>
                <a:latin typeface="Bahnschrift SemiBold"/>
                <a:ea typeface="Bahnschrift SemiBold"/>
                <a:cs typeface="Bahnschrift SemiBold"/>
              </a:rPr>
              <a:t>Key Learnings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8596AD5-0915-4C85-9327-DF4EBAC3D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0195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DE650"/>
          </a:solidFill>
          <a:ln xmlns:a="http://schemas.openxmlformats.org/drawingml/2006/main" w="0">
            <a:solidFill>
              <a:srgbClr val="9DE65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415BB36-7D6C-48F0-BF67-F33054E1C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943350"/>
            <a:ext cx="3028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Cloud computing concepts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C79F99A-A4BF-48E9-9056-C15E0719C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3434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DE650"/>
          </a:solidFill>
          <a:ln xmlns:a="http://schemas.openxmlformats.org/drawingml/2006/main" w="0">
            <a:solidFill>
              <a:srgbClr val="9DE650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B5475B5-5402-4BAB-93C1-32F9C07AE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267200"/>
            <a:ext cx="3028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Serverless architecture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D0CCA2C-8617-48EA-8280-FE7D0192A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6672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DE650"/>
          </a:solidFill>
          <a:ln xmlns:a="http://schemas.openxmlformats.org/drawingml/2006/main" w="0">
            <a:solidFill>
              <a:srgbClr val="9DE650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78F65C2-7E11-439B-B284-12D49BA75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591050"/>
            <a:ext cx="3028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AWS deployment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4B5E56C-34FE-47E6-9D3C-39F480A48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9911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DE650"/>
          </a:solidFill>
          <a:ln xmlns:a="http://schemas.openxmlformats.org/drawingml/2006/main" w="0">
            <a:solidFill>
              <a:srgbClr val="9DE650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9714942-3598-4C53-821E-CA18BEFD6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914900"/>
            <a:ext cx="3028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Monitoring and scalability</a:t>
            </a:r>
          </a:p>
        </p:txBody>
      </p:sp>
    </p:spTree>
    <p:extLst>
      <p:ext uri="{BB962C8B-B14F-4D97-AF65-F5344CB8AC3E}">
        <p14:creationId xmlns:p14="http://schemas.microsoft.com/office/powerpoint/2010/main" val="17204197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2026-05-21T16:32:17.0700000Z</dcterms:created>
  <dcterms:modified xsi:type="dcterms:W3CDTF">2026-05-21T16:32:17.0700000Z</dcterms:modified>
</coreProperties>
</file>