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96" d="100"/>
          <a:sy n="96" d="100"/>
        </p:scale>
        <p:origin x="49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9A94346A-E3C8-45CF-A597-15C108312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3B1A9-95BC-47F7-B3AF-D6DA5E2AB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E5F6D-C860-4720-A20F-1E4DC4B02BB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BA298-5280-491A-B0DB-873DC4DDE7D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2C92A-E0C2-46CF-BF10-1EF81DD425A1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0A452-CFBC-41F7-B16F-9D38DE8715F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48ADC-594E-41E3-9A0E-7F5CC72CB5A5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C0859-BDC2-4B4C-B026-FB094B11ED2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01426-78DC-4BC5-A46A-5A28765917C9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FE46A-727F-49BA-B02E-9DAC2D7F5E7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2B0D4F-8AFF-40AB-8EE8-4C49640105E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32F9DF-E7E5-43AA-AEB4-B3AD87074412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7A52BD-D8D3-4867-9D86-01EB818C96D2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79B5B7-89E1-43A8-A323-C05D0920BCD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89ADBE-8AA8-45DC-B83C-4435FF30052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AB4DF6-75C4-4897-8624-6B468630C0D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F6E7A1-B85F-413A-A510-C7D23E52272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A0BE65-8EC0-4F1F-8D86-3725E7BE7654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116CF8-3F07-4EC9-B2AC-2DE6CCEE2F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613867-F90B-4109-8B21-FF57049B9E5B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72AB40-E498-4E88-A1E0-C96E4BAA851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0FE256-F66C-482F-8AB6-5002D95E784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8CDC84-CA72-4906-82B9-240AF5C71A2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E8FB81-23DD-42D0-B6B7-3B984E9B38E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AB205B-B8A5-4117-8289-C9EC149C046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02041-E272-49CA-85B3-E8A060E74934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73CE98-336F-4C6F-AC3C-CBBF79A8408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C52367-6761-4660-9344-E832CF1D98F1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2EBF36-B9E5-48F9-9D11-3F1E2562E1B0}"/>
              </a:ext>
            </a:extLst>
          </p:cNvPr>
          <p:cNvSpPr>
            <a:spLocks noGrp="1"/>
          </p:cNvSpPr>
          <p:nvPr/>
        </p:nvSpPr>
        <p:spPr>
          <a:xfrm>
            <a:off x="590550" y="609600"/>
            <a:ext cx="65722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AI Game Move</a:t>
            </a:r>
          </a:p>
          <a:p>
            <a:pPr algn="l">
              <a:defRPr sz="42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Optimization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6FE13D-144C-4EEC-AA36-B2960921ABB8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628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Using algorithms to predict smart moves in Tic Tac Toe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93D2A56-6AD9-47BB-BD8C-6F88C3C464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B0DCD9B-3246-4168-919F-4A530F214D1C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081A25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BBFB7A-F4E2-4874-8EC1-BD3CB14701CD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Minimax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480E4F4-241F-4B89-84CF-646FFFA5F7A2}"/>
              </a:ext>
            </a:extLst>
          </p:cNvPr>
          <p:cNvSpPr>
            <a:spLocks noGrp="1"/>
          </p:cNvSpPr>
          <p:nvPr/>
        </p:nvSpPr>
        <p:spPr>
          <a:xfrm>
            <a:off x="2457450" y="3181350"/>
            <a:ext cx="22479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83968A7-A55C-46B0-9D49-A4210E22A4DB}"/>
              </a:ext>
            </a:extLst>
          </p:cNvPr>
          <p:cNvSpPr>
            <a:spLocks noGrp="1"/>
          </p:cNvSpPr>
          <p:nvPr/>
        </p:nvSpPr>
        <p:spPr>
          <a:xfrm>
            <a:off x="2400300" y="3105150"/>
            <a:ext cx="2247900" cy="400050"/>
          </a:xfrm>
          <a:prstGeom prst="roundRect">
            <a:avLst>
              <a:gd name="adj" fmla="val 19048"/>
            </a:avLst>
          </a:prstGeom>
          <a:solidFill>
            <a:srgbClr val="121427"/>
          </a:solidFill>
          <a:ln w="11430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07FBD9-1C66-45DF-9BA0-6BB3EDA8A7F1}"/>
              </a:ext>
            </a:extLst>
          </p:cNvPr>
          <p:cNvSpPr>
            <a:spLocks noGrp="1"/>
          </p:cNvSpPr>
          <p:nvPr/>
        </p:nvSpPr>
        <p:spPr>
          <a:xfrm>
            <a:off x="2533650" y="3190875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Alpha-Beta Pruning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306E047-E11F-4FA9-86AE-FA23D16EE5A0}"/>
              </a:ext>
            </a:extLst>
          </p:cNvPr>
          <p:cNvSpPr>
            <a:spLocks noGrp="1"/>
          </p:cNvSpPr>
          <p:nvPr/>
        </p:nvSpPr>
        <p:spPr>
          <a:xfrm>
            <a:off x="4895850" y="3181350"/>
            <a:ext cx="26289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7D57DC2-C81F-4783-A181-DBFBD37C7F5C}"/>
              </a:ext>
            </a:extLst>
          </p:cNvPr>
          <p:cNvSpPr>
            <a:spLocks noGrp="1"/>
          </p:cNvSpPr>
          <p:nvPr/>
        </p:nvSpPr>
        <p:spPr>
          <a:xfrm>
            <a:off x="4838700" y="3105150"/>
            <a:ext cx="2628900" cy="400050"/>
          </a:xfrm>
          <a:prstGeom prst="roundRect">
            <a:avLst>
              <a:gd name="adj" fmla="val 19048"/>
            </a:avLst>
          </a:prstGeom>
          <a:solidFill>
            <a:srgbClr val="102014"/>
          </a:solidFill>
          <a:ln w="1143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F22209-3345-4219-B284-580E607ACB4A}"/>
              </a:ext>
            </a:extLst>
          </p:cNvPr>
          <p:cNvSpPr>
            <a:spLocks noGrp="1"/>
          </p:cNvSpPr>
          <p:nvPr/>
        </p:nvSpPr>
        <p:spPr>
          <a:xfrm>
            <a:off x="4972050" y="3190875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Search Tree Optimization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43C5908-A45F-469E-B0C6-B5610EB3ED9F}"/>
              </a:ext>
            </a:extLst>
          </p:cNvPr>
          <p:cNvSpPr>
            <a:spLocks noGrp="1"/>
          </p:cNvSpPr>
          <p:nvPr/>
        </p:nvSpPr>
        <p:spPr>
          <a:xfrm>
            <a:off x="7867650" y="971550"/>
            <a:ext cx="3124200" cy="3124200"/>
          </a:xfrm>
          <a:prstGeom prst="roundRect">
            <a:avLst>
              <a:gd name="adj" fmla="val 2439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0F45BBD-24D5-41A3-A00F-C50F1D29A3AB}"/>
              </a:ext>
            </a:extLst>
          </p:cNvPr>
          <p:cNvSpPr>
            <a:spLocks noGrp="1"/>
          </p:cNvSpPr>
          <p:nvPr/>
        </p:nvSpPr>
        <p:spPr>
          <a:xfrm>
            <a:off x="7810500" y="895350"/>
            <a:ext cx="3124200" cy="3124200"/>
          </a:xfrm>
          <a:prstGeom prst="roundRect">
            <a:avLst>
              <a:gd name="adj" fmla="val 2439"/>
            </a:avLst>
          </a:prstGeom>
          <a:solidFill>
            <a:srgbClr val="0E1728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775BC33-89C7-496B-86FE-E01271D56401}"/>
              </a:ext>
            </a:extLst>
          </p:cNvPr>
          <p:cNvSpPr>
            <a:spLocks noGrp="1"/>
          </p:cNvSpPr>
          <p:nvPr/>
        </p:nvSpPr>
        <p:spPr>
          <a:xfrm>
            <a:off x="8420100" y="1485900"/>
            <a:ext cx="2019300" cy="2019300"/>
          </a:xfrm>
          <a:prstGeom prst="roundRect">
            <a:avLst>
              <a:gd name="adj" fmla="val 377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5238526-9D39-4985-9313-8E4213201BFC}"/>
              </a:ext>
            </a:extLst>
          </p:cNvPr>
          <p:cNvSpPr>
            <a:spLocks noGrp="1"/>
          </p:cNvSpPr>
          <p:nvPr/>
        </p:nvSpPr>
        <p:spPr>
          <a:xfrm>
            <a:off x="8362950" y="1409700"/>
            <a:ext cx="2019300" cy="2019300"/>
          </a:xfrm>
          <a:prstGeom prst="roundRect">
            <a:avLst>
              <a:gd name="adj" fmla="val 3774"/>
            </a:avLst>
          </a:prstGeom>
          <a:solidFill>
            <a:srgbClr val="0B1324"/>
          </a:solidFill>
          <a:ln w="14288">
            <a:solidFill>
              <a:srgbClr val="3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B3FBC6-6A32-49F2-AEAE-CCF22F2573D2}"/>
              </a:ext>
            </a:extLst>
          </p:cNvPr>
          <p:cNvSpPr>
            <a:spLocks noGrp="1"/>
          </p:cNvSpPr>
          <p:nvPr/>
        </p:nvSpPr>
        <p:spPr>
          <a:xfrm>
            <a:off x="9036050" y="1543050"/>
            <a:ext cx="28575" cy="17526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9C34C0-576B-4F33-B5D6-7D8BDF3555BF}"/>
              </a:ext>
            </a:extLst>
          </p:cNvPr>
          <p:cNvSpPr>
            <a:spLocks noGrp="1"/>
          </p:cNvSpPr>
          <p:nvPr/>
        </p:nvSpPr>
        <p:spPr>
          <a:xfrm>
            <a:off x="8496300" y="2082800"/>
            <a:ext cx="17526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D5FFA0-E807-43CE-B00D-26CF7600FDE5}"/>
              </a:ext>
            </a:extLst>
          </p:cNvPr>
          <p:cNvSpPr>
            <a:spLocks noGrp="1"/>
          </p:cNvSpPr>
          <p:nvPr/>
        </p:nvSpPr>
        <p:spPr>
          <a:xfrm>
            <a:off x="9709150" y="1543050"/>
            <a:ext cx="28575" cy="17526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6C193A-B6D3-4C81-9530-EB21D580E7E4}"/>
              </a:ext>
            </a:extLst>
          </p:cNvPr>
          <p:cNvSpPr>
            <a:spLocks noGrp="1"/>
          </p:cNvSpPr>
          <p:nvPr/>
        </p:nvSpPr>
        <p:spPr>
          <a:xfrm>
            <a:off x="8496300" y="2755900"/>
            <a:ext cx="17526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A592FF-C26D-4EB3-B30B-A3581568C59B}"/>
              </a:ext>
            </a:extLst>
          </p:cNvPr>
          <p:cNvSpPr>
            <a:spLocks noGrp="1"/>
          </p:cNvSpPr>
          <p:nvPr/>
        </p:nvSpPr>
        <p:spPr>
          <a:xfrm>
            <a:off x="8509000" y="151765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8DEC3D4-44AC-47FF-AEF2-715A29088846}"/>
              </a:ext>
            </a:extLst>
          </p:cNvPr>
          <p:cNvSpPr>
            <a:spLocks noGrp="1"/>
          </p:cNvSpPr>
          <p:nvPr/>
        </p:nvSpPr>
        <p:spPr>
          <a:xfrm>
            <a:off x="9182100" y="151765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BBC892-E07F-49B1-B290-7A4DD3F3FAEB}"/>
              </a:ext>
            </a:extLst>
          </p:cNvPr>
          <p:cNvSpPr>
            <a:spLocks noGrp="1"/>
          </p:cNvSpPr>
          <p:nvPr/>
        </p:nvSpPr>
        <p:spPr>
          <a:xfrm>
            <a:off x="9855200" y="151765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99970B-27BD-4A9B-BDB7-5918AB1CB927}"/>
              </a:ext>
            </a:extLst>
          </p:cNvPr>
          <p:cNvSpPr>
            <a:spLocks noGrp="1"/>
          </p:cNvSpPr>
          <p:nvPr/>
        </p:nvSpPr>
        <p:spPr>
          <a:xfrm>
            <a:off x="9182100" y="219075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D2E0D1-FD8E-47B6-A811-4D1727CBD1B0}"/>
              </a:ext>
            </a:extLst>
          </p:cNvPr>
          <p:cNvSpPr>
            <a:spLocks noGrp="1"/>
          </p:cNvSpPr>
          <p:nvPr/>
        </p:nvSpPr>
        <p:spPr>
          <a:xfrm>
            <a:off x="9855200" y="286385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CEC8F4F-23E8-47A4-B2A9-DC45D652BF69}"/>
              </a:ext>
            </a:extLst>
          </p:cNvPr>
          <p:cNvSpPr>
            <a:spLocks noGrp="1"/>
          </p:cNvSpPr>
          <p:nvPr/>
        </p:nvSpPr>
        <p:spPr>
          <a:xfrm>
            <a:off x="9020175" y="4352925"/>
            <a:ext cx="704850" cy="704850"/>
          </a:xfrm>
          <a:prstGeom prst="ellipse">
            <a:avLst/>
          </a:prstGeom>
          <a:solidFill>
            <a:srgbClr val="102014"/>
          </a:solidFill>
          <a:ln w="1905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287710-1A1C-4E4F-BC74-CAD0BC20B420}"/>
              </a:ext>
            </a:extLst>
          </p:cNvPr>
          <p:cNvSpPr>
            <a:spLocks noGrp="1"/>
          </p:cNvSpPr>
          <p:nvPr/>
        </p:nvSpPr>
        <p:spPr>
          <a:xfrm>
            <a:off x="9020175" y="4581525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ACD9745-E703-4B0E-ADCA-5A4872157A77}"/>
              </a:ext>
            </a:extLst>
          </p:cNvPr>
          <p:cNvSpPr>
            <a:spLocks noGrp="1"/>
          </p:cNvSpPr>
          <p:nvPr/>
        </p:nvSpPr>
        <p:spPr>
          <a:xfrm>
            <a:off x="9020175" y="5324475"/>
            <a:ext cx="704850" cy="704850"/>
          </a:xfrm>
          <a:prstGeom prst="ellipse">
            <a:avLst/>
          </a:prstGeom>
          <a:solidFill>
            <a:srgbClr val="19122D"/>
          </a:solidFill>
          <a:ln w="19050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08E174-57F6-4D5A-8987-2EFC16358A29}"/>
              </a:ext>
            </a:extLst>
          </p:cNvPr>
          <p:cNvSpPr>
            <a:spLocks noGrp="1"/>
          </p:cNvSpPr>
          <p:nvPr/>
        </p:nvSpPr>
        <p:spPr>
          <a:xfrm>
            <a:off x="9020175" y="5553075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D806829-FC1E-4993-AC1C-E04D04B2459F}"/>
              </a:ext>
            </a:extLst>
          </p:cNvPr>
          <p:cNvSpPr>
            <a:spLocks noGrp="1"/>
          </p:cNvSpPr>
          <p:nvPr/>
        </p:nvSpPr>
        <p:spPr>
          <a:xfrm rot="5400000">
            <a:off x="9248775" y="5172075"/>
            <a:ext cx="2476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BFA1F52-DA2F-4409-91AE-935E7950B823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62103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Core idea: evaluate future game states and select the move that maximizes winning chance while limiting the opponent.</a:t>
            </a:r>
          </a:p>
        </p:txBody>
      </p:sp>
    </p:spTree>
    <p:extLst>
      <p:ext uri="{BB962C8B-B14F-4D97-AF65-F5344CB8AC3E}">
        <p14:creationId xmlns:p14="http://schemas.microsoft.com/office/powerpoint/2010/main" val="149695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D20788C5-54C8-4EBA-86D4-1911DDC883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4F7B8-9C9B-437F-BA06-1295338F3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885DC5-430E-45A3-83F9-CD9D9BD2D056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F8A65-4FC8-4D7D-AEC3-2D76BBFB61C3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502A7-CE46-4FE4-939D-BC04623817E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4EEBE-D0A2-4FB2-8372-BAC74DDE06C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FD148-8B9A-4EE1-B1F7-7BC2BEE13028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38969-BCE9-422C-AD48-8F1C0E61BC2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F041D-8B9D-4920-96EF-BB94137111B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8D8BD-5B49-4602-AE23-3872058E3E5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1D281-7589-46C6-884A-F94EA9B2060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5B733-BA94-4520-B859-A987E2C20F78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B3630-9BE1-4F68-887B-DDF7C634936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81591-BB20-424C-970E-FB3326A76EC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6012A4-F7AF-46F7-925B-914107C5476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94DC4-261B-4478-87AD-003E894B80B8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E7AAF-FD3A-4872-8294-2796BC8108FD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8F939-18C4-4531-8F77-B312844E618A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FF80F-62D1-4DE9-AD9F-93829F2528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CF0E2-21D4-4107-A8FC-A96E81F9F097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9F2385-5F30-429F-8E6A-CB6A2D46F1F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1AAFDF-B10D-454B-A449-E122FC96E7F4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FA7C55-F13A-4924-A632-F0FF7A3DD87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3E7F90-3BBA-45BE-8223-38298E2C26E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B165F6-E9CB-456F-9457-DFA782BF532E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2A059E-C102-4892-A9FA-6980ED608622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A9CDBE-584E-4320-AA26-99B9612CED4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BFE592-86B0-4629-8F43-69645230CCF2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201560-F62D-485D-9D5F-790D3786CC6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Introduction to Game AI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97CB95-78E4-4E64-A06B-3DDC9465DA65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Game AI is decision-making logic that chooses actions based on goals, opponent behavior, and future outcomes.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102A5C-F221-41D2-9D7E-E0E6EDF0274E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423839-3AE3-4728-AA6C-1EEF35614715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E2CFEBC-E689-48CA-9D7D-F5154D014DAD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4095750" cy="2857500"/>
          </a:xfrm>
          <a:prstGeom prst="roundRect">
            <a:avLst>
              <a:gd name="adj" fmla="val 2667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0189FF7-8B39-4C29-90B6-6F5A33A27692}"/>
              </a:ext>
            </a:extLst>
          </p:cNvPr>
          <p:cNvSpPr>
            <a:spLocks noGrp="1"/>
          </p:cNvSpPr>
          <p:nvPr/>
        </p:nvSpPr>
        <p:spPr>
          <a:xfrm>
            <a:off x="685800" y="2425264"/>
            <a:ext cx="4095750" cy="2857500"/>
          </a:xfrm>
          <a:prstGeom prst="roundRect">
            <a:avLst>
              <a:gd name="adj" fmla="val 2667"/>
            </a:avLst>
          </a:prstGeom>
          <a:solidFill>
            <a:srgbClr val="101827"/>
          </a:solidFill>
          <a:ln w="14288">
            <a:solidFill>
              <a:srgbClr val="29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90B925-30C9-4440-9632-487384E96D86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How Game AI Thinks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520A4F-842F-4227-B09D-AC7ACD3AC160}"/>
              </a:ext>
            </a:extLst>
          </p:cNvPr>
          <p:cNvSpPr>
            <a:spLocks noGrp="1"/>
          </p:cNvSpPr>
          <p:nvPr/>
        </p:nvSpPr>
        <p:spPr>
          <a:xfrm>
            <a:off x="1047750" y="3438525"/>
            <a:ext cx="133350" cy="133350"/>
          </a:xfrm>
          <a:prstGeom prst="ellipse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4F86B-46FE-4D7E-B676-A8A78C865C9D}"/>
              </a:ext>
            </a:extLst>
          </p:cNvPr>
          <p:cNvSpPr>
            <a:spLocks noGrp="1"/>
          </p:cNvSpPr>
          <p:nvPr/>
        </p:nvSpPr>
        <p:spPr>
          <a:xfrm>
            <a:off x="1314450" y="337185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Represents the game as states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E197710-00BA-4C18-8425-ABAF6A86D330}"/>
              </a:ext>
            </a:extLst>
          </p:cNvPr>
          <p:cNvSpPr>
            <a:spLocks noGrp="1"/>
          </p:cNvSpPr>
          <p:nvPr/>
        </p:nvSpPr>
        <p:spPr>
          <a:xfrm>
            <a:off x="1047750" y="3914775"/>
            <a:ext cx="133350" cy="133350"/>
          </a:xfrm>
          <a:prstGeom prst="ellipse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52AA-7D14-4E0A-85F7-27CF27D4FB9F}"/>
              </a:ext>
            </a:extLst>
          </p:cNvPr>
          <p:cNvSpPr>
            <a:spLocks noGrp="1"/>
          </p:cNvSpPr>
          <p:nvPr/>
        </p:nvSpPr>
        <p:spPr>
          <a:xfrm>
            <a:off x="1314450" y="38481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Generates all legal actions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61EE6A6-30D6-45C6-BBDA-6B74EA593475}"/>
              </a:ext>
            </a:extLst>
          </p:cNvPr>
          <p:cNvSpPr>
            <a:spLocks noGrp="1"/>
          </p:cNvSpPr>
          <p:nvPr/>
        </p:nvSpPr>
        <p:spPr>
          <a:xfrm>
            <a:off x="1047750" y="4391025"/>
            <a:ext cx="133350" cy="133350"/>
          </a:xfrm>
          <a:prstGeom prst="ellipse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069686-BB87-4C2C-A3D8-88E1509A6BAC}"/>
              </a:ext>
            </a:extLst>
          </p:cNvPr>
          <p:cNvSpPr>
            <a:spLocks noGrp="1"/>
          </p:cNvSpPr>
          <p:nvPr/>
        </p:nvSpPr>
        <p:spPr>
          <a:xfrm>
            <a:off x="1314450" y="432435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Predicts opponent responses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1FAD67-C26D-4D76-BE05-E6C95FDE24E9}"/>
              </a:ext>
            </a:extLst>
          </p:cNvPr>
          <p:cNvSpPr>
            <a:spLocks noGrp="1"/>
          </p:cNvSpPr>
          <p:nvPr/>
        </p:nvSpPr>
        <p:spPr>
          <a:xfrm>
            <a:off x="1047750" y="4867275"/>
            <a:ext cx="133350" cy="133350"/>
          </a:xfrm>
          <a:prstGeom prst="ellipse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EF7B16-433F-49E1-9B28-128F56FF0ED2}"/>
              </a:ext>
            </a:extLst>
          </p:cNvPr>
          <p:cNvSpPr>
            <a:spLocks noGrp="1"/>
          </p:cNvSpPr>
          <p:nvPr/>
        </p:nvSpPr>
        <p:spPr>
          <a:xfrm>
            <a:off x="1314450" y="48006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Scores outcomes using utility values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2620565-1090-49BA-99F2-AAD5176428F9}"/>
              </a:ext>
            </a:extLst>
          </p:cNvPr>
          <p:cNvSpPr>
            <a:spLocks noGrp="1"/>
          </p:cNvSpPr>
          <p:nvPr/>
        </p:nvSpPr>
        <p:spPr>
          <a:xfrm>
            <a:off x="5391150" y="2438400"/>
            <a:ext cx="5353050" cy="2857500"/>
          </a:xfrm>
          <a:prstGeom prst="roundRect">
            <a:avLst>
              <a:gd name="adj" fmla="val 2667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19E095D-8976-4DB5-B396-3AFBCB3A7FDA}"/>
              </a:ext>
            </a:extLst>
          </p:cNvPr>
          <p:cNvSpPr>
            <a:spLocks noGrp="1"/>
          </p:cNvSpPr>
          <p:nvPr/>
        </p:nvSpPr>
        <p:spPr>
          <a:xfrm>
            <a:off x="5538234" y="2419350"/>
            <a:ext cx="5353050" cy="2857500"/>
          </a:xfrm>
          <a:prstGeom prst="roundRect">
            <a:avLst>
              <a:gd name="adj" fmla="val 2667"/>
            </a:avLst>
          </a:prstGeom>
          <a:solidFill>
            <a:srgbClr val="0D16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69BD015-E7E2-4173-BE58-A142B03CC20D}"/>
              </a:ext>
            </a:extLst>
          </p:cNvPr>
          <p:cNvSpPr>
            <a:spLocks noGrp="1"/>
          </p:cNvSpPr>
          <p:nvPr/>
        </p:nvSpPr>
        <p:spPr>
          <a:xfrm>
            <a:off x="5810250" y="29527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576070-9535-4963-BD55-4AAEA695BF45}"/>
              </a:ext>
            </a:extLst>
          </p:cNvPr>
          <p:cNvSpPr>
            <a:spLocks noGrp="1"/>
          </p:cNvSpPr>
          <p:nvPr/>
        </p:nvSpPr>
        <p:spPr>
          <a:xfrm>
            <a:off x="5753100" y="2876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0B1324"/>
          </a:solidFill>
          <a:ln w="14288">
            <a:solidFill>
              <a:srgbClr val="3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A9639C-06D2-4965-B45C-7A42A829F179}"/>
              </a:ext>
            </a:extLst>
          </p:cNvPr>
          <p:cNvSpPr>
            <a:spLocks noGrp="1"/>
          </p:cNvSpPr>
          <p:nvPr/>
        </p:nvSpPr>
        <p:spPr>
          <a:xfrm>
            <a:off x="6273800" y="3009900"/>
            <a:ext cx="28575" cy="12954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2AE0746-60BA-4543-9143-3B18A918721E}"/>
              </a:ext>
            </a:extLst>
          </p:cNvPr>
          <p:cNvSpPr>
            <a:spLocks noGrp="1"/>
          </p:cNvSpPr>
          <p:nvPr/>
        </p:nvSpPr>
        <p:spPr>
          <a:xfrm>
            <a:off x="5886450" y="3397250"/>
            <a:ext cx="12954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D7C0B5-5962-4801-B3E6-2C12B0CFF678}"/>
              </a:ext>
            </a:extLst>
          </p:cNvPr>
          <p:cNvSpPr>
            <a:spLocks noGrp="1"/>
          </p:cNvSpPr>
          <p:nvPr/>
        </p:nvSpPr>
        <p:spPr>
          <a:xfrm>
            <a:off x="6794500" y="3009900"/>
            <a:ext cx="28575" cy="12954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5FA97D9-A3EC-4F6A-AF06-325BB21748E1}"/>
              </a:ext>
            </a:extLst>
          </p:cNvPr>
          <p:cNvSpPr>
            <a:spLocks noGrp="1"/>
          </p:cNvSpPr>
          <p:nvPr/>
        </p:nvSpPr>
        <p:spPr>
          <a:xfrm>
            <a:off x="5886450" y="3917950"/>
            <a:ext cx="12954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EA4A44-17BC-48CC-AB7B-871A49849BBB}"/>
              </a:ext>
            </a:extLst>
          </p:cNvPr>
          <p:cNvSpPr>
            <a:spLocks noGrp="1"/>
          </p:cNvSpPr>
          <p:nvPr/>
        </p:nvSpPr>
        <p:spPr>
          <a:xfrm>
            <a:off x="5822950" y="29083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D4760-935D-4807-8292-5E0785D9BAF0}"/>
              </a:ext>
            </a:extLst>
          </p:cNvPr>
          <p:cNvSpPr>
            <a:spLocks noGrp="1"/>
          </p:cNvSpPr>
          <p:nvPr/>
        </p:nvSpPr>
        <p:spPr>
          <a:xfrm>
            <a:off x="6864350" y="29083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BA85C3-1F5D-43D7-A87C-7A9C84EBC972}"/>
              </a:ext>
            </a:extLst>
          </p:cNvPr>
          <p:cNvSpPr>
            <a:spLocks noGrp="1"/>
          </p:cNvSpPr>
          <p:nvPr/>
        </p:nvSpPr>
        <p:spPr>
          <a:xfrm>
            <a:off x="6343650" y="34290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77D69F-93E0-47CE-82CE-0E3A8F44DEDC}"/>
              </a:ext>
            </a:extLst>
          </p:cNvPr>
          <p:cNvSpPr>
            <a:spLocks noGrp="1"/>
          </p:cNvSpPr>
          <p:nvPr/>
        </p:nvSpPr>
        <p:spPr>
          <a:xfrm>
            <a:off x="5822950" y="39497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C7053F-51C0-43ED-8CA3-13AFDB6B4792}"/>
              </a:ext>
            </a:extLst>
          </p:cNvPr>
          <p:cNvSpPr>
            <a:spLocks noGrp="1"/>
          </p:cNvSpPr>
          <p:nvPr/>
        </p:nvSpPr>
        <p:spPr>
          <a:xfrm>
            <a:off x="7639050" y="3638550"/>
            <a:ext cx="106680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A66D964A-554E-4F26-88C3-EE6E7F921A21}"/>
              </a:ext>
            </a:extLst>
          </p:cNvPr>
          <p:cNvSpPr>
            <a:spLocks noGrp="1"/>
          </p:cNvSpPr>
          <p:nvPr/>
        </p:nvSpPr>
        <p:spPr>
          <a:xfrm rot="20069747">
            <a:off x="8667750" y="3552825"/>
            <a:ext cx="190500" cy="190500"/>
          </a:xfrm>
          <a:prstGeom prst="triangle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8A080D4-F08F-4F01-BCAA-8E0837896131}"/>
              </a:ext>
            </a:extLst>
          </p:cNvPr>
          <p:cNvSpPr>
            <a:spLocks noGrp="1"/>
          </p:cNvSpPr>
          <p:nvPr/>
        </p:nvSpPr>
        <p:spPr>
          <a:xfrm>
            <a:off x="9182100" y="29527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609B205-2FC8-4889-A45A-BD556B835874}"/>
              </a:ext>
            </a:extLst>
          </p:cNvPr>
          <p:cNvSpPr>
            <a:spLocks noGrp="1"/>
          </p:cNvSpPr>
          <p:nvPr/>
        </p:nvSpPr>
        <p:spPr>
          <a:xfrm>
            <a:off x="9124950" y="2876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0B1324"/>
          </a:solidFill>
          <a:ln w="14288">
            <a:solidFill>
              <a:srgbClr val="3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6EC04D5-B7F4-44E5-8226-3560A93CADA3}"/>
              </a:ext>
            </a:extLst>
          </p:cNvPr>
          <p:cNvSpPr>
            <a:spLocks noGrp="1"/>
          </p:cNvSpPr>
          <p:nvPr/>
        </p:nvSpPr>
        <p:spPr>
          <a:xfrm>
            <a:off x="9645650" y="3009900"/>
            <a:ext cx="28575" cy="12954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16680B4-084E-47A2-8037-7DE51F1AFE7C}"/>
              </a:ext>
            </a:extLst>
          </p:cNvPr>
          <p:cNvSpPr>
            <a:spLocks noGrp="1"/>
          </p:cNvSpPr>
          <p:nvPr/>
        </p:nvSpPr>
        <p:spPr>
          <a:xfrm>
            <a:off x="9258300" y="3397250"/>
            <a:ext cx="12954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6E78A0-4397-44D0-840D-DD40481EB636}"/>
              </a:ext>
            </a:extLst>
          </p:cNvPr>
          <p:cNvSpPr>
            <a:spLocks noGrp="1"/>
          </p:cNvSpPr>
          <p:nvPr/>
        </p:nvSpPr>
        <p:spPr>
          <a:xfrm>
            <a:off x="10166350" y="3009900"/>
            <a:ext cx="28575" cy="12954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C67751F-EF2A-4CC1-9BC5-C773CF5E1631}"/>
              </a:ext>
            </a:extLst>
          </p:cNvPr>
          <p:cNvSpPr>
            <a:spLocks noGrp="1"/>
          </p:cNvSpPr>
          <p:nvPr/>
        </p:nvSpPr>
        <p:spPr>
          <a:xfrm>
            <a:off x="9258300" y="3917950"/>
            <a:ext cx="129540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FAF8B6-CF58-46B8-872D-1B9F5BA5F34D}"/>
              </a:ext>
            </a:extLst>
          </p:cNvPr>
          <p:cNvSpPr>
            <a:spLocks noGrp="1"/>
          </p:cNvSpPr>
          <p:nvPr/>
        </p:nvSpPr>
        <p:spPr>
          <a:xfrm>
            <a:off x="9194800" y="29083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557EC66-1A0B-4ED7-ADF1-D51A5B853065}"/>
              </a:ext>
            </a:extLst>
          </p:cNvPr>
          <p:cNvSpPr>
            <a:spLocks noGrp="1"/>
          </p:cNvSpPr>
          <p:nvPr/>
        </p:nvSpPr>
        <p:spPr>
          <a:xfrm>
            <a:off x="10236200" y="29083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EDD1D5-B3BC-4BF9-8764-1BC3B754A064}"/>
              </a:ext>
            </a:extLst>
          </p:cNvPr>
          <p:cNvSpPr>
            <a:spLocks noGrp="1"/>
          </p:cNvSpPr>
          <p:nvPr/>
        </p:nvSpPr>
        <p:spPr>
          <a:xfrm>
            <a:off x="9715500" y="34290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85D9699-B6AA-4725-8308-CDA5FA89427B}"/>
              </a:ext>
            </a:extLst>
          </p:cNvPr>
          <p:cNvSpPr>
            <a:spLocks noGrp="1"/>
          </p:cNvSpPr>
          <p:nvPr/>
        </p:nvSpPr>
        <p:spPr>
          <a:xfrm>
            <a:off x="9194800" y="39497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C437BB6-77FD-4F3C-AC3C-C2D4B1073318}"/>
              </a:ext>
            </a:extLst>
          </p:cNvPr>
          <p:cNvSpPr>
            <a:spLocks noGrp="1"/>
          </p:cNvSpPr>
          <p:nvPr/>
        </p:nvSpPr>
        <p:spPr>
          <a:xfrm>
            <a:off x="10236200" y="3949700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C14B054-9EC9-494B-9978-7BD7DD27B550}"/>
              </a:ext>
            </a:extLst>
          </p:cNvPr>
          <p:cNvSpPr>
            <a:spLocks noGrp="1"/>
          </p:cNvSpPr>
          <p:nvPr/>
        </p:nvSpPr>
        <p:spPr>
          <a:xfrm>
            <a:off x="5772150" y="4591050"/>
            <a:ext cx="4972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Decision = choose the move with best future value</a:t>
            </a:r>
          </a:p>
        </p:txBody>
      </p:sp>
    </p:spTree>
    <p:extLst>
      <p:ext uri="{BB962C8B-B14F-4D97-AF65-F5344CB8AC3E}">
        <p14:creationId xmlns:p14="http://schemas.microsoft.com/office/powerpoint/2010/main" val="118658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15EC6DF2-D556-49E2-9E21-29E766D11F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F1C9C-A6BC-4AF8-BCA5-34B6B6CC91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E90774-1BA3-4A43-88FF-E542C60E1EE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3D68B-2121-4A56-8EAB-695E6C26DC8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1AF1D0-78D4-4CA1-B153-12E4E1A7F04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C8AED-0FE8-435F-8D71-4131260B800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67F55-B0D2-4E4E-ADE6-63DE85EED1B1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90943-0D9A-49D4-9272-4A793276F90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86D7B-21EC-4641-90E7-6FAC81B8A30E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7B75A-B107-4EFD-AA0A-1467EFEAC60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01A509-A859-40AC-9694-83F8970AD6F4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FE6691-9C3B-49E9-A285-21C3385210AF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51F4FC-F8F6-4B79-86F4-B26DC428367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524724-1B77-45FF-8BC9-1EC98153745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79C210-5337-4551-9301-A5A8BEC7559E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1FF08F-FE03-43D4-B035-92EEDEBF0027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55AB03-2F91-45E1-89FB-C33952AAEB6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2215C-BB93-4F60-8349-6C61581899B7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C5909-4C7B-422A-857F-7A4B18EE2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86636-F1F2-4591-B07A-111B666D03B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CE51-F218-42BA-B80E-F201D4D4A63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3F0E3D-9F35-45AE-A587-1BAAC85DA628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03A2AA-2439-4E0C-AA81-E75FA19F0AE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110C3B-765A-4548-8A0F-7E72816046B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CB43DB-B04F-40D5-BBA3-0DFD8E3BDA8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AAF17C-CFA6-4669-AC07-B372D8194C5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C8E3DC-8730-4690-96EB-2C52DFDC021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F50C8-80C2-4A07-81A1-36B262F5F6A4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B3631D-991F-4CBA-806D-ED35ABEEBFA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C1F01A-5A2F-4B22-97F0-FB535A56BD40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How can an AI choose the best move efficiently when the number of possible futures grows quickly?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04CD8F-898E-42A0-AAC4-0516B6BBCD0D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FC1FB2-258E-4C07-B2F3-520639CD6DB8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59A2183-FDB6-42FC-A545-4E1B055EC6B9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4762500" cy="3124200"/>
          </a:xfrm>
          <a:prstGeom prst="roundRect">
            <a:avLst>
              <a:gd name="adj" fmla="val 2439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8CA4077-3352-4685-A414-995A6BF4E327}"/>
              </a:ext>
            </a:extLst>
          </p:cNvPr>
          <p:cNvSpPr>
            <a:spLocks noGrp="1"/>
          </p:cNvSpPr>
          <p:nvPr/>
        </p:nvSpPr>
        <p:spPr>
          <a:xfrm>
            <a:off x="737658" y="2358587"/>
            <a:ext cx="4762500" cy="3124200"/>
          </a:xfrm>
          <a:prstGeom prst="roundRect">
            <a:avLst>
              <a:gd name="adj" fmla="val 2439"/>
            </a:avLst>
          </a:prstGeom>
          <a:solidFill>
            <a:srgbClr val="101827"/>
          </a:solidFill>
          <a:ln w="14288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2B6209-1ACE-4412-8DA4-B90B717D0B6A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64613E7-2AB9-484C-9C69-F3FBD3353F9D}"/>
              </a:ext>
            </a:extLst>
          </p:cNvPr>
          <p:cNvSpPr>
            <a:spLocks noGrp="1"/>
          </p:cNvSpPr>
          <p:nvPr/>
        </p:nvSpPr>
        <p:spPr>
          <a:xfrm>
            <a:off x="1162050" y="3248025"/>
            <a:ext cx="133350" cy="133350"/>
          </a:xfrm>
          <a:prstGeom prst="ellipse">
            <a:avLst/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8BFCC7-70D2-40FE-9FC2-F45582F09BD0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3448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 move creates many new game states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5F8DE4F-202B-4D0E-9003-4C1687859F25}"/>
              </a:ext>
            </a:extLst>
          </p:cNvPr>
          <p:cNvSpPr>
            <a:spLocks noGrp="1"/>
          </p:cNvSpPr>
          <p:nvPr/>
        </p:nvSpPr>
        <p:spPr>
          <a:xfrm>
            <a:off x="1162050" y="3781425"/>
            <a:ext cx="133350" cy="133350"/>
          </a:xfrm>
          <a:prstGeom prst="ellipse">
            <a:avLst/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531206-A1A7-4507-9ECB-B5BCD96AAD72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3448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Every opponent response adds more branches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D82056C-D17B-4E58-871D-576134000FD0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133350" cy="133350"/>
          </a:xfrm>
          <a:prstGeom prst="ellipse">
            <a:avLst/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D700FA-B09E-4BE8-8188-A8864DF0EC62}"/>
              </a:ext>
            </a:extLst>
          </p:cNvPr>
          <p:cNvSpPr>
            <a:spLocks noGrp="1"/>
          </p:cNvSpPr>
          <p:nvPr/>
        </p:nvSpPr>
        <p:spPr>
          <a:xfrm>
            <a:off x="1428750" y="4248150"/>
            <a:ext cx="3448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Full search can become expensive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AF10C47-D954-40C6-8B3E-FDB427100C27}"/>
              </a:ext>
            </a:extLst>
          </p:cNvPr>
          <p:cNvSpPr>
            <a:spLocks noGrp="1"/>
          </p:cNvSpPr>
          <p:nvPr/>
        </p:nvSpPr>
        <p:spPr>
          <a:xfrm>
            <a:off x="1162050" y="4848225"/>
            <a:ext cx="133350" cy="133350"/>
          </a:xfrm>
          <a:prstGeom prst="ellipse">
            <a:avLst/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43B1F8-B128-4A01-BC48-F14D4B735D20}"/>
              </a:ext>
            </a:extLst>
          </p:cNvPr>
          <p:cNvSpPr>
            <a:spLocks noGrp="1"/>
          </p:cNvSpPr>
          <p:nvPr/>
        </p:nvSpPr>
        <p:spPr>
          <a:xfrm>
            <a:off x="1428750" y="4781550"/>
            <a:ext cx="3448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Optimization is needed before the AI can scale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25E1EFD-4CBC-4EAF-90C8-9F68E9CFF6FD}"/>
              </a:ext>
            </a:extLst>
          </p:cNvPr>
          <p:cNvSpPr>
            <a:spLocks noGrp="1"/>
          </p:cNvSpPr>
          <p:nvPr/>
        </p:nvSpPr>
        <p:spPr>
          <a:xfrm>
            <a:off x="6286500" y="2324100"/>
            <a:ext cx="4610100" cy="3124200"/>
          </a:xfrm>
          <a:prstGeom prst="roundRect">
            <a:avLst>
              <a:gd name="adj" fmla="val 2439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6820B19-14EE-4CAE-86AA-DF21A71908EE}"/>
              </a:ext>
            </a:extLst>
          </p:cNvPr>
          <p:cNvSpPr>
            <a:spLocks noGrp="1"/>
          </p:cNvSpPr>
          <p:nvPr/>
        </p:nvSpPr>
        <p:spPr>
          <a:xfrm>
            <a:off x="6286499" y="2182210"/>
            <a:ext cx="5362575" cy="3124200"/>
          </a:xfrm>
          <a:prstGeom prst="roundRect">
            <a:avLst>
              <a:gd name="adj" fmla="val 2439"/>
            </a:avLst>
          </a:prstGeom>
          <a:solidFill>
            <a:srgbClr val="0E1728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15F382-90E8-4DC4-8C36-6AD415B0F27B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State-Space Growth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D71D92-CFAD-4AA7-A473-7FD78835F5D0}"/>
              </a:ext>
            </a:extLst>
          </p:cNvPr>
          <p:cNvSpPr>
            <a:spLocks noGrp="1"/>
          </p:cNvSpPr>
          <p:nvPr/>
        </p:nvSpPr>
        <p:spPr>
          <a:xfrm>
            <a:off x="6572250" y="33147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Depth 1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7B29324-AE66-4096-8DD1-5E785A31CF09}"/>
              </a:ext>
            </a:extLst>
          </p:cNvPr>
          <p:cNvSpPr>
            <a:spLocks noGrp="1"/>
          </p:cNvSpPr>
          <p:nvPr/>
        </p:nvSpPr>
        <p:spPr>
          <a:xfrm>
            <a:off x="9010650" y="340995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716268D-CB36-45B8-A196-539A63432C07}"/>
              </a:ext>
            </a:extLst>
          </p:cNvPr>
          <p:cNvSpPr>
            <a:spLocks noGrp="1"/>
          </p:cNvSpPr>
          <p:nvPr/>
        </p:nvSpPr>
        <p:spPr>
          <a:xfrm>
            <a:off x="8953500" y="333375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98F889D-F102-4F49-8C09-E090797CE3B6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24367" cy="133350"/>
          </a:xfrm>
          <a:prstGeom prst="roundRect">
            <a:avLst>
              <a:gd name="adj" fmla="val 50000"/>
            </a:avLst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325C73-E5AB-461D-A1F2-0E186E04616F}"/>
              </a:ext>
            </a:extLst>
          </p:cNvPr>
          <p:cNvSpPr>
            <a:spLocks noGrp="1"/>
          </p:cNvSpPr>
          <p:nvPr/>
        </p:nvSpPr>
        <p:spPr>
          <a:xfrm>
            <a:off x="11201400" y="331470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EB3DFA-6767-4ECD-B5C8-C6639B7D3EB3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Depth 2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19A5EE0-D326-4E2D-80C7-202D08E91DEE}"/>
              </a:ext>
            </a:extLst>
          </p:cNvPr>
          <p:cNvSpPr>
            <a:spLocks noGrp="1"/>
          </p:cNvSpPr>
          <p:nvPr/>
        </p:nvSpPr>
        <p:spPr>
          <a:xfrm>
            <a:off x="9010650" y="396240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8890BA7-5E30-4141-8B09-CEC1740548C5}"/>
              </a:ext>
            </a:extLst>
          </p:cNvPr>
          <p:cNvSpPr>
            <a:spLocks noGrp="1"/>
          </p:cNvSpPr>
          <p:nvPr/>
        </p:nvSpPr>
        <p:spPr>
          <a:xfrm>
            <a:off x="8953500" y="388620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69B1F4A-8FCE-4B67-8362-95B47F2F4EF4}"/>
              </a:ext>
            </a:extLst>
          </p:cNvPr>
          <p:cNvSpPr>
            <a:spLocks noGrp="1"/>
          </p:cNvSpPr>
          <p:nvPr/>
        </p:nvSpPr>
        <p:spPr>
          <a:xfrm>
            <a:off x="8991600" y="3924300"/>
            <a:ext cx="1794933" cy="133350"/>
          </a:xfrm>
          <a:prstGeom prst="roundRect">
            <a:avLst>
              <a:gd name="adj" fmla="val 50000"/>
            </a:avLst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3A4F5E-66AE-46C8-9BEC-0D6154B0FD8A}"/>
              </a:ext>
            </a:extLst>
          </p:cNvPr>
          <p:cNvSpPr>
            <a:spLocks noGrp="1"/>
          </p:cNvSpPr>
          <p:nvPr/>
        </p:nvSpPr>
        <p:spPr>
          <a:xfrm>
            <a:off x="11201400" y="3867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E2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E2E6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6B8857-BDD7-481F-8E77-B4E313E47924}"/>
              </a:ext>
            </a:extLst>
          </p:cNvPr>
          <p:cNvSpPr>
            <a:spLocks noGrp="1"/>
          </p:cNvSpPr>
          <p:nvPr/>
        </p:nvSpPr>
        <p:spPr>
          <a:xfrm>
            <a:off x="6572250" y="44196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Depth 3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E0831505-D232-4A1C-BC10-FF8743F4657D}"/>
              </a:ext>
            </a:extLst>
          </p:cNvPr>
          <p:cNvSpPr>
            <a:spLocks noGrp="1"/>
          </p:cNvSpPr>
          <p:nvPr/>
        </p:nvSpPr>
        <p:spPr>
          <a:xfrm>
            <a:off x="9010650" y="451485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CCF8E0D-0B09-4474-B6B2-58840316F4BE}"/>
              </a:ext>
            </a:extLst>
          </p:cNvPr>
          <p:cNvSpPr>
            <a:spLocks noGrp="1"/>
          </p:cNvSpPr>
          <p:nvPr/>
        </p:nvSpPr>
        <p:spPr>
          <a:xfrm>
            <a:off x="8953500" y="4438650"/>
            <a:ext cx="209550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0626D91-543C-401D-8F01-7BA3E84D9B77}"/>
              </a:ext>
            </a:extLst>
          </p:cNvPr>
          <p:cNvSpPr>
            <a:spLocks noGrp="1"/>
          </p:cNvSpPr>
          <p:nvPr/>
        </p:nvSpPr>
        <p:spPr>
          <a:xfrm>
            <a:off x="8991600" y="4476750"/>
            <a:ext cx="2019300" cy="133350"/>
          </a:xfrm>
          <a:prstGeom prst="roundRect">
            <a:avLst>
              <a:gd name="adj" fmla="val 50000"/>
            </a:avLst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598A15B-E639-4993-80CF-F5E58C16DF9B}"/>
              </a:ext>
            </a:extLst>
          </p:cNvPr>
          <p:cNvSpPr>
            <a:spLocks noGrp="1"/>
          </p:cNvSpPr>
          <p:nvPr/>
        </p:nvSpPr>
        <p:spPr>
          <a:xfrm>
            <a:off x="11201400" y="441960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F1B140-9BFA-460B-9799-E15DCEA3FF1D}"/>
              </a:ext>
            </a:extLst>
          </p:cNvPr>
          <p:cNvSpPr>
            <a:spLocks noGrp="1"/>
          </p:cNvSpPr>
          <p:nvPr/>
        </p:nvSpPr>
        <p:spPr>
          <a:xfrm>
            <a:off x="6484222" y="4847244"/>
            <a:ext cx="5314294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Repeated game-state evaluation motivates pruning and smarter search.</a:t>
            </a:r>
          </a:p>
        </p:txBody>
      </p:sp>
    </p:spTree>
    <p:extLst>
      <p:ext uri="{BB962C8B-B14F-4D97-AF65-F5344CB8AC3E}">
        <p14:creationId xmlns:p14="http://schemas.microsoft.com/office/powerpoint/2010/main" val="173749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50AD6F16-022F-473F-8952-F57F1ADDA9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0DF9A5-C55D-47BC-89F3-41FE06DF18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968D80-9CE8-4009-ABBD-B0C3D789327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7E18B-5199-4C46-A091-16E12129AE36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399B1-B273-4A85-B5E0-F2B6EB662FE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65B0F-5D8A-48C3-AA27-ADF50D627C7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31364-FC2D-434E-A34F-EC668C2E439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C0CF4-7762-49EC-B757-8E78DFF6594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04AC9-11DA-4139-B74F-7A839450316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60DFAD-6EBB-4928-8084-6675DF618E2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378A1-1BDB-47C3-AF06-FDF00EEFBE5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DA5878-82AB-4829-9EB8-718681D3FDE1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9B133-6884-467C-9A42-C71D336D5619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FC1C4-9782-42B5-AC5E-F8E4CBE01F9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D3D077-AB99-421E-8EBE-82C2C49B641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9AC10-7537-4F92-9350-2F589A916F7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B0D2A9-DB19-4D0C-BF84-E645F27C407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A554D-4FA3-4EB8-819F-E2C1E311D830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C00A46-44E5-457B-9587-90792173CD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6DB474-F238-4139-A42F-D8987903E862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1A569A-17DF-4D85-B295-9BE3D854D61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FD0158-CA6D-4C7C-8444-CA0B03CFC816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FE0172-DA6A-4BC0-B6C1-C7588DDE0C1D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804E16-1A4F-46E0-8D60-40ED9D0A341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AAFA7F-A096-4658-A1E7-B1038C5555B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575E40-C81F-4BD4-971F-7D1A08C4B39D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B0A03-A06F-48E8-9478-AA50F633B5F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284EE7-0378-4ECB-8FE9-8C917E0F7432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9619E-5525-42E0-8FB6-AC1000957E7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Minimax Algorithm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817C1F-00C6-4BBC-B2AC-DBD0259C1EF8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Minimax explores possible moves recursively and assumes both players make optimal decisions.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DBE9EC-2381-4DED-9BAF-47E2BDBB00B9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84FD26-95CE-492D-8574-0C12E9EBAEAC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0332E9C-9301-455C-9027-5A3D31C6B915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4000500" cy="3219450"/>
          </a:xfrm>
          <a:prstGeom prst="roundRect">
            <a:avLst>
              <a:gd name="adj" fmla="val 2367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E990901-314B-409E-AB12-3D796F9AAEF1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4000500" cy="3219450"/>
          </a:xfrm>
          <a:prstGeom prst="roundRect">
            <a:avLst>
              <a:gd name="adj" fmla="val 2367"/>
            </a:avLst>
          </a:prstGeom>
          <a:solidFill>
            <a:srgbClr val="1018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397831-711E-4492-8414-6597759FA47E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Working Principle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589239-609E-45D9-95CC-7A5B3B96E2A5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31623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MAX player maximizes score.</a:t>
            </a:r>
          </a:p>
          <a:p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MIN player minimizes score.</a:t>
            </a:r>
          </a:p>
          <a:p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The root move with the best backed-up value is selected.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C403DD3-E0FA-4E05-BAD4-D15A7E551EAB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FB31270-E24B-44A3-BDEE-63E7AE4FA116}"/>
              </a:ext>
            </a:extLst>
          </p:cNvPr>
          <p:cNvSpPr>
            <a:spLocks noGrp="1"/>
          </p:cNvSpPr>
          <p:nvPr/>
        </p:nvSpPr>
        <p:spPr>
          <a:xfrm>
            <a:off x="971550" y="4476628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B1324"/>
          </a:solidFill>
          <a:ln w="1143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3642EC-1013-4A1A-8FE5-DB4F3DEE675A}"/>
              </a:ext>
            </a:extLst>
          </p:cNvPr>
          <p:cNvSpPr>
            <a:spLocks noGrp="1"/>
          </p:cNvSpPr>
          <p:nvPr/>
        </p:nvSpPr>
        <p:spPr>
          <a:xfrm>
            <a:off x="1104900" y="4590929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Win = +1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2254389-8A38-47D2-8609-0B2193CA89C0}"/>
              </a:ext>
            </a:extLst>
          </p:cNvPr>
          <p:cNvSpPr>
            <a:spLocks noGrp="1"/>
          </p:cNvSpPr>
          <p:nvPr/>
        </p:nvSpPr>
        <p:spPr>
          <a:xfrm>
            <a:off x="2438400" y="47434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947FA38-2F50-4C43-A5D8-A60BAF394228}"/>
              </a:ext>
            </a:extLst>
          </p:cNvPr>
          <p:cNvSpPr>
            <a:spLocks noGrp="1"/>
          </p:cNvSpPr>
          <p:nvPr/>
        </p:nvSpPr>
        <p:spPr>
          <a:xfrm>
            <a:off x="2381250" y="46672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B1324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0761F1-5652-4D37-ACA9-7542AA53696D}"/>
              </a:ext>
            </a:extLst>
          </p:cNvPr>
          <p:cNvSpPr>
            <a:spLocks noGrp="1"/>
          </p:cNvSpPr>
          <p:nvPr/>
        </p:nvSpPr>
        <p:spPr>
          <a:xfrm>
            <a:off x="2514600" y="4752975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Draw = 0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DB69DDD-5321-4392-8CAC-A553B5A87528}"/>
              </a:ext>
            </a:extLst>
          </p:cNvPr>
          <p:cNvSpPr>
            <a:spLocks noGrp="1"/>
          </p:cNvSpPr>
          <p:nvPr/>
        </p:nvSpPr>
        <p:spPr>
          <a:xfrm>
            <a:off x="1028700" y="50863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61CF206-4306-4747-ABB3-A6B6346042D0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0B1324"/>
          </a:solidFill>
          <a:ln w="11430">
            <a:solidFill>
              <a:srgbClr val="FF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66D2C6-0F4F-4FBB-93EF-24EFA667CADC}"/>
              </a:ext>
            </a:extLst>
          </p:cNvPr>
          <p:cNvSpPr>
            <a:spLocks noGrp="1"/>
          </p:cNvSpPr>
          <p:nvPr/>
        </p:nvSpPr>
        <p:spPr>
          <a:xfrm>
            <a:off x="1104900" y="5095875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Loss = -1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76158A8-7728-4184-A732-B8C18D507069}"/>
              </a:ext>
            </a:extLst>
          </p:cNvPr>
          <p:cNvSpPr>
            <a:spLocks noGrp="1"/>
          </p:cNvSpPr>
          <p:nvPr/>
        </p:nvSpPr>
        <p:spPr>
          <a:xfrm>
            <a:off x="5219700" y="2324100"/>
            <a:ext cx="5943600" cy="3219450"/>
          </a:xfrm>
          <a:prstGeom prst="roundRect">
            <a:avLst>
              <a:gd name="adj" fmla="val 2367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DA68C86-2D88-41C1-BEEC-B7E265AD55A8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5943600" cy="3219450"/>
          </a:xfrm>
          <a:prstGeom prst="roundRect">
            <a:avLst>
              <a:gd name="adj" fmla="val 2367"/>
            </a:avLst>
          </a:prstGeom>
          <a:solidFill>
            <a:srgbClr val="0C1424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5E35F45-8415-4E42-80A9-BA0E84E641A5}"/>
              </a:ext>
            </a:extLst>
          </p:cNvPr>
          <p:cNvSpPr>
            <a:spLocks noGrp="1"/>
          </p:cNvSpPr>
          <p:nvPr/>
        </p:nvSpPr>
        <p:spPr>
          <a:xfrm rot="9591822">
            <a:off x="6954144" y="3167063"/>
            <a:ext cx="1217413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1C4D75-B137-4454-A0B6-516C9B3953B8}"/>
              </a:ext>
            </a:extLst>
          </p:cNvPr>
          <p:cNvSpPr>
            <a:spLocks noGrp="1"/>
          </p:cNvSpPr>
          <p:nvPr/>
        </p:nvSpPr>
        <p:spPr>
          <a:xfrm rot="1208178">
            <a:off x="8097144" y="3167063"/>
            <a:ext cx="1217413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63BB9A-D096-49D9-A9FD-7994C337CCC9}"/>
              </a:ext>
            </a:extLst>
          </p:cNvPr>
          <p:cNvSpPr>
            <a:spLocks noGrp="1"/>
          </p:cNvSpPr>
          <p:nvPr/>
        </p:nvSpPr>
        <p:spPr>
          <a:xfrm rot="8431652">
            <a:off x="6247967" y="4157663"/>
            <a:ext cx="83906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766C8A-1567-41A9-92E7-426A137DF275}"/>
              </a:ext>
            </a:extLst>
          </p:cNvPr>
          <p:cNvSpPr>
            <a:spLocks noGrp="1"/>
          </p:cNvSpPr>
          <p:nvPr/>
        </p:nvSpPr>
        <p:spPr>
          <a:xfrm rot="2581504">
            <a:off x="6886227" y="4157663"/>
            <a:ext cx="78174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6A3823-F3F1-4DAA-852D-C928B99F2EAA}"/>
              </a:ext>
            </a:extLst>
          </p:cNvPr>
          <p:cNvSpPr>
            <a:spLocks noGrp="1"/>
          </p:cNvSpPr>
          <p:nvPr/>
        </p:nvSpPr>
        <p:spPr>
          <a:xfrm rot="8431652">
            <a:off x="8533967" y="4157663"/>
            <a:ext cx="83906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F25E82-F572-4689-AAD0-CCEF31BF0F12}"/>
              </a:ext>
            </a:extLst>
          </p:cNvPr>
          <p:cNvSpPr>
            <a:spLocks noGrp="1"/>
          </p:cNvSpPr>
          <p:nvPr/>
        </p:nvSpPr>
        <p:spPr>
          <a:xfrm rot="2581504">
            <a:off x="9172227" y="4157663"/>
            <a:ext cx="78174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13DEBCF-A743-4776-BC14-F073CB2AE78D}"/>
              </a:ext>
            </a:extLst>
          </p:cNvPr>
          <p:cNvSpPr>
            <a:spLocks noGrp="1"/>
          </p:cNvSpPr>
          <p:nvPr/>
        </p:nvSpPr>
        <p:spPr>
          <a:xfrm>
            <a:off x="7829550" y="2419350"/>
            <a:ext cx="609600" cy="609600"/>
          </a:xfrm>
          <a:prstGeom prst="ellipse">
            <a:avLst/>
          </a:prstGeom>
          <a:solidFill>
            <a:srgbClr val="13253D"/>
          </a:solidFill>
          <a:ln w="1905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F1D133-9CB1-4248-A378-D6D67057F936}"/>
              </a:ext>
            </a:extLst>
          </p:cNvPr>
          <p:cNvSpPr>
            <a:spLocks noGrp="1"/>
          </p:cNvSpPr>
          <p:nvPr/>
        </p:nvSpPr>
        <p:spPr>
          <a:xfrm>
            <a:off x="7829550" y="26003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D9D21A9-0586-4E18-857F-D0F9293EB6FA}"/>
              </a:ext>
            </a:extLst>
          </p:cNvPr>
          <p:cNvSpPr>
            <a:spLocks noGrp="1"/>
          </p:cNvSpPr>
          <p:nvPr/>
        </p:nvSpPr>
        <p:spPr>
          <a:xfrm>
            <a:off x="6686550" y="3333750"/>
            <a:ext cx="609600" cy="609600"/>
          </a:xfrm>
          <a:prstGeom prst="ellipse">
            <a:avLst/>
          </a:prstGeom>
          <a:solidFill>
            <a:srgbClr val="13253D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50888C-C10C-4EE5-93E8-BE6336D6EBB5}"/>
              </a:ext>
            </a:extLst>
          </p:cNvPr>
          <p:cNvSpPr>
            <a:spLocks noGrp="1"/>
          </p:cNvSpPr>
          <p:nvPr/>
        </p:nvSpPr>
        <p:spPr>
          <a:xfrm>
            <a:off x="6686550" y="35147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CAA4D4-BCA7-4C87-98FB-B232F75C7E53}"/>
              </a:ext>
            </a:extLst>
          </p:cNvPr>
          <p:cNvSpPr>
            <a:spLocks noGrp="1"/>
          </p:cNvSpPr>
          <p:nvPr/>
        </p:nvSpPr>
        <p:spPr>
          <a:xfrm>
            <a:off x="8972550" y="3333750"/>
            <a:ext cx="609600" cy="609600"/>
          </a:xfrm>
          <a:prstGeom prst="ellipse">
            <a:avLst/>
          </a:prstGeom>
          <a:solidFill>
            <a:srgbClr val="13253D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6B4133-7312-4459-91BD-89F706E9C218}"/>
              </a:ext>
            </a:extLst>
          </p:cNvPr>
          <p:cNvSpPr>
            <a:spLocks noGrp="1"/>
          </p:cNvSpPr>
          <p:nvPr/>
        </p:nvSpPr>
        <p:spPr>
          <a:xfrm>
            <a:off x="8972550" y="35147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D3B5B48-B438-4A66-8B5A-FEF86B7C8BAA}"/>
              </a:ext>
            </a:extLst>
          </p:cNvPr>
          <p:cNvSpPr>
            <a:spLocks noGrp="1"/>
          </p:cNvSpPr>
          <p:nvPr/>
        </p:nvSpPr>
        <p:spPr>
          <a:xfrm>
            <a:off x="6086475" y="4429125"/>
            <a:ext cx="514350" cy="514350"/>
          </a:xfrm>
          <a:prstGeom prst="ellipse">
            <a:avLst/>
          </a:prstGeom>
          <a:solidFill>
            <a:srgbClr val="111A2B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E57B0A9-63ED-49C9-A502-46DE60321AAA}"/>
              </a:ext>
            </a:extLst>
          </p:cNvPr>
          <p:cNvSpPr>
            <a:spLocks noGrp="1"/>
          </p:cNvSpPr>
          <p:nvPr/>
        </p:nvSpPr>
        <p:spPr>
          <a:xfrm>
            <a:off x="6086475" y="456247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1CE39D4-C4DE-4F8B-9F4A-419B8A3F54BF}"/>
              </a:ext>
            </a:extLst>
          </p:cNvPr>
          <p:cNvSpPr>
            <a:spLocks noGrp="1"/>
          </p:cNvSpPr>
          <p:nvPr/>
        </p:nvSpPr>
        <p:spPr>
          <a:xfrm>
            <a:off x="7305675" y="4429125"/>
            <a:ext cx="514350" cy="514350"/>
          </a:xfrm>
          <a:prstGeom prst="ellipse">
            <a:avLst/>
          </a:prstGeom>
          <a:solidFill>
            <a:srgbClr val="111A2B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E961DF-70F6-4543-998A-088C25ACFB25}"/>
              </a:ext>
            </a:extLst>
          </p:cNvPr>
          <p:cNvSpPr>
            <a:spLocks noGrp="1"/>
          </p:cNvSpPr>
          <p:nvPr/>
        </p:nvSpPr>
        <p:spPr>
          <a:xfrm>
            <a:off x="7305675" y="456247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1BE547B-D5A6-4D69-924B-BF1A5DC74CEC}"/>
              </a:ext>
            </a:extLst>
          </p:cNvPr>
          <p:cNvSpPr>
            <a:spLocks noGrp="1"/>
          </p:cNvSpPr>
          <p:nvPr/>
        </p:nvSpPr>
        <p:spPr>
          <a:xfrm>
            <a:off x="8372475" y="4429125"/>
            <a:ext cx="514350" cy="514350"/>
          </a:xfrm>
          <a:prstGeom prst="ellipse">
            <a:avLst/>
          </a:prstGeom>
          <a:solidFill>
            <a:srgbClr val="111A2B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A3E8FCE-BDCE-430D-86F8-C8E53170266C}"/>
              </a:ext>
            </a:extLst>
          </p:cNvPr>
          <p:cNvSpPr>
            <a:spLocks noGrp="1"/>
          </p:cNvSpPr>
          <p:nvPr/>
        </p:nvSpPr>
        <p:spPr>
          <a:xfrm>
            <a:off x="8372475" y="456247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-1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64721B-48FE-4F7C-A256-46123E2D59AD}"/>
              </a:ext>
            </a:extLst>
          </p:cNvPr>
          <p:cNvSpPr>
            <a:spLocks noGrp="1"/>
          </p:cNvSpPr>
          <p:nvPr/>
        </p:nvSpPr>
        <p:spPr>
          <a:xfrm>
            <a:off x="9591675" y="4429125"/>
            <a:ext cx="514350" cy="514350"/>
          </a:xfrm>
          <a:prstGeom prst="ellipse">
            <a:avLst/>
          </a:prstGeom>
          <a:solidFill>
            <a:srgbClr val="111A2B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E74FD0B-B4D8-4BCB-BB5E-07A7EC4B9F8D}"/>
              </a:ext>
            </a:extLst>
          </p:cNvPr>
          <p:cNvSpPr>
            <a:spLocks noGrp="1"/>
          </p:cNvSpPr>
          <p:nvPr/>
        </p:nvSpPr>
        <p:spPr>
          <a:xfrm>
            <a:off x="9591675" y="456247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BEFA4F1-7788-4987-90F8-D6D5BAC7659B}"/>
              </a:ext>
            </a:extLst>
          </p:cNvPr>
          <p:cNvSpPr>
            <a:spLocks noGrp="1"/>
          </p:cNvSpPr>
          <p:nvPr/>
        </p:nvSpPr>
        <p:spPr>
          <a:xfrm>
            <a:off x="6324600" y="5163868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Values are propagated upward from terminal states.</a:t>
            </a:r>
          </a:p>
        </p:txBody>
      </p:sp>
    </p:spTree>
    <p:extLst>
      <p:ext uri="{BB962C8B-B14F-4D97-AF65-F5344CB8AC3E}">
        <p14:creationId xmlns:p14="http://schemas.microsoft.com/office/powerpoint/2010/main" val="42977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9181C771-6A2E-40CD-83BD-B13CB52791E0}"/>
              </a:ext>
            </a:extLst>
          </p:cNvPr>
          <p:cNvSpPr>
            <a:spLocks noGrp="1"/>
          </p:cNvSpPr>
          <p:nvPr/>
        </p:nvSpPr>
        <p:spPr>
          <a:xfrm>
            <a:off x="-9525" y="9525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D9D238-0934-4358-ADF8-4411E13584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C6D64B-D360-4F9C-83DA-788F49C4A08F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EC85D3-B01E-46DD-8A13-9ADDA7EF212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F394AC-4D6A-4511-AC9F-0C87B438712E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B15EE-8866-414B-9217-DC5848927F2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B76FF-9872-4FD7-A3D6-C448657CD39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5716E-3B30-4121-95DF-757F930C814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631E9E-F762-4668-B8C4-D1468BF476C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F2BFD-FAAF-4BB1-BDA9-184DEB7770B3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9C7DA-6A90-40E0-817C-63BEBF0F209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F85BF-B5A9-4745-BC86-4AC0C68B0BDF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CA6DA-88C0-4125-B597-A170EB1DDFB2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FB5EC9-73AA-4D06-AF82-E04D1CB19F0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92851-7446-4C6F-B82D-961BA7439DCE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30AAC-D37F-4327-BFCE-19CC6C5414C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242277-6CAA-475C-B4B4-0302FA8F222C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22A1C1-F4B1-4E7D-A33C-AC502EB44730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7B9375-6D34-4416-A4D6-CEBF647462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8C080D-B257-4459-92AE-208A0B009421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4A15B1-D28F-4E8C-BCDF-68EC120F718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5E465C-6420-42E7-81C1-A85D901F289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075E38-6284-4BC3-8BA6-933FFBC83C6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D5D54-F32B-44B7-A8CD-CDF6639B6A4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A8CECF-EA31-41FA-B000-C83CECC6D52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3F9542-3DB5-469B-A2B1-0AAAB3A52DB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C7EAB4-AF9D-4695-A3A8-CE83CDB6622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C01A9E-D20D-47C0-9B2C-DCFD9B5E2612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6DD315-318B-496E-9223-ECFA7F670E1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Alpha-Beta Pruning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AA63D8-AC49-4132-94D8-77FD0C06C0B7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Alpha-Beta gives the same optimal result as Minimax, but avoids evaluating branches that cannot affect the final decision.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160F35-BC03-4041-BD01-178C21203185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6835F4-37BC-45D6-B415-304886861091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036AA07-32BD-4F82-858D-64F6D231AD8D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88806F4-C2BF-4161-93F6-81CD506F8265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0F1729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4C314-F8BC-4772-B617-58C6AAC5D6D2}"/>
              </a:ext>
            </a:extLst>
          </p:cNvPr>
          <p:cNvSpPr>
            <a:spLocks noGrp="1"/>
          </p:cNvSpPr>
          <p:nvPr/>
        </p:nvSpPr>
        <p:spPr>
          <a:xfrm>
            <a:off x="971550" y="25908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Before Pruning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DE0428-2A6E-444C-8727-4255279CB2E9}"/>
              </a:ext>
            </a:extLst>
          </p:cNvPr>
          <p:cNvSpPr>
            <a:spLocks noGrp="1"/>
          </p:cNvSpPr>
          <p:nvPr/>
        </p:nvSpPr>
        <p:spPr>
          <a:xfrm rot="8438895">
            <a:off x="1955857" y="3633788"/>
            <a:ext cx="123178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E7FCC8-0FEE-477E-A3E6-92A4EF4F9323}"/>
              </a:ext>
            </a:extLst>
          </p:cNvPr>
          <p:cNvSpPr>
            <a:spLocks noGrp="1"/>
          </p:cNvSpPr>
          <p:nvPr/>
        </p:nvSpPr>
        <p:spPr>
          <a:xfrm rot="2361105">
            <a:off x="2908357" y="3633788"/>
            <a:ext cx="123178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3813CE-A27D-4BC4-BBB6-E0FBFBF70CED}"/>
              </a:ext>
            </a:extLst>
          </p:cNvPr>
          <p:cNvSpPr>
            <a:spLocks noGrp="1"/>
          </p:cNvSpPr>
          <p:nvPr/>
        </p:nvSpPr>
        <p:spPr>
          <a:xfrm rot="7561642">
            <a:off x="12724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69BBF8-9A03-4CE3-A79A-F61A7310CDD5}"/>
              </a:ext>
            </a:extLst>
          </p:cNvPr>
          <p:cNvSpPr>
            <a:spLocks noGrp="1"/>
          </p:cNvSpPr>
          <p:nvPr/>
        </p:nvSpPr>
        <p:spPr>
          <a:xfrm rot="3238358">
            <a:off x="18820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98978-52CB-4EE9-BD6E-F71C21F966BB}"/>
              </a:ext>
            </a:extLst>
          </p:cNvPr>
          <p:cNvSpPr>
            <a:spLocks noGrp="1"/>
          </p:cNvSpPr>
          <p:nvPr/>
        </p:nvSpPr>
        <p:spPr>
          <a:xfrm rot="7561642">
            <a:off x="31774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E1844D-806D-459C-B024-CE7D78590307}"/>
              </a:ext>
            </a:extLst>
          </p:cNvPr>
          <p:cNvSpPr>
            <a:spLocks noGrp="1"/>
          </p:cNvSpPr>
          <p:nvPr/>
        </p:nvSpPr>
        <p:spPr>
          <a:xfrm rot="3238358">
            <a:off x="37870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1A9ABEF-7F0D-4846-ACA6-79E6069D0A36}"/>
              </a:ext>
            </a:extLst>
          </p:cNvPr>
          <p:cNvSpPr>
            <a:spLocks noGrp="1"/>
          </p:cNvSpPr>
          <p:nvPr/>
        </p:nvSpPr>
        <p:spPr>
          <a:xfrm>
            <a:off x="2771775" y="28289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0BD295-6250-4FBF-A2BF-691118B8F6E1}"/>
              </a:ext>
            </a:extLst>
          </p:cNvPr>
          <p:cNvSpPr>
            <a:spLocks noGrp="1"/>
          </p:cNvSpPr>
          <p:nvPr/>
        </p:nvSpPr>
        <p:spPr>
          <a:xfrm>
            <a:off x="2771775" y="29813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AF4BDE8-A2CA-463D-B6A2-2B97EB6F21EA}"/>
              </a:ext>
            </a:extLst>
          </p:cNvPr>
          <p:cNvSpPr>
            <a:spLocks noGrp="1"/>
          </p:cNvSpPr>
          <p:nvPr/>
        </p:nvSpPr>
        <p:spPr>
          <a:xfrm>
            <a:off x="1819275" y="376237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64DF365-191A-45BD-B251-0C2B77095665}"/>
              </a:ext>
            </a:extLst>
          </p:cNvPr>
          <p:cNvSpPr>
            <a:spLocks noGrp="1"/>
          </p:cNvSpPr>
          <p:nvPr/>
        </p:nvSpPr>
        <p:spPr>
          <a:xfrm>
            <a:off x="1819275" y="391477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34CB72-DBCA-41F7-8A40-7A095BB6A101}"/>
              </a:ext>
            </a:extLst>
          </p:cNvPr>
          <p:cNvSpPr>
            <a:spLocks noGrp="1"/>
          </p:cNvSpPr>
          <p:nvPr/>
        </p:nvSpPr>
        <p:spPr>
          <a:xfrm>
            <a:off x="3724275" y="376237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6031C3-6B7E-4D8C-8187-5828CA9F54B1}"/>
              </a:ext>
            </a:extLst>
          </p:cNvPr>
          <p:cNvSpPr>
            <a:spLocks noGrp="1"/>
          </p:cNvSpPr>
          <p:nvPr/>
        </p:nvSpPr>
        <p:spPr>
          <a:xfrm>
            <a:off x="3724275" y="391477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74925D-2584-459C-A19C-442451F235CA}"/>
              </a:ext>
            </a:extLst>
          </p:cNvPr>
          <p:cNvSpPr>
            <a:spLocks noGrp="1"/>
          </p:cNvSpPr>
          <p:nvPr/>
        </p:nvSpPr>
        <p:spPr>
          <a:xfrm>
            <a:off x="12668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B45143-8322-471B-99CB-5C1C6FCBB1A9}"/>
              </a:ext>
            </a:extLst>
          </p:cNvPr>
          <p:cNvSpPr>
            <a:spLocks noGrp="1"/>
          </p:cNvSpPr>
          <p:nvPr/>
        </p:nvSpPr>
        <p:spPr>
          <a:xfrm>
            <a:off x="12668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E41FB74-363F-4CEA-B39A-1CA78EB6704A}"/>
              </a:ext>
            </a:extLst>
          </p:cNvPr>
          <p:cNvSpPr>
            <a:spLocks noGrp="1"/>
          </p:cNvSpPr>
          <p:nvPr/>
        </p:nvSpPr>
        <p:spPr>
          <a:xfrm>
            <a:off x="24860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FE3DBB-2E62-431D-ADA3-2EA2CA88154C}"/>
              </a:ext>
            </a:extLst>
          </p:cNvPr>
          <p:cNvSpPr>
            <a:spLocks noGrp="1"/>
          </p:cNvSpPr>
          <p:nvPr/>
        </p:nvSpPr>
        <p:spPr>
          <a:xfrm>
            <a:off x="24860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BEB998-74B4-416D-A9DC-33D2E20D0D5F}"/>
              </a:ext>
            </a:extLst>
          </p:cNvPr>
          <p:cNvSpPr>
            <a:spLocks noGrp="1"/>
          </p:cNvSpPr>
          <p:nvPr/>
        </p:nvSpPr>
        <p:spPr>
          <a:xfrm>
            <a:off x="31718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79CD5A-BCFB-4784-97C0-96EAB00FD5AD}"/>
              </a:ext>
            </a:extLst>
          </p:cNvPr>
          <p:cNvSpPr>
            <a:spLocks noGrp="1"/>
          </p:cNvSpPr>
          <p:nvPr/>
        </p:nvSpPr>
        <p:spPr>
          <a:xfrm>
            <a:off x="31718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2B52E2D-E219-482F-8A3C-81F1C1CC086C}"/>
              </a:ext>
            </a:extLst>
          </p:cNvPr>
          <p:cNvSpPr>
            <a:spLocks noGrp="1"/>
          </p:cNvSpPr>
          <p:nvPr/>
        </p:nvSpPr>
        <p:spPr>
          <a:xfrm>
            <a:off x="43910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E53D2B-F988-432D-BDD7-D183026B4EC8}"/>
              </a:ext>
            </a:extLst>
          </p:cNvPr>
          <p:cNvSpPr>
            <a:spLocks noGrp="1"/>
          </p:cNvSpPr>
          <p:nvPr/>
        </p:nvSpPr>
        <p:spPr>
          <a:xfrm>
            <a:off x="43910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E9F2DF2-DDF9-43B7-B782-BF15FA58DA90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F7D9189-41BB-4199-AC20-1FB8C1B2D618}"/>
              </a:ext>
            </a:extLst>
          </p:cNvPr>
          <p:cNvSpPr>
            <a:spLocks noGrp="1"/>
          </p:cNvSpPr>
          <p:nvPr/>
        </p:nvSpPr>
        <p:spPr>
          <a:xfrm>
            <a:off x="6153150" y="22860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1018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F2BC27-C2B2-40A4-88BA-052484ABA24C}"/>
              </a:ext>
            </a:extLst>
          </p:cNvPr>
          <p:cNvSpPr>
            <a:spLocks noGrp="1"/>
          </p:cNvSpPr>
          <p:nvPr/>
        </p:nvSpPr>
        <p:spPr>
          <a:xfrm>
            <a:off x="6496050" y="25908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After Pruning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9C8C8D-35B8-482E-B274-EA1CACA94E01}"/>
              </a:ext>
            </a:extLst>
          </p:cNvPr>
          <p:cNvSpPr>
            <a:spLocks noGrp="1"/>
          </p:cNvSpPr>
          <p:nvPr/>
        </p:nvSpPr>
        <p:spPr>
          <a:xfrm rot="8438895">
            <a:off x="7480357" y="3633788"/>
            <a:ext cx="123178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CF7D95-C16F-4534-AA25-3122FCD27EBB}"/>
              </a:ext>
            </a:extLst>
          </p:cNvPr>
          <p:cNvSpPr>
            <a:spLocks noGrp="1"/>
          </p:cNvSpPr>
          <p:nvPr/>
        </p:nvSpPr>
        <p:spPr>
          <a:xfrm rot="2361105">
            <a:off x="8432857" y="3633788"/>
            <a:ext cx="1231785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DA4CE-580F-41A5-AEE4-AC97A5B78696}"/>
              </a:ext>
            </a:extLst>
          </p:cNvPr>
          <p:cNvSpPr>
            <a:spLocks noGrp="1"/>
          </p:cNvSpPr>
          <p:nvPr/>
        </p:nvSpPr>
        <p:spPr>
          <a:xfrm rot="7561642">
            <a:off x="67969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9FF1D7-3DF1-4821-96DF-17E86EF58EFB}"/>
              </a:ext>
            </a:extLst>
          </p:cNvPr>
          <p:cNvSpPr>
            <a:spLocks noGrp="1"/>
          </p:cNvSpPr>
          <p:nvPr/>
        </p:nvSpPr>
        <p:spPr>
          <a:xfrm rot="3238358">
            <a:off x="74065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14E9E2-3DD9-4EB6-9F75-85033228704E}"/>
              </a:ext>
            </a:extLst>
          </p:cNvPr>
          <p:cNvSpPr>
            <a:spLocks noGrp="1"/>
          </p:cNvSpPr>
          <p:nvPr/>
        </p:nvSpPr>
        <p:spPr>
          <a:xfrm rot="7561642">
            <a:off x="8701984" y="4443413"/>
            <a:ext cx="1036432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622A7E4-2875-4DCF-B71F-F055BA93EA66}"/>
              </a:ext>
            </a:extLst>
          </p:cNvPr>
          <p:cNvSpPr>
            <a:spLocks noGrp="1"/>
          </p:cNvSpPr>
          <p:nvPr/>
        </p:nvSpPr>
        <p:spPr>
          <a:xfrm>
            <a:off x="8296275" y="28289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289D1B-DCD6-4198-A0D5-29F80EEAF113}"/>
              </a:ext>
            </a:extLst>
          </p:cNvPr>
          <p:cNvSpPr>
            <a:spLocks noGrp="1"/>
          </p:cNvSpPr>
          <p:nvPr/>
        </p:nvSpPr>
        <p:spPr>
          <a:xfrm>
            <a:off x="8296275" y="29813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13A5C61-7FA5-405B-ABEF-5711CDAA334A}"/>
              </a:ext>
            </a:extLst>
          </p:cNvPr>
          <p:cNvSpPr>
            <a:spLocks noGrp="1"/>
          </p:cNvSpPr>
          <p:nvPr/>
        </p:nvSpPr>
        <p:spPr>
          <a:xfrm>
            <a:off x="7343775" y="376237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B11FD9-93FB-4EA5-94B5-C97E76F4B75E}"/>
              </a:ext>
            </a:extLst>
          </p:cNvPr>
          <p:cNvSpPr>
            <a:spLocks noGrp="1"/>
          </p:cNvSpPr>
          <p:nvPr/>
        </p:nvSpPr>
        <p:spPr>
          <a:xfrm>
            <a:off x="7343775" y="391477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F36CC45-2EB4-4819-8621-A8C8CC11A520}"/>
              </a:ext>
            </a:extLst>
          </p:cNvPr>
          <p:cNvSpPr>
            <a:spLocks noGrp="1"/>
          </p:cNvSpPr>
          <p:nvPr/>
        </p:nvSpPr>
        <p:spPr>
          <a:xfrm>
            <a:off x="9248775" y="376237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548941-EDD0-4C4F-B2B5-2D8B9B7665BB}"/>
              </a:ext>
            </a:extLst>
          </p:cNvPr>
          <p:cNvSpPr>
            <a:spLocks noGrp="1"/>
          </p:cNvSpPr>
          <p:nvPr/>
        </p:nvSpPr>
        <p:spPr>
          <a:xfrm>
            <a:off x="9248775" y="391477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EF56221-876A-401D-B52F-94804B9E5D8B}"/>
              </a:ext>
            </a:extLst>
          </p:cNvPr>
          <p:cNvSpPr>
            <a:spLocks noGrp="1"/>
          </p:cNvSpPr>
          <p:nvPr/>
        </p:nvSpPr>
        <p:spPr>
          <a:xfrm>
            <a:off x="67913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9F72591-1386-4554-8148-B4814E4C19F4}"/>
              </a:ext>
            </a:extLst>
          </p:cNvPr>
          <p:cNvSpPr>
            <a:spLocks noGrp="1"/>
          </p:cNvSpPr>
          <p:nvPr/>
        </p:nvSpPr>
        <p:spPr>
          <a:xfrm>
            <a:off x="67913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B4F1C19-8054-49E9-BD44-CD764A410998}"/>
              </a:ext>
            </a:extLst>
          </p:cNvPr>
          <p:cNvSpPr>
            <a:spLocks noGrp="1"/>
          </p:cNvSpPr>
          <p:nvPr/>
        </p:nvSpPr>
        <p:spPr>
          <a:xfrm>
            <a:off x="80105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554D673-0624-471E-9F4F-6AF71D05D72A}"/>
              </a:ext>
            </a:extLst>
          </p:cNvPr>
          <p:cNvSpPr>
            <a:spLocks noGrp="1"/>
          </p:cNvSpPr>
          <p:nvPr/>
        </p:nvSpPr>
        <p:spPr>
          <a:xfrm>
            <a:off x="80105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30CF94B-F0F7-42EC-A6EA-6E690A31B3AD}"/>
              </a:ext>
            </a:extLst>
          </p:cNvPr>
          <p:cNvSpPr>
            <a:spLocks noGrp="1"/>
          </p:cNvSpPr>
          <p:nvPr/>
        </p:nvSpPr>
        <p:spPr>
          <a:xfrm>
            <a:off x="8696325" y="4695825"/>
            <a:ext cx="438150" cy="4381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97977C4-DF3B-493F-AFEE-D1E8ABA84AA4}"/>
              </a:ext>
            </a:extLst>
          </p:cNvPr>
          <p:cNvSpPr>
            <a:spLocks noGrp="1"/>
          </p:cNvSpPr>
          <p:nvPr/>
        </p:nvSpPr>
        <p:spPr>
          <a:xfrm>
            <a:off x="8696325" y="4791075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76CA1F5-24AA-40E4-8D6F-B66639248551}"/>
              </a:ext>
            </a:extLst>
          </p:cNvPr>
          <p:cNvSpPr>
            <a:spLocks noGrp="1"/>
          </p:cNvSpPr>
          <p:nvPr/>
        </p:nvSpPr>
        <p:spPr>
          <a:xfrm rot="2244321">
            <a:off x="9526276" y="4571507"/>
            <a:ext cx="815376" cy="47625"/>
          </a:xfrm>
          <a:prstGeom prst="rect">
            <a:avLst/>
          </a:prstGeom>
          <a:solidFill>
            <a:srgbClr val="FF5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8E70F06-5ECC-4AB8-B36C-4FED89A378C3}"/>
              </a:ext>
            </a:extLst>
          </p:cNvPr>
          <p:cNvSpPr>
            <a:spLocks noGrp="1"/>
          </p:cNvSpPr>
          <p:nvPr/>
        </p:nvSpPr>
        <p:spPr>
          <a:xfrm rot="8555679">
            <a:off x="9451153" y="4593841"/>
            <a:ext cx="815376" cy="47625"/>
          </a:xfrm>
          <a:prstGeom prst="rect">
            <a:avLst/>
          </a:prstGeom>
          <a:solidFill>
            <a:srgbClr val="FF5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21589089-E627-413C-A6DD-14918B1BEA3B}"/>
              </a:ext>
            </a:extLst>
          </p:cNvPr>
          <p:cNvSpPr>
            <a:spLocks noGrp="1"/>
          </p:cNvSpPr>
          <p:nvPr/>
        </p:nvSpPr>
        <p:spPr>
          <a:xfrm>
            <a:off x="7608445" y="605282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F8838A8-A271-4CC1-9E56-9A96A8B0165E}"/>
              </a:ext>
            </a:extLst>
          </p:cNvPr>
          <p:cNvSpPr>
            <a:spLocks noGrp="1"/>
          </p:cNvSpPr>
          <p:nvPr/>
        </p:nvSpPr>
        <p:spPr>
          <a:xfrm>
            <a:off x="9315450" y="479948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FF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89A8668-96C2-44DF-914D-895D54E9E472}"/>
              </a:ext>
            </a:extLst>
          </p:cNvPr>
          <p:cNvSpPr>
            <a:spLocks noGrp="1"/>
          </p:cNvSpPr>
          <p:nvPr/>
        </p:nvSpPr>
        <p:spPr>
          <a:xfrm>
            <a:off x="9448800" y="488520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5C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5C7A"/>
                </a:solidFill>
                <a:latin typeface="Aptos"/>
                <a:ea typeface="Aptos"/>
                <a:cs typeface="Aptos"/>
              </a:rPr>
              <a:t>Pruned branch</a:t>
            </a:r>
          </a:p>
        </p:txBody>
      </p:sp>
    </p:spTree>
    <p:extLst>
      <p:ext uri="{BB962C8B-B14F-4D97-AF65-F5344CB8AC3E}">
        <p14:creationId xmlns:p14="http://schemas.microsoft.com/office/powerpoint/2010/main" val="95427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2E17014-5961-4A32-8355-69904D1C62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1D89DA-3377-47BA-9375-EA9E640F6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6596D-5220-49CF-AC7E-2A593238CD16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68900-4D6E-4443-BC52-9CBDE997E34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1F777-9C3E-442F-8120-E3B153F54216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F8D66-7ACB-4CD8-B784-98D5AE2C4B2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F141D9-D39F-4D06-97EE-9BDCD4E24011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E4E676-DEBC-4168-806B-2E3F9B04463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84DD3B-BF16-43E4-B0FB-F7A66C6615DE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6F748-E52B-4E7B-AFA2-48E681D0BA6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55CAB-E80F-4C16-8FC5-0E237675D39B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616A90-82C9-4DE9-A560-0D2008B3D7D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C84319-29B0-4FB7-BFD6-3979F9243669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5E0E00-3864-4444-94EA-A18D9076151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0C2D7E-4B89-4BDB-BCCF-3F7E326A77E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955254-A6A0-41E4-900C-2A30BCABD02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2E1D0B-D14D-424F-BE7F-5D25F375F294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5C8ED9-62A1-41DC-9D9B-F5961EEC357D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9E48AE-6F51-42C7-9B0C-DCAABD2BE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C0044-9A98-4D04-B9C1-5C55B1164EE0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9FA05-378E-4150-B714-AD3B08630BF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A5CC76-F966-4B51-A66A-D37C4E5AC04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0D197F-5610-4F08-AD84-BCEB3DF21D4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F9D76A-D19D-4D78-8B82-2DBF53A6779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2A7CF9-320B-46DC-811B-BE09D6451F2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C305BB-E655-48F0-84A0-7DB0B61DF23D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A44A2F-E5FF-49BD-B4CE-A6D6F1607C0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18D289-F6CE-495F-8E5C-D75C76510E9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72E3C8-0C6C-4B48-9924-A0230DD522D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Search Tree &amp; ADA Concepts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BEA5E-C657-4197-9CB3-0CA670FCCAAC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project maps directly to tree traversal, recursion, backtracking, and complexity analysis.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9235C4-2077-4D54-A2A0-BF6C030ABADB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B7566F-E0C9-4CF8-AA03-77AEEF9B6926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4497EF3-4041-4CC1-BEC4-B948631DB47F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4953000" cy="3143250"/>
          </a:xfrm>
          <a:prstGeom prst="roundRect">
            <a:avLst>
              <a:gd name="adj" fmla="val 242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9CC066D-45B6-4350-9265-A28A042C66F6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4953000" cy="3143250"/>
          </a:xfrm>
          <a:prstGeom prst="roundRect">
            <a:avLst>
              <a:gd name="adj" fmla="val 2424"/>
            </a:avLst>
          </a:prstGeom>
          <a:solidFill>
            <a:srgbClr val="0E1728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8EFF5C-66BA-4D16-8728-70875A9A67CA}"/>
              </a:ext>
            </a:extLst>
          </p:cNvPr>
          <p:cNvSpPr>
            <a:spLocks noGrp="1"/>
          </p:cNvSpPr>
          <p:nvPr/>
        </p:nvSpPr>
        <p:spPr>
          <a:xfrm rot="9442808">
            <a:off x="2047875" y="3328988"/>
            <a:ext cx="1238250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574EEE-9710-4B5E-B547-B5AAAB7D47AC}"/>
              </a:ext>
            </a:extLst>
          </p:cNvPr>
          <p:cNvSpPr>
            <a:spLocks noGrp="1"/>
          </p:cNvSpPr>
          <p:nvPr/>
        </p:nvSpPr>
        <p:spPr>
          <a:xfrm rot="1357192">
            <a:off x="3190875" y="3328988"/>
            <a:ext cx="1238250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636C5-C277-4FDD-B0B9-3FF83AC3B27D}"/>
              </a:ext>
            </a:extLst>
          </p:cNvPr>
          <p:cNvSpPr>
            <a:spLocks noGrp="1"/>
          </p:cNvSpPr>
          <p:nvPr/>
        </p:nvSpPr>
        <p:spPr>
          <a:xfrm rot="8158261">
            <a:off x="1412317" y="4357688"/>
            <a:ext cx="79486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70B364-7148-4BC3-89D6-7835DF2D4674}"/>
              </a:ext>
            </a:extLst>
          </p:cNvPr>
          <p:cNvSpPr>
            <a:spLocks noGrp="1"/>
          </p:cNvSpPr>
          <p:nvPr/>
        </p:nvSpPr>
        <p:spPr>
          <a:xfrm rot="2641739">
            <a:off x="1983817" y="4357688"/>
            <a:ext cx="79486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B8AB04-A86C-45C8-8ADF-079C627FEE13}"/>
              </a:ext>
            </a:extLst>
          </p:cNvPr>
          <p:cNvSpPr>
            <a:spLocks noGrp="1"/>
          </p:cNvSpPr>
          <p:nvPr/>
        </p:nvSpPr>
        <p:spPr>
          <a:xfrm rot="8158261">
            <a:off x="3698317" y="4357688"/>
            <a:ext cx="79486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D69482-A876-4F50-8C69-B82E92FCCB06}"/>
              </a:ext>
            </a:extLst>
          </p:cNvPr>
          <p:cNvSpPr>
            <a:spLocks noGrp="1"/>
          </p:cNvSpPr>
          <p:nvPr/>
        </p:nvSpPr>
        <p:spPr>
          <a:xfrm rot="2641739">
            <a:off x="4269817" y="4357688"/>
            <a:ext cx="794867" cy="28575"/>
          </a:xfrm>
          <a:prstGeom prst="rect">
            <a:avLst/>
          </a:prstGeom>
          <a:solidFill>
            <a:srgbClr val="395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0294143-48E2-4B85-AF34-53F01316ECF9}"/>
              </a:ext>
            </a:extLst>
          </p:cNvPr>
          <p:cNvSpPr>
            <a:spLocks noGrp="1"/>
          </p:cNvSpPr>
          <p:nvPr/>
        </p:nvSpPr>
        <p:spPr>
          <a:xfrm>
            <a:off x="2914650" y="2533650"/>
            <a:ext cx="647700" cy="64770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9BA2CA-C888-411B-AFC2-9DA57580AFEF}"/>
              </a:ext>
            </a:extLst>
          </p:cNvPr>
          <p:cNvSpPr>
            <a:spLocks noGrp="1"/>
          </p:cNvSpPr>
          <p:nvPr/>
        </p:nvSpPr>
        <p:spPr>
          <a:xfrm>
            <a:off x="2914650" y="2733675"/>
            <a:ext cx="647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FBD3A8-02E4-4900-8470-158ADA6ED891}"/>
              </a:ext>
            </a:extLst>
          </p:cNvPr>
          <p:cNvSpPr>
            <a:spLocks noGrp="1"/>
          </p:cNvSpPr>
          <p:nvPr/>
        </p:nvSpPr>
        <p:spPr>
          <a:xfrm>
            <a:off x="1819275" y="35528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355B3B-1022-4DD6-A8E7-244E567A7E1A}"/>
              </a:ext>
            </a:extLst>
          </p:cNvPr>
          <p:cNvSpPr>
            <a:spLocks noGrp="1"/>
          </p:cNvSpPr>
          <p:nvPr/>
        </p:nvSpPr>
        <p:spPr>
          <a:xfrm>
            <a:off x="1819275" y="37052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Move 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632250C-B497-4CEF-BA0F-0100607D601F}"/>
              </a:ext>
            </a:extLst>
          </p:cNvPr>
          <p:cNvSpPr>
            <a:spLocks noGrp="1"/>
          </p:cNvSpPr>
          <p:nvPr/>
        </p:nvSpPr>
        <p:spPr>
          <a:xfrm>
            <a:off x="4105275" y="35528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6A0821-3813-4768-8FCC-F474BE0BFD63}"/>
              </a:ext>
            </a:extLst>
          </p:cNvPr>
          <p:cNvSpPr>
            <a:spLocks noGrp="1"/>
          </p:cNvSpPr>
          <p:nvPr/>
        </p:nvSpPr>
        <p:spPr>
          <a:xfrm>
            <a:off x="4105275" y="37052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Move B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7861AF-EB13-4DBD-BCA4-FB72C72B9E24}"/>
              </a:ext>
            </a:extLst>
          </p:cNvPr>
          <p:cNvSpPr>
            <a:spLocks noGrp="1"/>
          </p:cNvSpPr>
          <p:nvPr/>
        </p:nvSpPr>
        <p:spPr>
          <a:xfrm>
            <a:off x="1247775" y="46196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BC9E49-A29B-4945-880F-5DE31FF614A7}"/>
              </a:ext>
            </a:extLst>
          </p:cNvPr>
          <p:cNvSpPr>
            <a:spLocks noGrp="1"/>
          </p:cNvSpPr>
          <p:nvPr/>
        </p:nvSpPr>
        <p:spPr>
          <a:xfrm>
            <a:off x="1247775" y="47720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1BCA448-0AEA-403B-AD03-7A9D4C36DA26}"/>
              </a:ext>
            </a:extLst>
          </p:cNvPr>
          <p:cNvSpPr>
            <a:spLocks noGrp="1"/>
          </p:cNvSpPr>
          <p:nvPr/>
        </p:nvSpPr>
        <p:spPr>
          <a:xfrm>
            <a:off x="2390775" y="46196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D0B3C6-7101-45F1-B699-A16B74BBB63E}"/>
              </a:ext>
            </a:extLst>
          </p:cNvPr>
          <p:cNvSpPr>
            <a:spLocks noGrp="1"/>
          </p:cNvSpPr>
          <p:nvPr/>
        </p:nvSpPr>
        <p:spPr>
          <a:xfrm>
            <a:off x="2390775" y="47720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E36F56B-13D6-4F8E-9B62-0851F0320D77}"/>
              </a:ext>
            </a:extLst>
          </p:cNvPr>
          <p:cNvSpPr>
            <a:spLocks noGrp="1"/>
          </p:cNvSpPr>
          <p:nvPr/>
        </p:nvSpPr>
        <p:spPr>
          <a:xfrm>
            <a:off x="3533775" y="46196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A1A4E7-85B3-4759-AD1B-87BFF3946175}"/>
              </a:ext>
            </a:extLst>
          </p:cNvPr>
          <p:cNvSpPr>
            <a:spLocks noGrp="1"/>
          </p:cNvSpPr>
          <p:nvPr/>
        </p:nvSpPr>
        <p:spPr>
          <a:xfrm>
            <a:off x="3533775" y="47720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0E908CF-882F-42DD-8E75-D23B9392AC15}"/>
              </a:ext>
            </a:extLst>
          </p:cNvPr>
          <p:cNvSpPr>
            <a:spLocks noGrp="1"/>
          </p:cNvSpPr>
          <p:nvPr/>
        </p:nvSpPr>
        <p:spPr>
          <a:xfrm>
            <a:off x="4676775" y="4619625"/>
            <a:ext cx="552450" cy="552450"/>
          </a:xfrm>
          <a:prstGeom prst="ellipse">
            <a:avLst/>
          </a:prstGeom>
          <a:solidFill>
            <a:srgbClr val="142033"/>
          </a:solidFill>
          <a:ln w="1905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2BC4F1-EBFA-4B48-9F77-D0C1136368D6}"/>
              </a:ext>
            </a:extLst>
          </p:cNvPr>
          <p:cNvSpPr>
            <a:spLocks noGrp="1"/>
          </p:cNvSpPr>
          <p:nvPr/>
        </p:nvSpPr>
        <p:spPr>
          <a:xfrm>
            <a:off x="4676775" y="4772025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12F2588-E15B-45E9-9014-8ED713DB5E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4286250" cy="3143250"/>
          </a:xfrm>
          <a:prstGeom prst="roundRect">
            <a:avLst>
              <a:gd name="adj" fmla="val 242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DC0C817-87B1-4A46-A4D6-F6D8BB558B41}"/>
              </a:ext>
            </a:extLst>
          </p:cNvPr>
          <p:cNvSpPr>
            <a:spLocks noGrp="1"/>
          </p:cNvSpPr>
          <p:nvPr/>
        </p:nvSpPr>
        <p:spPr>
          <a:xfrm>
            <a:off x="6343650" y="2343150"/>
            <a:ext cx="4286250" cy="3143250"/>
          </a:xfrm>
          <a:prstGeom prst="roundRect">
            <a:avLst>
              <a:gd name="adj" fmla="val 2424"/>
            </a:avLst>
          </a:prstGeom>
          <a:solidFill>
            <a:srgbClr val="101827"/>
          </a:solidFill>
          <a:ln w="14288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A0478A-B2B2-4659-AC66-1AD3A6CABF2F}"/>
              </a:ext>
            </a:extLst>
          </p:cNvPr>
          <p:cNvSpPr>
            <a:spLocks noGrp="1"/>
          </p:cNvSpPr>
          <p:nvPr/>
        </p:nvSpPr>
        <p:spPr>
          <a:xfrm>
            <a:off x="6724650" y="26860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ADA Mapping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C869BB8-1FB2-4B55-AFC2-7FB1813DF163}"/>
              </a:ext>
            </a:extLst>
          </p:cNvPr>
          <p:cNvSpPr>
            <a:spLocks noGrp="1"/>
          </p:cNvSpPr>
          <p:nvPr/>
        </p:nvSpPr>
        <p:spPr>
          <a:xfrm>
            <a:off x="6819900" y="34099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FDC4696-C994-486F-A50F-FB234FFB57B0}"/>
              </a:ext>
            </a:extLst>
          </p:cNvPr>
          <p:cNvSpPr>
            <a:spLocks noGrp="1"/>
          </p:cNvSpPr>
          <p:nvPr/>
        </p:nvSpPr>
        <p:spPr>
          <a:xfrm>
            <a:off x="6762750" y="33337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626124-BDB9-4C1A-ADD0-4FDE0B83E01B}"/>
              </a:ext>
            </a:extLst>
          </p:cNvPr>
          <p:cNvSpPr>
            <a:spLocks noGrp="1"/>
          </p:cNvSpPr>
          <p:nvPr/>
        </p:nvSpPr>
        <p:spPr>
          <a:xfrm>
            <a:off x="6896100" y="341947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Branching factor (b)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682B2AF-AC6E-4820-984F-A2696FFC31CB}"/>
              </a:ext>
            </a:extLst>
          </p:cNvPr>
          <p:cNvSpPr>
            <a:spLocks noGrp="1"/>
          </p:cNvSpPr>
          <p:nvPr/>
        </p:nvSpPr>
        <p:spPr>
          <a:xfrm>
            <a:off x="9220200" y="340995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81A15604-C320-4094-8B6B-ED0A029D1DBC}"/>
              </a:ext>
            </a:extLst>
          </p:cNvPr>
          <p:cNvSpPr>
            <a:spLocks noGrp="1"/>
          </p:cNvSpPr>
          <p:nvPr/>
        </p:nvSpPr>
        <p:spPr>
          <a:xfrm>
            <a:off x="9163050" y="333375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C1A29DC-FCB7-4279-9787-2809BF1154DA}"/>
              </a:ext>
            </a:extLst>
          </p:cNvPr>
          <p:cNvSpPr>
            <a:spLocks noGrp="1"/>
          </p:cNvSpPr>
          <p:nvPr/>
        </p:nvSpPr>
        <p:spPr>
          <a:xfrm>
            <a:off x="9296400" y="3419475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Depth (d)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3325CDF-B231-4C43-9C06-E4ABEDDDE4C5}"/>
              </a:ext>
            </a:extLst>
          </p:cNvPr>
          <p:cNvSpPr>
            <a:spLocks noGrp="1"/>
          </p:cNvSpPr>
          <p:nvPr/>
        </p:nvSpPr>
        <p:spPr>
          <a:xfrm>
            <a:off x="6819900" y="4114800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31245B4-26E2-486A-AE0C-774E407A7A79}"/>
              </a:ext>
            </a:extLst>
          </p:cNvPr>
          <p:cNvSpPr>
            <a:spLocks noGrp="1"/>
          </p:cNvSpPr>
          <p:nvPr/>
        </p:nvSpPr>
        <p:spPr>
          <a:xfrm>
            <a:off x="6762750" y="4038600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1AFD0B1-8447-42FE-8090-5249AEF6E873}"/>
              </a:ext>
            </a:extLst>
          </p:cNvPr>
          <p:cNvSpPr>
            <a:spLocks noGrp="1"/>
          </p:cNvSpPr>
          <p:nvPr/>
        </p:nvSpPr>
        <p:spPr>
          <a:xfrm>
            <a:off x="6896100" y="4124325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Recursion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F237D83-635A-42BF-B410-5D29A2F33426}"/>
              </a:ext>
            </a:extLst>
          </p:cNvPr>
          <p:cNvSpPr>
            <a:spLocks noGrp="1"/>
          </p:cNvSpPr>
          <p:nvPr/>
        </p:nvSpPr>
        <p:spPr>
          <a:xfrm>
            <a:off x="8667750" y="4114800"/>
            <a:ext cx="17907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87BD054F-09A9-433E-BDF4-F49D54896287}"/>
              </a:ext>
            </a:extLst>
          </p:cNvPr>
          <p:cNvSpPr>
            <a:spLocks noGrp="1"/>
          </p:cNvSpPr>
          <p:nvPr/>
        </p:nvSpPr>
        <p:spPr>
          <a:xfrm>
            <a:off x="8610600" y="4038600"/>
            <a:ext cx="179070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7608F2-7F35-46BC-B690-2EC49DFE90A1}"/>
              </a:ext>
            </a:extLst>
          </p:cNvPr>
          <p:cNvSpPr>
            <a:spLocks noGrp="1"/>
          </p:cNvSpPr>
          <p:nvPr/>
        </p:nvSpPr>
        <p:spPr>
          <a:xfrm>
            <a:off x="8743950" y="41243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Backtracking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7A504533-3C32-4D79-B91E-BE49A90FA8FF}"/>
              </a:ext>
            </a:extLst>
          </p:cNvPr>
          <p:cNvSpPr>
            <a:spLocks noGrp="1"/>
          </p:cNvSpPr>
          <p:nvPr/>
        </p:nvSpPr>
        <p:spPr>
          <a:xfrm>
            <a:off x="6819900" y="4705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A1418E8-6525-4A5C-B8EA-505E8761409C}"/>
              </a:ext>
            </a:extLst>
          </p:cNvPr>
          <p:cNvSpPr>
            <a:spLocks noGrp="1"/>
          </p:cNvSpPr>
          <p:nvPr/>
        </p:nvSpPr>
        <p:spPr>
          <a:xfrm>
            <a:off x="6762750" y="46291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689047-952A-4A26-AFA0-174AC3BAA078}"/>
              </a:ext>
            </a:extLst>
          </p:cNvPr>
          <p:cNvSpPr>
            <a:spLocks noGrp="1"/>
          </p:cNvSpPr>
          <p:nvPr/>
        </p:nvSpPr>
        <p:spPr>
          <a:xfrm>
            <a:off x="6896100" y="4714875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DFS-style traversal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59B9AB-723D-47FB-A2DF-08CBF83A0684}"/>
              </a:ext>
            </a:extLst>
          </p:cNvPr>
          <p:cNvSpPr>
            <a:spLocks noGrp="1"/>
          </p:cNvSpPr>
          <p:nvPr/>
        </p:nvSpPr>
        <p:spPr>
          <a:xfrm>
            <a:off x="6603124" y="5223641"/>
            <a:ext cx="4014952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Game moves become child nodes; traversal returns the best utility.</a:t>
            </a:r>
          </a:p>
        </p:txBody>
      </p:sp>
    </p:spTree>
    <p:extLst>
      <p:ext uri="{BB962C8B-B14F-4D97-AF65-F5344CB8AC3E}">
        <p14:creationId xmlns:p14="http://schemas.microsoft.com/office/powerpoint/2010/main" val="65912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FEEF33DB-3448-41D2-835A-226E98E49A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DAD14-11F8-47C1-9059-653EFC644B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F234A-A488-4BCC-A0F9-3AF7E1B6A435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D01A5-FA6B-47A1-A740-A802DFABBF0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18225-142D-4FDD-A431-2D8D76FB7F9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AB65C-8FE7-44CA-9F06-C7A412DC840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31172-6CDA-485C-B45A-47D4E141732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E00BC-81FC-48C7-A6F1-6D47F8F2F3C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E19DA-59CC-4232-9B78-749A7BCB20F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4E2CD-E5C2-4568-9F66-7DABF53C7AC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36F9E-7980-47D7-9E4D-D37326AEA1D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68520-387D-49A7-9836-A4BB4691C158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315FC0-CE2A-4C6C-BBB4-3E3772F299DF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AAC6A-0786-4522-B6A7-3CEFFB15DE3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9EA369-5DF0-4C0D-90AA-40FDE0247C2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97B8FC-7A42-49A0-8BAF-F69C72F6BFED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EE5A41-B0DB-46B7-8F05-87CD0B90BBC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9C3C0-FD0A-4DB9-A94C-0C83F00019A6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11C4D2-5337-454E-8526-E01C1D4F34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2941A5-B77A-4CBF-A7A5-DBC515FB7BD3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0469BB-A29D-468A-B998-F231AEC656E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DDF32C-7A1C-40D4-B834-50EF2859F7C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B10D23-20F0-4DF3-A606-8E73ECA0765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FDD76-9CC5-4D4D-BE9D-CB494202E62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550B33-97A2-4CB5-9959-2757C9392C2E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306DD-DD2E-44B5-9808-37EB93957EF8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A00626-EBBC-420F-8829-0263B9358D9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EE1E0-775A-40A7-9940-BD43A65EF3E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BDC5EA-939C-44F9-8332-E8F9BE400DD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Complexity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B58776-8B9C-44CF-8275-CAAFD299D038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Optimization matters because game-tree search grows exponentially with branching factor and depth.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00D314-9FEA-4C1A-83E0-FE60A16DF11D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B3083F-BC89-4F61-90BC-0B956DBFF4D6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7BCF556-36CA-47E5-BEAD-7B4088662126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629150" cy="3009900"/>
          </a:xfrm>
          <a:prstGeom prst="roundRect">
            <a:avLst>
              <a:gd name="adj" fmla="val 2532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A8BB784-40BE-4711-B392-B836BE49669E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4629150" cy="3009900"/>
          </a:xfrm>
          <a:prstGeom prst="roundRect">
            <a:avLst>
              <a:gd name="adj" fmla="val 2532"/>
            </a:avLst>
          </a:prstGeom>
          <a:solidFill>
            <a:srgbClr val="101827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336107-9C70-4F81-9CC5-1507B0385E72}"/>
              </a:ext>
            </a:extLst>
          </p:cNvPr>
          <p:cNvSpPr>
            <a:spLocks noGrp="1"/>
          </p:cNvSpPr>
          <p:nvPr/>
        </p:nvSpPr>
        <p:spPr>
          <a:xfrm>
            <a:off x="1123950" y="272415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Minimax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B463C5-4024-4160-BBC0-B5D0DB901C3D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Time Complexity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8B9A45-E809-4B61-8001-BF0FB129674C}"/>
              </a:ext>
            </a:extLst>
          </p:cNvPr>
          <p:cNvSpPr>
            <a:spLocks noGrp="1"/>
          </p:cNvSpPr>
          <p:nvPr/>
        </p:nvSpPr>
        <p:spPr>
          <a:xfrm>
            <a:off x="1123950" y="3695700"/>
            <a:ext cx="2286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2DE2E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DE2E6"/>
                </a:solidFill>
                <a:latin typeface="Aptos"/>
                <a:ea typeface="Aptos"/>
                <a:cs typeface="Aptos"/>
              </a:rPr>
              <a:t>O(b^d)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E7B15C-5C52-4566-89B5-BCB23096BAD4}"/>
              </a:ext>
            </a:extLst>
          </p:cNvPr>
          <p:cNvSpPr>
            <a:spLocks noGrp="1"/>
          </p:cNvSpPr>
          <p:nvPr/>
        </p:nvSpPr>
        <p:spPr>
          <a:xfrm>
            <a:off x="1123950" y="4457700"/>
            <a:ext cx="3143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Explores every legal path up to depth d.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62B2F41-76BB-4761-A977-B6906A8359E4}"/>
              </a:ext>
            </a:extLst>
          </p:cNvPr>
          <p:cNvSpPr>
            <a:spLocks noGrp="1"/>
          </p:cNvSpPr>
          <p:nvPr/>
        </p:nvSpPr>
        <p:spPr>
          <a:xfrm>
            <a:off x="6153150" y="2457450"/>
            <a:ext cx="4629150" cy="3009900"/>
          </a:xfrm>
          <a:prstGeom prst="roundRect">
            <a:avLst>
              <a:gd name="adj" fmla="val 2532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57D00C5-19D8-4C8E-B5E8-663A466E43F5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4629150" cy="3009900"/>
          </a:xfrm>
          <a:prstGeom prst="roundRect">
            <a:avLst>
              <a:gd name="adj" fmla="val 2532"/>
            </a:avLst>
          </a:prstGeom>
          <a:solidFill>
            <a:srgbClr val="1018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F56911-45B0-475D-9B5B-472DE9332C55}"/>
              </a:ext>
            </a:extLst>
          </p:cNvPr>
          <p:cNvSpPr>
            <a:spLocks noGrp="1"/>
          </p:cNvSpPr>
          <p:nvPr/>
        </p:nvSpPr>
        <p:spPr>
          <a:xfrm>
            <a:off x="6477000" y="272415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Alpha-Beta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81722D-CEDD-493F-B708-8BEA9FD548ED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Best Case Complexity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75BA48-E15C-4CC6-A57F-D8579AD0AC4A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O(b^(d/2))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67CA85-B383-4672-9EC3-963B46B7C315}"/>
              </a:ext>
            </a:extLst>
          </p:cNvPr>
          <p:cNvSpPr>
            <a:spLocks noGrp="1"/>
          </p:cNvSpPr>
          <p:nvPr/>
        </p:nvSpPr>
        <p:spPr>
          <a:xfrm>
            <a:off x="6477000" y="4457700"/>
            <a:ext cx="320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Skips branches that cannot change the final move.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143F96-9157-4F17-87FB-9B28B0692AF8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Minimax nodes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EA7F0FC-B63C-4713-8A27-72A1FF858845}"/>
              </a:ext>
            </a:extLst>
          </p:cNvPr>
          <p:cNvSpPr>
            <a:spLocks noGrp="1"/>
          </p:cNvSpPr>
          <p:nvPr/>
        </p:nvSpPr>
        <p:spPr>
          <a:xfrm>
            <a:off x="3200400" y="5791200"/>
            <a:ext cx="342900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63ABD74-3328-4B5E-A294-DB8CBF1461E5}"/>
              </a:ext>
            </a:extLst>
          </p:cNvPr>
          <p:cNvSpPr>
            <a:spLocks noGrp="1"/>
          </p:cNvSpPr>
          <p:nvPr/>
        </p:nvSpPr>
        <p:spPr>
          <a:xfrm>
            <a:off x="3143250" y="5715000"/>
            <a:ext cx="342900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704A8B2-13BD-458E-9054-85397EDB94A9}"/>
              </a:ext>
            </a:extLst>
          </p:cNvPr>
          <p:cNvSpPr>
            <a:spLocks noGrp="1"/>
          </p:cNvSpPr>
          <p:nvPr/>
        </p:nvSpPr>
        <p:spPr>
          <a:xfrm>
            <a:off x="3181350" y="5753100"/>
            <a:ext cx="3352800" cy="133350"/>
          </a:xfrm>
          <a:prstGeom prst="roundRect">
            <a:avLst>
              <a:gd name="adj" fmla="val 50000"/>
            </a:avLst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456E09-2D22-4AE2-9A47-FE2097531EE2}"/>
              </a:ext>
            </a:extLst>
          </p:cNvPr>
          <p:cNvSpPr>
            <a:spLocks noGrp="1"/>
          </p:cNvSpPr>
          <p:nvPr/>
        </p:nvSpPr>
        <p:spPr>
          <a:xfrm>
            <a:off x="6724650" y="56959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E2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E2E6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6555EE-4919-468C-B37A-25A8A721AE44}"/>
              </a:ext>
            </a:extLst>
          </p:cNvPr>
          <p:cNvSpPr>
            <a:spLocks noGrp="1"/>
          </p:cNvSpPr>
          <p:nvPr/>
        </p:nvSpPr>
        <p:spPr>
          <a:xfrm>
            <a:off x="762000" y="61341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Alpha-Beta nodes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28DDCE5-3381-4BBF-8B2E-9A5354FE52FC}"/>
              </a:ext>
            </a:extLst>
          </p:cNvPr>
          <p:cNvSpPr>
            <a:spLocks noGrp="1"/>
          </p:cNvSpPr>
          <p:nvPr/>
        </p:nvSpPr>
        <p:spPr>
          <a:xfrm>
            <a:off x="3200400" y="6229350"/>
            <a:ext cx="342900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7DE1949-02CD-4AD6-B451-BF75708D5684}"/>
              </a:ext>
            </a:extLst>
          </p:cNvPr>
          <p:cNvSpPr>
            <a:spLocks noGrp="1"/>
          </p:cNvSpPr>
          <p:nvPr/>
        </p:nvSpPr>
        <p:spPr>
          <a:xfrm>
            <a:off x="3143250" y="6153150"/>
            <a:ext cx="342900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7B1DDC8-CABF-4AF8-B4F2-1FEEA11E3043}"/>
              </a:ext>
            </a:extLst>
          </p:cNvPr>
          <p:cNvSpPr>
            <a:spLocks noGrp="1"/>
          </p:cNvSpPr>
          <p:nvPr/>
        </p:nvSpPr>
        <p:spPr>
          <a:xfrm>
            <a:off x="3181350" y="6191250"/>
            <a:ext cx="1117600" cy="133350"/>
          </a:xfrm>
          <a:prstGeom prst="roundRect">
            <a:avLst>
              <a:gd name="adj" fmla="val 50000"/>
            </a:avLst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0578708-77CA-4AC8-861F-68E75AF142F1}"/>
              </a:ext>
            </a:extLst>
          </p:cNvPr>
          <p:cNvSpPr>
            <a:spLocks noGrp="1"/>
          </p:cNvSpPr>
          <p:nvPr/>
        </p:nvSpPr>
        <p:spPr>
          <a:xfrm>
            <a:off x="6724650" y="613410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72202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F887D0C-45FC-4ACD-A704-B569D1C19F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F4CA4-E1E2-454F-91F8-A2F8B79752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3B40D-257D-4516-B2C5-C635CF6AD5CB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0B00E-90EE-46C2-B4D5-1A0E869885F0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0BA50-52BF-47DC-ACD9-66E11594C758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2DD0A-47F9-4342-9047-FE0DE8185A5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18E35-A6C4-4073-9D35-C6EDB6ADE565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A2425-CEC9-4363-A6C4-B5678176BC0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6E7511-7D8B-4DDC-9436-68D2E918EB7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FD1E4-061B-4F22-9772-09B88B99C693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BA5BC-4A6A-4FB9-A892-6B6B0901E29B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29843-2E25-4243-B1A7-96E10733D66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DBCF72-6BEE-47C3-9544-F298D4E2F028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3F3DA-050F-4943-AD0C-2BA4E34160B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C9C87-16F1-4C2F-9287-B380413698E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FB223F-0219-4046-9E2F-8B0F05DF0A2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B2FBB-D997-494A-949B-4A2E690AB0BF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8ACEA0-8E2B-44B4-BACA-4D9A093DB1B7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0BD55-CA6F-4898-84DD-BBF816C49D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A8917B-871D-47D9-A1D6-ADEB8038C45A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57FE6B-569C-4AB7-8A31-2ABEC2A3A15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1B8A7E-E451-4131-9A97-1E6962188658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0E02EA-408C-4C28-B68C-FC642BBCDB42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70F772-1AF5-448A-9E8C-9ED3AFA8B0B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347C8D-95F3-4070-A46B-2B8CDEE05EB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2CFA46-4457-44D8-9DF6-5BD1F6812BC5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584385-65BC-4AB4-935D-71A2D49ABB9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62244E-DDD5-4D89-8670-20726698DC4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322B19-9AC1-47E7-A54D-52AA11D3EEF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Implementation: Tic Tac Toe AI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C126B9-1A6B-40C5-8E5E-1168BF25F126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implementation evaluates game states and returns the optimal next move for the AI player.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0E05E-8831-4638-9E70-DBD04C4A2A00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150A82-4F71-495C-9E7B-0EB37716A901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75BC126-3566-4E81-8333-0B76D0DD81B4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9572F92-B7D7-4522-9C60-0B6C6ACC6DDB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0D1627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4C84CA2-A456-4318-AFB6-1BC1DC6F3B46}"/>
              </a:ext>
            </a:extLst>
          </p:cNvPr>
          <p:cNvSpPr>
            <a:spLocks noGrp="1"/>
          </p:cNvSpPr>
          <p:nvPr/>
        </p:nvSpPr>
        <p:spPr>
          <a:xfrm>
            <a:off x="1276350" y="2933700"/>
            <a:ext cx="2152650" cy="2152650"/>
          </a:xfrm>
          <a:prstGeom prst="roundRect">
            <a:avLst>
              <a:gd name="adj" fmla="val 3540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4F60334-0CA1-4775-9ED4-689D76D312CB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2152650" cy="2152650"/>
          </a:xfrm>
          <a:prstGeom prst="roundRect">
            <a:avLst>
              <a:gd name="adj" fmla="val 3540"/>
            </a:avLst>
          </a:prstGeom>
          <a:solidFill>
            <a:srgbClr val="0B1324"/>
          </a:solidFill>
          <a:ln w="14288">
            <a:solidFill>
              <a:srgbClr val="3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3E1A8F-A83A-4CB9-A58F-C5107A07BAB9}"/>
              </a:ext>
            </a:extLst>
          </p:cNvPr>
          <p:cNvSpPr>
            <a:spLocks noGrp="1"/>
          </p:cNvSpPr>
          <p:nvPr/>
        </p:nvSpPr>
        <p:spPr>
          <a:xfrm>
            <a:off x="1936750" y="2990850"/>
            <a:ext cx="28575" cy="188595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E14AE9-9A01-4334-A022-D232EFF68D04}"/>
              </a:ext>
            </a:extLst>
          </p:cNvPr>
          <p:cNvSpPr>
            <a:spLocks noGrp="1"/>
          </p:cNvSpPr>
          <p:nvPr/>
        </p:nvSpPr>
        <p:spPr>
          <a:xfrm>
            <a:off x="1352550" y="3575050"/>
            <a:ext cx="188595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D3BB64-5C0D-4CAD-BE13-A137D780BF2E}"/>
              </a:ext>
            </a:extLst>
          </p:cNvPr>
          <p:cNvSpPr>
            <a:spLocks noGrp="1"/>
          </p:cNvSpPr>
          <p:nvPr/>
        </p:nvSpPr>
        <p:spPr>
          <a:xfrm>
            <a:off x="2654300" y="2990850"/>
            <a:ext cx="28575" cy="188595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0F1CCA-ABD9-4005-9B37-CD0ECAB91344}"/>
              </a:ext>
            </a:extLst>
          </p:cNvPr>
          <p:cNvSpPr>
            <a:spLocks noGrp="1"/>
          </p:cNvSpPr>
          <p:nvPr/>
        </p:nvSpPr>
        <p:spPr>
          <a:xfrm>
            <a:off x="1352550" y="4292600"/>
            <a:ext cx="1885950" cy="28575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2663C3-D12D-4664-929E-896FDA74A384}"/>
              </a:ext>
            </a:extLst>
          </p:cNvPr>
          <p:cNvSpPr>
            <a:spLocks noGrp="1"/>
          </p:cNvSpPr>
          <p:nvPr/>
        </p:nvSpPr>
        <p:spPr>
          <a:xfrm>
            <a:off x="1387475" y="2987675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037A0E-6878-4418-B7E4-B3A808D651BC}"/>
              </a:ext>
            </a:extLst>
          </p:cNvPr>
          <p:cNvSpPr>
            <a:spLocks noGrp="1"/>
          </p:cNvSpPr>
          <p:nvPr/>
        </p:nvSpPr>
        <p:spPr>
          <a:xfrm>
            <a:off x="2105025" y="2987675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3B6A18-98C6-4D6D-B440-8CA304FFCE24}"/>
              </a:ext>
            </a:extLst>
          </p:cNvPr>
          <p:cNvSpPr>
            <a:spLocks noGrp="1"/>
          </p:cNvSpPr>
          <p:nvPr/>
        </p:nvSpPr>
        <p:spPr>
          <a:xfrm>
            <a:off x="2822575" y="2987675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B89A798-52D3-4F14-B2C3-4AA63AB43F3C}"/>
              </a:ext>
            </a:extLst>
          </p:cNvPr>
          <p:cNvSpPr>
            <a:spLocks noGrp="1"/>
          </p:cNvSpPr>
          <p:nvPr/>
        </p:nvSpPr>
        <p:spPr>
          <a:xfrm>
            <a:off x="2105025" y="3705225"/>
            <a:ext cx="38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574C404-4274-4144-99D0-3C8A8F7FF340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CAAD0AC-F743-4479-99FF-4526ACBFA011}"/>
              </a:ext>
            </a:extLst>
          </p:cNvPr>
          <p:cNvSpPr>
            <a:spLocks noGrp="1"/>
          </p:cNvSpPr>
          <p:nvPr/>
        </p:nvSpPr>
        <p:spPr>
          <a:xfrm>
            <a:off x="1200150" y="50101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0BB880F-E9EA-4C6A-B639-FA875E88209A}"/>
              </a:ext>
            </a:extLst>
          </p:cNvPr>
          <p:cNvSpPr>
            <a:spLocks noGrp="1"/>
          </p:cNvSpPr>
          <p:nvPr/>
        </p:nvSpPr>
        <p:spPr>
          <a:xfrm>
            <a:off x="1333500" y="509587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Current board state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5E4696-6E69-4E43-A944-302B76CD2DE4}"/>
              </a:ext>
            </a:extLst>
          </p:cNvPr>
          <p:cNvSpPr>
            <a:spLocks noGrp="1"/>
          </p:cNvSpPr>
          <p:nvPr/>
        </p:nvSpPr>
        <p:spPr>
          <a:xfrm>
            <a:off x="4171950" y="3886200"/>
            <a:ext cx="9525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riangle 48">
            <a:extLst>
              <a:ext uri="{FF2B5EF4-FFF2-40B4-BE49-F238E27FC236}">
                <a16:creationId xmlns:a16="http://schemas.microsoft.com/office/drawing/2014/main" id="{A4720712-D0AB-45E2-81F0-5AEEC54AC53C}"/>
              </a:ext>
            </a:extLst>
          </p:cNvPr>
          <p:cNvSpPr>
            <a:spLocks noGrp="1"/>
          </p:cNvSpPr>
          <p:nvPr/>
        </p:nvSpPr>
        <p:spPr>
          <a:xfrm rot="19573435">
            <a:off x="5086350" y="3800475"/>
            <a:ext cx="190500" cy="190500"/>
          </a:xfrm>
          <a:prstGeom prst="triangl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14AAA82-3634-411C-B247-92ED1308E4B4}"/>
              </a:ext>
            </a:extLst>
          </p:cNvPr>
          <p:cNvSpPr>
            <a:spLocks noGrp="1"/>
          </p:cNvSpPr>
          <p:nvPr/>
        </p:nvSpPr>
        <p:spPr>
          <a:xfrm>
            <a:off x="5619750" y="243840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8E92632-3B9C-4EA5-93D0-1557297D93F3}"/>
              </a:ext>
            </a:extLst>
          </p:cNvPr>
          <p:cNvSpPr>
            <a:spLocks noGrp="1"/>
          </p:cNvSpPr>
          <p:nvPr/>
        </p:nvSpPr>
        <p:spPr>
          <a:xfrm>
            <a:off x="5562600" y="236220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1018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E48316-0C60-4912-ACC7-A02A658CE8CB}"/>
              </a:ext>
            </a:extLst>
          </p:cNvPr>
          <p:cNvSpPr>
            <a:spLocks noGrp="1"/>
          </p:cNvSpPr>
          <p:nvPr/>
        </p:nvSpPr>
        <p:spPr>
          <a:xfrm>
            <a:off x="5924550" y="27241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Evaluate Moves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9372DB-8820-4D3B-9D95-DC5DDABAC0E8}"/>
              </a:ext>
            </a:extLst>
          </p:cNvPr>
          <p:cNvSpPr>
            <a:spLocks noGrp="1"/>
          </p:cNvSpPr>
          <p:nvPr/>
        </p:nvSpPr>
        <p:spPr>
          <a:xfrm>
            <a:off x="5924550" y="3276600"/>
            <a:ext cx="18859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1. Generate legal moves</a:t>
            </a:r>
          </a:p>
          <a:p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2. Simulate future states</a:t>
            </a:r>
          </a:p>
          <a:p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3. Score terminal states</a:t>
            </a:r>
          </a:p>
          <a:p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4. Backtrack best value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172C91-0F63-4599-8026-EC8A79C983AB}"/>
              </a:ext>
            </a:extLst>
          </p:cNvPr>
          <p:cNvSpPr>
            <a:spLocks noGrp="1"/>
          </p:cNvSpPr>
          <p:nvPr/>
        </p:nvSpPr>
        <p:spPr>
          <a:xfrm>
            <a:off x="8439150" y="3886200"/>
            <a:ext cx="9525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E4DE324D-16A8-4829-A4EC-EFAE547AE65E}"/>
              </a:ext>
            </a:extLst>
          </p:cNvPr>
          <p:cNvSpPr>
            <a:spLocks noGrp="1"/>
          </p:cNvSpPr>
          <p:nvPr/>
        </p:nvSpPr>
        <p:spPr>
          <a:xfrm rot="19683415">
            <a:off x="9353550" y="3800475"/>
            <a:ext cx="190500" cy="190500"/>
          </a:xfrm>
          <a:prstGeom prst="triangl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47E468D-CD95-4381-B488-9E5A9FFEEE7E}"/>
              </a:ext>
            </a:extLst>
          </p:cNvPr>
          <p:cNvSpPr>
            <a:spLocks noGrp="1"/>
          </p:cNvSpPr>
          <p:nvPr/>
        </p:nvSpPr>
        <p:spPr>
          <a:xfrm>
            <a:off x="9867900" y="2438400"/>
            <a:ext cx="1657350" cy="3143250"/>
          </a:xfrm>
          <a:prstGeom prst="roundRect">
            <a:avLst>
              <a:gd name="adj" fmla="val 459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1D49DE6-9E34-4AD9-A1E3-38972EDF5DCC}"/>
              </a:ext>
            </a:extLst>
          </p:cNvPr>
          <p:cNvSpPr>
            <a:spLocks noGrp="1"/>
          </p:cNvSpPr>
          <p:nvPr/>
        </p:nvSpPr>
        <p:spPr>
          <a:xfrm>
            <a:off x="9810750" y="2362200"/>
            <a:ext cx="1657350" cy="3143250"/>
          </a:xfrm>
          <a:prstGeom prst="roundRect">
            <a:avLst>
              <a:gd name="adj" fmla="val 4598"/>
            </a:avLst>
          </a:prstGeom>
          <a:solidFill>
            <a:srgbClr val="102014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948636-830A-4482-88C2-04DD2C52F34A}"/>
              </a:ext>
            </a:extLst>
          </p:cNvPr>
          <p:cNvSpPr>
            <a:spLocks noGrp="1"/>
          </p:cNvSpPr>
          <p:nvPr/>
        </p:nvSpPr>
        <p:spPr>
          <a:xfrm>
            <a:off x="10115550" y="2952750"/>
            <a:ext cx="1047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Best</a:t>
            </a:r>
          </a:p>
          <a:p>
            <a:pPr algn="ctr">
              <a:defRPr sz="225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685D6B-7036-4A3A-A002-C396B952D801}"/>
              </a:ext>
            </a:extLst>
          </p:cNvPr>
          <p:cNvSpPr>
            <a:spLocks noGrp="1"/>
          </p:cNvSpPr>
          <p:nvPr/>
        </p:nvSpPr>
        <p:spPr>
          <a:xfrm>
            <a:off x="10001250" y="4038600"/>
            <a:ext cx="12954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Maximum guaranteed utility.</a:t>
            </a:r>
          </a:p>
        </p:txBody>
      </p:sp>
    </p:spTree>
    <p:extLst>
      <p:ext uri="{BB962C8B-B14F-4D97-AF65-F5344CB8AC3E}">
        <p14:creationId xmlns:p14="http://schemas.microsoft.com/office/powerpoint/2010/main" val="77826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73D1743E-1C5F-458F-974C-A92037EDB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F1DC1-7F08-49E9-A9C3-0B08D16D9E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4AFEC-452F-4906-A2C1-89F0FEC7085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A9E46-4F91-4B55-AE65-FD9CCD7342EB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5EDDD-9A9C-4842-AAD6-B781D6B68C4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C1F1B-62BA-481A-8643-6E1E2D2B314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67ECFF-35FF-4D74-91A6-B868EE92F444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6CE3A-69CF-4AEB-9140-670F6FFC1702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11DFE9-DAAD-4FF7-BB7D-952E7D185494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B50650-BD6B-4B4D-8EAB-9F657D6561A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546C3E-3C0B-4D4E-922A-061D5C709F3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A54628-B09D-44F5-8CAF-9ADFF3F63A15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67BC05-70FA-4C40-B32B-6D1333660EA8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2ABE02-1C6A-4124-8966-FA7B8F2C928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1C09D9-B53F-4AC2-81A7-013BDBA95DC5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8A803-EDD5-473C-A749-AB7B050DCBA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CA8107-700C-4BDF-8A9A-A525015933D5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0D109C-F71A-4123-9A50-BC2203F4543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8F4AC5-19DC-4ED6-92ED-37E99C0A46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944DA-AA6A-4F48-AE1E-E2FCC2BB14BC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862CEE-2125-4780-89A3-721AE1840F2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AFBB8-B4F3-40BD-8DA1-55B19303D5B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DAE2DB-2AD7-4431-A42D-F02D53DD906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484A02-4F74-4BD2-B358-B8F7FB475EF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74AB9C-6189-4A9B-AD83-0FA26A6DE457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85A630-1C18-437E-BD57-7F33221AB04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410E2B-7735-45B9-80EE-8EAA01EC9BA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705138-D0AE-441A-96CF-58D6CD51CEC3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49A216-CA5A-43A4-A076-29C900C484F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Results &amp; Algorithm Comparison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383145-9457-4211-840A-70BA1573A415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Both algorithms find the optimal move, but Alpha-Beta reduces unnecessary computation.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E95F40-ADE0-4AC1-A255-C4E9509B4205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849108-8058-4365-BF0B-11582F0B2CC1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88034A-87D8-433C-8F4E-5FEEB13CE19C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972050" cy="3429000"/>
          </a:xfrm>
          <a:prstGeom prst="roundRect">
            <a:avLst>
              <a:gd name="adj" fmla="val 2222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C46C4A5-C477-4C5E-B11F-D2CE046BEFA0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4972050" cy="3429000"/>
          </a:xfrm>
          <a:prstGeom prst="roundRect">
            <a:avLst>
              <a:gd name="adj" fmla="val 2222"/>
            </a:avLst>
          </a:prstGeom>
          <a:solidFill>
            <a:srgbClr val="0F1729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ADE7F4-E8A4-4E06-9827-CAF84C493D0C}"/>
              </a:ext>
            </a:extLst>
          </p:cNvPr>
          <p:cNvSpPr>
            <a:spLocks noGrp="1"/>
          </p:cNvSpPr>
          <p:nvPr/>
        </p:nvSpPr>
        <p:spPr>
          <a:xfrm>
            <a:off x="1123950" y="2647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Performance 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ED3DEC-48A8-4434-8772-5F591E62DA13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Minimax nodes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7BADC82-FF55-42E9-858F-58CA9AE011AE}"/>
              </a:ext>
            </a:extLst>
          </p:cNvPr>
          <p:cNvSpPr>
            <a:spLocks noGrp="1"/>
          </p:cNvSpPr>
          <p:nvPr/>
        </p:nvSpPr>
        <p:spPr>
          <a:xfrm>
            <a:off x="3429000" y="34671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0B111FE-428A-4D2F-A9D3-CD4F94FC5BBB}"/>
              </a:ext>
            </a:extLst>
          </p:cNvPr>
          <p:cNvSpPr>
            <a:spLocks noGrp="1"/>
          </p:cNvSpPr>
          <p:nvPr/>
        </p:nvSpPr>
        <p:spPr>
          <a:xfrm>
            <a:off x="3371850" y="33909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CDDC282-F268-4473-BE60-4774E5F04D50}"/>
              </a:ext>
            </a:extLst>
          </p:cNvPr>
          <p:cNvSpPr>
            <a:spLocks noGrp="1"/>
          </p:cNvSpPr>
          <p:nvPr/>
        </p:nvSpPr>
        <p:spPr>
          <a:xfrm>
            <a:off x="3409950" y="3429000"/>
            <a:ext cx="1352550" cy="133350"/>
          </a:xfrm>
          <a:prstGeom prst="roundRect">
            <a:avLst>
              <a:gd name="adj" fmla="val 50000"/>
            </a:avLst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6EB11E-BA0D-4892-B62B-74C619B02AD6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E2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E2E6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C06ABE-BD81-424A-8692-F15924076F2C}"/>
              </a:ext>
            </a:extLst>
          </p:cNvPr>
          <p:cNvSpPr>
            <a:spLocks noGrp="1"/>
          </p:cNvSpPr>
          <p:nvPr/>
        </p:nvSpPr>
        <p:spPr>
          <a:xfrm>
            <a:off x="990600" y="3943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Alpha-Beta nodes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1204CA8-626F-4661-BB90-1C1319825FD9}"/>
              </a:ext>
            </a:extLst>
          </p:cNvPr>
          <p:cNvSpPr>
            <a:spLocks noGrp="1"/>
          </p:cNvSpPr>
          <p:nvPr/>
        </p:nvSpPr>
        <p:spPr>
          <a:xfrm>
            <a:off x="3429000" y="40386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14DC0F1-F482-4FC6-AA4F-95E50AF33CD5}"/>
              </a:ext>
            </a:extLst>
          </p:cNvPr>
          <p:cNvSpPr>
            <a:spLocks noGrp="1"/>
          </p:cNvSpPr>
          <p:nvPr/>
        </p:nvSpPr>
        <p:spPr>
          <a:xfrm>
            <a:off x="3371850" y="39624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0B121BF-12C8-43FB-85EC-341661780121}"/>
              </a:ext>
            </a:extLst>
          </p:cNvPr>
          <p:cNvSpPr>
            <a:spLocks noGrp="1"/>
          </p:cNvSpPr>
          <p:nvPr/>
        </p:nvSpPr>
        <p:spPr>
          <a:xfrm>
            <a:off x="3409950" y="4000500"/>
            <a:ext cx="450850" cy="133350"/>
          </a:xfrm>
          <a:prstGeom prst="roundRect">
            <a:avLst>
              <a:gd name="adj" fmla="val 50000"/>
            </a:avLst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159946-31AE-4F5F-A723-8702BA85B867}"/>
              </a:ext>
            </a:extLst>
          </p:cNvPr>
          <p:cNvSpPr>
            <a:spLocks noGrp="1"/>
          </p:cNvSpPr>
          <p:nvPr/>
        </p:nvSpPr>
        <p:spPr>
          <a:xfrm>
            <a:off x="4953000" y="39433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CFF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FF6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2611FC-8573-4A8A-8B1A-6A4505EB2B4A}"/>
              </a:ext>
            </a:extLst>
          </p:cNvPr>
          <p:cNvSpPr>
            <a:spLocks noGrp="1"/>
          </p:cNvSpPr>
          <p:nvPr/>
        </p:nvSpPr>
        <p:spPr>
          <a:xfrm>
            <a:off x="990600" y="45148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Computation saved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A46419F-8512-411E-9C19-ADF09E4A6DD4}"/>
              </a:ext>
            </a:extLst>
          </p:cNvPr>
          <p:cNvSpPr>
            <a:spLocks noGrp="1"/>
          </p:cNvSpPr>
          <p:nvPr/>
        </p:nvSpPr>
        <p:spPr>
          <a:xfrm>
            <a:off x="3429000" y="46101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7C919EC-A19E-4B2C-A5B3-20CC06201C39}"/>
              </a:ext>
            </a:extLst>
          </p:cNvPr>
          <p:cNvSpPr>
            <a:spLocks noGrp="1"/>
          </p:cNvSpPr>
          <p:nvPr/>
        </p:nvSpPr>
        <p:spPr>
          <a:xfrm>
            <a:off x="3371850" y="4533900"/>
            <a:ext cx="1428750" cy="209550"/>
          </a:xfrm>
          <a:prstGeom prst="roundRect">
            <a:avLst>
              <a:gd name="adj" fmla="val 36364"/>
            </a:avLst>
          </a:prstGeom>
          <a:solidFill>
            <a:srgbClr val="0A1020"/>
          </a:solidFill>
          <a:ln w="14288">
            <a:solidFill>
              <a:srgbClr val="26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4C5661C-C460-4845-9139-6290B596592C}"/>
              </a:ext>
            </a:extLst>
          </p:cNvPr>
          <p:cNvSpPr>
            <a:spLocks noGrp="1"/>
          </p:cNvSpPr>
          <p:nvPr/>
        </p:nvSpPr>
        <p:spPr>
          <a:xfrm>
            <a:off x="3409950" y="4572000"/>
            <a:ext cx="1118776" cy="133350"/>
          </a:xfrm>
          <a:prstGeom prst="roundRect">
            <a:avLst>
              <a:gd name="adj" fmla="val 50000"/>
            </a:avLst>
          </a:prstGeom>
          <a:solidFill>
            <a:srgbClr val="B1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126584-E645-4156-B0BA-616F31865380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16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16CFF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2858F6-2DE1-4F4C-89CA-F51DF0B8D3E1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61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Illustrative Tic Tac Toe comparison: pruning avoids branches that cannot influence the final result.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89F137C-B31E-4C83-8287-903DB92A3E09}"/>
              </a:ext>
            </a:extLst>
          </p:cNvPr>
          <p:cNvSpPr>
            <a:spLocks noGrp="1"/>
          </p:cNvSpPr>
          <p:nvPr/>
        </p:nvSpPr>
        <p:spPr>
          <a:xfrm>
            <a:off x="6362700" y="2362200"/>
            <a:ext cx="4629150" cy="3429000"/>
          </a:xfrm>
          <a:prstGeom prst="roundRect">
            <a:avLst>
              <a:gd name="adj" fmla="val 2222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917AF08-5107-4DC7-9BAA-4C622FE5FDC8}"/>
              </a:ext>
            </a:extLst>
          </p:cNvPr>
          <p:cNvSpPr>
            <a:spLocks noGrp="1"/>
          </p:cNvSpPr>
          <p:nvPr/>
        </p:nvSpPr>
        <p:spPr>
          <a:xfrm>
            <a:off x="6466490" y="2286000"/>
            <a:ext cx="4629150" cy="3429000"/>
          </a:xfrm>
          <a:prstGeom prst="roundRect">
            <a:avLst>
              <a:gd name="adj" fmla="val 2222"/>
            </a:avLst>
          </a:prstGeom>
          <a:solidFill>
            <a:srgbClr val="101827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2C85BE-FB37-4742-BCCA-5E16DE43EC84}"/>
              </a:ext>
            </a:extLst>
          </p:cNvPr>
          <p:cNvSpPr>
            <a:spLocks noGrp="1"/>
          </p:cNvSpPr>
          <p:nvPr/>
        </p:nvSpPr>
        <p:spPr>
          <a:xfrm>
            <a:off x="6686550" y="2590800"/>
            <a:ext cx="3143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Comparison Summary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59AB688-3DD5-43F0-8C62-EE34455BCE58}"/>
              </a:ext>
            </a:extLst>
          </p:cNvPr>
          <p:cNvSpPr>
            <a:spLocks noGrp="1"/>
          </p:cNvSpPr>
          <p:nvPr/>
        </p:nvSpPr>
        <p:spPr>
          <a:xfrm>
            <a:off x="6762750" y="3409950"/>
            <a:ext cx="201930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B4A6C84-8230-4CEA-A98B-F419FD2910D9}"/>
              </a:ext>
            </a:extLst>
          </p:cNvPr>
          <p:cNvSpPr>
            <a:spLocks noGrp="1"/>
          </p:cNvSpPr>
          <p:nvPr/>
        </p:nvSpPr>
        <p:spPr>
          <a:xfrm>
            <a:off x="6705600" y="3333750"/>
            <a:ext cx="201930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5ABFA7-6A05-4EE8-BC81-B0208EDC79F5}"/>
              </a:ext>
            </a:extLst>
          </p:cNvPr>
          <p:cNvSpPr>
            <a:spLocks noGrp="1"/>
          </p:cNvSpPr>
          <p:nvPr/>
        </p:nvSpPr>
        <p:spPr>
          <a:xfrm>
            <a:off x="6838950" y="3419475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Optimal move: Same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1CF268F-67F2-4513-B52B-5944E06FAD75}"/>
              </a:ext>
            </a:extLst>
          </p:cNvPr>
          <p:cNvSpPr>
            <a:spLocks noGrp="1"/>
          </p:cNvSpPr>
          <p:nvPr/>
        </p:nvSpPr>
        <p:spPr>
          <a:xfrm>
            <a:off x="8991600" y="340995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08FDC524-0D72-4E7D-B0BB-146A7FB09D01}"/>
              </a:ext>
            </a:extLst>
          </p:cNvPr>
          <p:cNvSpPr>
            <a:spLocks noGrp="1"/>
          </p:cNvSpPr>
          <p:nvPr/>
        </p:nvSpPr>
        <p:spPr>
          <a:xfrm>
            <a:off x="8934450" y="333375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9498979-93B1-4D6F-8FED-75B91C3CB2C2}"/>
              </a:ext>
            </a:extLst>
          </p:cNvPr>
          <p:cNvSpPr>
            <a:spLocks noGrp="1"/>
          </p:cNvSpPr>
          <p:nvPr/>
        </p:nvSpPr>
        <p:spPr>
          <a:xfrm>
            <a:off x="9067800" y="3419475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Search cost: Lower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1453B23-F805-42A7-9667-9D6987AC0AA8}"/>
              </a:ext>
            </a:extLst>
          </p:cNvPr>
          <p:cNvSpPr>
            <a:spLocks noGrp="1"/>
          </p:cNvSpPr>
          <p:nvPr/>
        </p:nvSpPr>
        <p:spPr>
          <a:xfrm>
            <a:off x="6762750" y="415290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61E9A246-8F8A-427D-92A9-7BB1163C67C2}"/>
              </a:ext>
            </a:extLst>
          </p:cNvPr>
          <p:cNvSpPr>
            <a:spLocks noGrp="1"/>
          </p:cNvSpPr>
          <p:nvPr/>
        </p:nvSpPr>
        <p:spPr>
          <a:xfrm>
            <a:off x="6705600" y="407670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B1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24A9CB7-170C-42C1-AF24-546AA6A25070}"/>
              </a:ext>
            </a:extLst>
          </p:cNvPr>
          <p:cNvSpPr>
            <a:spLocks noGrp="1"/>
          </p:cNvSpPr>
          <p:nvPr/>
        </p:nvSpPr>
        <p:spPr>
          <a:xfrm>
            <a:off x="6838950" y="4162425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Memory: DFS stack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3D800F1-EB37-44DB-AEE3-812F5D620211}"/>
              </a:ext>
            </a:extLst>
          </p:cNvPr>
          <p:cNvSpPr>
            <a:spLocks noGrp="1"/>
          </p:cNvSpPr>
          <p:nvPr/>
        </p:nvSpPr>
        <p:spPr>
          <a:xfrm>
            <a:off x="8991600" y="415290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47D51C9-E15E-4EB9-ADE5-266641C81E05}"/>
              </a:ext>
            </a:extLst>
          </p:cNvPr>
          <p:cNvSpPr>
            <a:spLocks noGrp="1"/>
          </p:cNvSpPr>
          <p:nvPr/>
        </p:nvSpPr>
        <p:spPr>
          <a:xfrm>
            <a:off x="8934450" y="4076700"/>
            <a:ext cx="1962150" cy="400050"/>
          </a:xfrm>
          <a:prstGeom prst="roundRect">
            <a:avLst>
              <a:gd name="adj" fmla="val 19048"/>
            </a:avLst>
          </a:prstGeom>
          <a:solidFill>
            <a:srgbClr val="0B1324"/>
          </a:solidFill>
          <a:ln w="1143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B2413B-26CD-4268-93F4-0E83610BBFB7}"/>
              </a:ext>
            </a:extLst>
          </p:cNvPr>
          <p:cNvSpPr>
            <a:spLocks noGrp="1"/>
          </p:cNvSpPr>
          <p:nvPr/>
        </p:nvSpPr>
        <p:spPr>
          <a:xfrm>
            <a:off x="9067800" y="4162425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Best use: Larger trees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1249AA-944A-4F08-8A48-4B50CF2F8F82}"/>
              </a:ext>
            </a:extLst>
          </p:cNvPr>
          <p:cNvSpPr>
            <a:spLocks noGrp="1"/>
          </p:cNvSpPr>
          <p:nvPr/>
        </p:nvSpPr>
        <p:spPr>
          <a:xfrm>
            <a:off x="6705600" y="4762500"/>
            <a:ext cx="3390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Result: Alpha-Beta is preferred when the same answer is needed with fewer evaluations.</a:t>
            </a:r>
          </a:p>
        </p:txBody>
      </p:sp>
    </p:spTree>
    <p:extLst>
      <p:ext uri="{BB962C8B-B14F-4D97-AF65-F5344CB8AC3E}">
        <p14:creationId xmlns:p14="http://schemas.microsoft.com/office/powerpoint/2010/main" val="65713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D2DD353-27AE-4B43-81C4-B9361D8F41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0C6B0-55F8-4AE4-87DB-19EC70215E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8A169-055A-4AEA-9979-2065147E4008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2DB7A-7D16-4323-AD11-9224E34E9C71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6F20D-C6EF-4712-81E2-E298DA18C97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A3891-F722-4699-823E-BF473D1B039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A7115-928B-4B35-82C1-C6152CF6168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39D89-BD0C-42EC-86DB-B4EA53FF31E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C6AB82-F607-4070-9200-1DD1C30AAF1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DE51FE-C928-4B3F-BDAC-3743D13B4618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EA735-5B9D-4B8E-853D-FBBB191D5A6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63029-5EC4-4F05-9F52-6123921BEB5E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DD1D7C-43A9-4CBE-B182-7CBF22E0DBAF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23554A-D8A4-4D5C-9356-56BD49BB63F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697430-C26B-45E9-A071-DDE5258CF1C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390765-A8BD-4EE7-812E-C9E4BD80DF95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56D15-8A2A-4D44-8B2D-6059A787EDD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234298-1ED5-4E0A-A699-3056BCD0F206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6249FD-D9C9-4F26-8D5B-5FFC3F2EAD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012582-D4BF-4690-B4C7-625EF79BE040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FFCFA8-15FA-4FED-9261-5594A02135D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A244C9-7914-47EF-B51A-2DD49056F0B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A8A85-435C-43BF-9E3C-830BE153528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2C85A-D362-43F0-81A7-B0D1C11D4EF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F7E154-1410-4452-A5D3-6DF0B3C122E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F7C183-83C5-48E9-9FC9-7F0A380D38B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ED8E68-A8AA-4624-B05F-5F74EB2BE9D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4F3C9F-5C69-4DB1-8092-4EABFA5ECAE8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1B2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5DEDD9-1E32-493A-AAA1-DC0BF8ED458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572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BD558E-8B45-49E5-97DE-984E66D512E6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885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 game move optimization demonstrates how ADA concepts power intelligent decision systems.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7FC9B6-9669-4AB9-9CB7-F28AEAC555E9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428750" cy="38100"/>
          </a:xfrm>
          <a:prstGeom prst="rect">
            <a:avLst/>
          </a:prstGeom>
          <a:solidFill>
            <a:srgbClr val="2DE2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54B1B1-823C-4D21-ABB5-3B4BE59A1D7E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609600" cy="38100"/>
          </a:xfrm>
          <a:prstGeom prst="rect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8C21F06-9FF3-4D75-9E36-A1EC2EC2D214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4686300" cy="3105150"/>
          </a:xfrm>
          <a:prstGeom prst="roundRect">
            <a:avLst>
              <a:gd name="adj" fmla="val 245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B8ABFC5-F263-439D-9E7B-B318A40CACA9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4686300" cy="3105150"/>
          </a:xfrm>
          <a:prstGeom prst="roundRect">
            <a:avLst>
              <a:gd name="adj" fmla="val 2454"/>
            </a:avLst>
          </a:prstGeom>
          <a:solidFill>
            <a:srgbClr val="101827"/>
          </a:solidFill>
          <a:ln w="14288">
            <a:solidFill>
              <a:srgbClr val="2D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9C59A8-3635-440D-AA65-5972BDE94B2D}"/>
              </a:ext>
            </a:extLst>
          </p:cNvPr>
          <p:cNvSpPr>
            <a:spLocks noGrp="1"/>
          </p:cNvSpPr>
          <p:nvPr/>
        </p:nvSpPr>
        <p:spPr>
          <a:xfrm>
            <a:off x="1181100" y="26479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8D9EDD3-C38E-4529-BA54-B814BD97AA07}"/>
              </a:ext>
            </a:extLst>
          </p:cNvPr>
          <p:cNvSpPr>
            <a:spLocks noGrp="1"/>
          </p:cNvSpPr>
          <p:nvPr/>
        </p:nvSpPr>
        <p:spPr>
          <a:xfrm>
            <a:off x="1238250" y="3362325"/>
            <a:ext cx="133350" cy="133350"/>
          </a:xfrm>
          <a:prstGeom prst="ellips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E762A4-6D21-4B96-B213-F6CEE185195B}"/>
              </a:ext>
            </a:extLst>
          </p:cNvPr>
          <p:cNvSpPr>
            <a:spLocks noGrp="1"/>
          </p:cNvSpPr>
          <p:nvPr/>
        </p:nvSpPr>
        <p:spPr>
          <a:xfrm>
            <a:off x="1504950" y="3295650"/>
            <a:ext cx="3162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Games can be modeled as search trees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351B64-9DDA-4C16-91BC-DF730588F8C3}"/>
              </a:ext>
            </a:extLst>
          </p:cNvPr>
          <p:cNvSpPr>
            <a:spLocks noGrp="1"/>
          </p:cNvSpPr>
          <p:nvPr/>
        </p:nvSpPr>
        <p:spPr>
          <a:xfrm>
            <a:off x="1238250" y="3857625"/>
            <a:ext cx="133350" cy="133350"/>
          </a:xfrm>
          <a:prstGeom prst="ellips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F9A4FC-7808-46F3-ABD7-A856398BB4F5}"/>
              </a:ext>
            </a:extLst>
          </p:cNvPr>
          <p:cNvSpPr>
            <a:spLocks noGrp="1"/>
          </p:cNvSpPr>
          <p:nvPr/>
        </p:nvSpPr>
        <p:spPr>
          <a:xfrm>
            <a:off x="1504950" y="3790950"/>
            <a:ext cx="3162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Minimax provides optimal decision logic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24D67E-D85A-4AEB-AF16-F1CC57D3307B}"/>
              </a:ext>
            </a:extLst>
          </p:cNvPr>
          <p:cNvSpPr>
            <a:spLocks noGrp="1"/>
          </p:cNvSpPr>
          <p:nvPr/>
        </p:nvSpPr>
        <p:spPr>
          <a:xfrm>
            <a:off x="1238250" y="4352925"/>
            <a:ext cx="133350" cy="133350"/>
          </a:xfrm>
          <a:prstGeom prst="ellips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B5A26F-C658-4388-8DE8-03CEC59B315B}"/>
              </a:ext>
            </a:extLst>
          </p:cNvPr>
          <p:cNvSpPr>
            <a:spLocks noGrp="1"/>
          </p:cNvSpPr>
          <p:nvPr/>
        </p:nvSpPr>
        <p:spPr>
          <a:xfrm>
            <a:off x="1504950" y="4286250"/>
            <a:ext cx="3162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Alpha-Beta reduces node exploration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FDBACB-3B73-4C00-88D6-C0E4F172E6BD}"/>
              </a:ext>
            </a:extLst>
          </p:cNvPr>
          <p:cNvSpPr>
            <a:spLocks noGrp="1"/>
          </p:cNvSpPr>
          <p:nvPr/>
        </p:nvSpPr>
        <p:spPr>
          <a:xfrm>
            <a:off x="1238250" y="4848225"/>
            <a:ext cx="133350" cy="133350"/>
          </a:xfrm>
          <a:prstGeom prst="ellipse">
            <a:avLst/>
          </a:prstGeom>
          <a:solidFill>
            <a:srgbClr val="7CF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2A2C6C-4517-401E-B402-986D9BD4AD9F}"/>
              </a:ext>
            </a:extLst>
          </p:cNvPr>
          <p:cNvSpPr>
            <a:spLocks noGrp="1"/>
          </p:cNvSpPr>
          <p:nvPr/>
        </p:nvSpPr>
        <p:spPr>
          <a:xfrm>
            <a:off x="1504950" y="4781550"/>
            <a:ext cx="3162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Complexity analysis explains performance gain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BDD93E8-B17E-4570-8A8B-2CB4C5C7F07C}"/>
              </a:ext>
            </a:extLst>
          </p:cNvPr>
          <p:cNvSpPr>
            <a:spLocks noGrp="1"/>
          </p:cNvSpPr>
          <p:nvPr/>
        </p:nvSpPr>
        <p:spPr>
          <a:xfrm>
            <a:off x="6343650" y="2419350"/>
            <a:ext cx="4191000" cy="3105150"/>
          </a:xfrm>
          <a:prstGeom prst="roundRect">
            <a:avLst>
              <a:gd name="adj" fmla="val 2454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646931F-58EE-43D7-9CF8-B1E1E1570E4C}"/>
              </a:ext>
            </a:extLst>
          </p:cNvPr>
          <p:cNvSpPr>
            <a:spLocks noGrp="1"/>
          </p:cNvSpPr>
          <p:nvPr/>
        </p:nvSpPr>
        <p:spPr>
          <a:xfrm>
            <a:off x="6286500" y="2343150"/>
            <a:ext cx="4191000" cy="3105150"/>
          </a:xfrm>
          <a:prstGeom prst="roundRect">
            <a:avLst>
              <a:gd name="adj" fmla="val 2454"/>
            </a:avLst>
          </a:prstGeom>
          <a:solidFill>
            <a:srgbClr val="0E1728"/>
          </a:solidFill>
          <a:ln w="14288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F63AD8-7FDE-42EF-94C5-6D60C82BD2CB}"/>
              </a:ext>
            </a:extLst>
          </p:cNvPr>
          <p:cNvSpPr>
            <a:spLocks noGrp="1"/>
          </p:cNvSpPr>
          <p:nvPr/>
        </p:nvSpPr>
        <p:spPr>
          <a:xfrm>
            <a:off x="6667500" y="26479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Final Statement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F3ACA5-2FD6-450B-96B0-9E7540AB322A}"/>
              </a:ext>
            </a:extLst>
          </p:cNvPr>
          <p:cNvSpPr>
            <a:spLocks noGrp="1"/>
          </p:cNvSpPr>
          <p:nvPr/>
        </p:nvSpPr>
        <p:spPr>
          <a:xfrm>
            <a:off x="6667500" y="3295650"/>
            <a:ext cx="31051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Optimization is essential in AI systems. Alpha-Beta Pruning significantly improves Minimax while preserving the same best move decision.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C2B46C2-E2E0-4052-8B90-A72B668F3161}"/>
              </a:ext>
            </a:extLst>
          </p:cNvPr>
          <p:cNvSpPr>
            <a:spLocks noGrp="1"/>
          </p:cNvSpPr>
          <p:nvPr/>
        </p:nvSpPr>
        <p:spPr>
          <a:xfrm>
            <a:off x="6716699" y="4808223"/>
            <a:ext cx="3314700" cy="47625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605FB5A-275A-43E8-956A-784939C9FFFF}"/>
              </a:ext>
            </a:extLst>
          </p:cNvPr>
          <p:cNvSpPr>
            <a:spLocks noGrp="1"/>
          </p:cNvSpPr>
          <p:nvPr/>
        </p:nvSpPr>
        <p:spPr>
          <a:xfrm>
            <a:off x="6667500" y="4804538"/>
            <a:ext cx="3314700" cy="476250"/>
          </a:xfrm>
          <a:prstGeom prst="roundRect">
            <a:avLst>
              <a:gd name="adj" fmla="val 16000"/>
            </a:avLst>
          </a:prstGeom>
          <a:solidFill>
            <a:srgbClr val="0B1324"/>
          </a:solidFill>
          <a:ln w="11430">
            <a:solidFill>
              <a:srgbClr val="7CF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D3E087-5089-4CD0-9285-36BAB7460466}"/>
              </a:ext>
            </a:extLst>
          </p:cNvPr>
          <p:cNvSpPr>
            <a:spLocks noGrp="1"/>
          </p:cNvSpPr>
          <p:nvPr/>
        </p:nvSpPr>
        <p:spPr>
          <a:xfrm>
            <a:off x="6800850" y="4890263"/>
            <a:ext cx="304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ADA concepts applied: recursion, trees, pruning, complexity</a:t>
            </a:r>
          </a:p>
        </p:txBody>
      </p:sp>
    </p:spTree>
    <p:extLst>
      <p:ext uri="{BB962C8B-B14F-4D97-AF65-F5344CB8AC3E}">
        <p14:creationId xmlns:p14="http://schemas.microsoft.com/office/powerpoint/2010/main" val="7856661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606</Words>
  <Application>Microsoft Macintosh PowerPoint</Application>
  <DocSecurity>0</DocSecurity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pankaj raikar</cp:lastModifiedBy>
  <cp:revision>2</cp:revision>
  <dcterms:created xsi:type="dcterms:W3CDTF">2026-05-19T17:11:38Z</dcterms:created>
  <dcterms:modified xsi:type="dcterms:W3CDTF">2026-05-20T02:14:00Z</dcterms:modified>
</cp:coreProperties>
</file>