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2125C9-F685-40B4-A9A6-2D42E1D47A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E9390E-7F1B-43EF-A8BC-7BBA3E259F5E}"/>
              </a:ext>
            </a:extLst>
          </p:cNvPr>
          <p:cNvSpPr>
            <a:spLocks noGrp="1"/>
          </p:cNvSpPr>
          <p:nvPr/>
        </p:nvSpPr>
        <p:spPr>
          <a:xfrm>
            <a:off x="9920398" y="123825"/>
            <a:ext cx="1476375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673E8F-A25C-4F68-8785-9DC5964A7658}"/>
              </a:ext>
            </a:extLst>
          </p:cNvPr>
          <p:cNvSpPr>
            <a:spLocks noGrp="1"/>
          </p:cNvSpPr>
          <p:nvPr/>
        </p:nvSpPr>
        <p:spPr>
          <a:xfrm>
            <a:off x="723900" y="4191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GENAI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B464CE-D861-4E43-AA71-ADECD7AF0EB8}"/>
              </a:ext>
            </a:extLst>
          </p:cNvPr>
          <p:cNvSpPr>
            <a:spLocks noGrp="1"/>
          </p:cNvSpPr>
          <p:nvPr/>
        </p:nvSpPr>
        <p:spPr>
          <a:xfrm>
            <a:off x="723900" y="781050"/>
            <a:ext cx="107442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2C8BDE-6D7B-4821-A4BE-7DA762ABFEE7}"/>
              </a:ext>
            </a:extLst>
          </p:cNvPr>
          <p:cNvSpPr>
            <a:spLocks noGrp="1"/>
          </p:cNvSpPr>
          <p:nvPr/>
        </p:nvSpPr>
        <p:spPr>
          <a:xfrm>
            <a:off x="819150" y="1295400"/>
            <a:ext cx="4762500" cy="3543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54F850-03F2-4D88-A8B6-3B2DB9BF761A}"/>
              </a:ext>
            </a:extLst>
          </p:cNvPr>
          <p:cNvSpPr>
            <a:spLocks noGrp="1"/>
          </p:cNvSpPr>
          <p:nvPr/>
        </p:nvSpPr>
        <p:spPr>
          <a:xfrm>
            <a:off x="723900" y="1200150"/>
            <a:ext cx="4762500" cy="3543300"/>
          </a:xfrm>
          <a:prstGeom prst="rect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7155C2-3BC0-4C4C-9DDB-DED8912079AF}"/>
              </a:ext>
            </a:extLst>
          </p:cNvPr>
          <p:cNvSpPr>
            <a:spLocks noGrp="1"/>
          </p:cNvSpPr>
          <p:nvPr/>
        </p:nvSpPr>
        <p:spPr>
          <a:xfrm>
            <a:off x="5962650" y="1885950"/>
            <a:ext cx="4876800" cy="23622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67E4BA-4B61-43BF-A08A-FB978F754556}"/>
              </a:ext>
            </a:extLst>
          </p:cNvPr>
          <p:cNvSpPr>
            <a:spLocks noGrp="1"/>
          </p:cNvSpPr>
          <p:nvPr/>
        </p:nvSpPr>
        <p:spPr>
          <a:xfrm>
            <a:off x="5867400" y="1790700"/>
            <a:ext cx="4876800" cy="2362200"/>
          </a:xfrm>
          <a:prstGeom prst="rect">
            <a:avLst/>
          </a:prstGeom>
          <a:solidFill>
            <a:srgbClr val="BCE0F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821C82-FB13-4B4B-A800-8537C0791E8C}"/>
              </a:ext>
            </a:extLst>
          </p:cNvPr>
          <p:cNvSpPr>
            <a:spLocks noGrp="1"/>
          </p:cNvSpPr>
          <p:nvPr/>
        </p:nvSpPr>
        <p:spPr>
          <a:xfrm>
            <a:off x="1066800" y="1504950"/>
            <a:ext cx="40957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43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43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FOCUSLY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24974C-15C2-49CA-8DBF-FC2143DF3CB6}"/>
              </a:ext>
            </a:extLst>
          </p:cNvPr>
          <p:cNvSpPr>
            <a:spLocks noGrp="1"/>
          </p:cNvSpPr>
          <p:nvPr/>
        </p:nvSpPr>
        <p:spPr>
          <a:xfrm>
            <a:off x="1104900" y="2438400"/>
            <a:ext cx="37147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AI-driven animated learning platform for ADHD learners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8554C6-FBE2-409F-92F9-0F4A17574F88}"/>
              </a:ext>
            </a:extLst>
          </p:cNvPr>
          <p:cNvSpPr>
            <a:spLocks noGrp="1"/>
          </p:cNvSpPr>
          <p:nvPr/>
        </p:nvSpPr>
        <p:spPr>
          <a:xfrm>
            <a:off x="1104900" y="3638550"/>
            <a:ext cx="3143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 1 Evaluation Deck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39C4F6A-C161-43F8-8213-F761EA05C581}"/>
              </a:ext>
            </a:extLst>
          </p:cNvPr>
          <p:cNvSpPr>
            <a:spLocks noGrp="1"/>
          </p:cNvSpPr>
          <p:nvPr/>
        </p:nvSpPr>
        <p:spPr>
          <a:xfrm>
            <a:off x="1181100" y="4229100"/>
            <a:ext cx="3219450" cy="457200"/>
          </a:xfrm>
          <a:prstGeom prst="roundRect">
            <a:avLst>
              <a:gd name="adj" fmla="val 16667"/>
            </a:avLst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F76DF7-C0D5-4F6A-9594-8A5B18EB5D8E}"/>
              </a:ext>
            </a:extLst>
          </p:cNvPr>
          <p:cNvSpPr>
            <a:spLocks noGrp="1"/>
          </p:cNvSpPr>
          <p:nvPr/>
        </p:nvSpPr>
        <p:spPr>
          <a:xfrm>
            <a:off x="1104900" y="4152900"/>
            <a:ext cx="321945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lIns="171450" tIns="76200" rIns="171450" bIns="76200" anchor="ctr"/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High-level implementation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16C8C3-EEC2-4088-ACF5-FAC3B141C816}"/>
              </a:ext>
            </a:extLst>
          </p:cNvPr>
          <p:cNvSpPr>
            <a:spLocks noGrp="1"/>
          </p:cNvSpPr>
          <p:nvPr/>
        </p:nvSpPr>
        <p:spPr>
          <a:xfrm>
            <a:off x="6210300" y="20955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Presented by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150683-FDE7-4DC9-9549-18A07CF59B91}"/>
              </a:ext>
            </a:extLst>
          </p:cNvPr>
          <p:cNvSpPr>
            <a:spLocks noGrp="1"/>
          </p:cNvSpPr>
          <p:nvPr/>
        </p:nvSpPr>
        <p:spPr>
          <a:xfrm>
            <a:off x="6229350" y="2571750"/>
            <a:ext cx="3143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Pankaj Raikar</a:t>
            </a:r>
          </a:p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1RV25MC065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0187F1-7572-4F62-A1FE-B0638E8B7E4F}"/>
              </a:ext>
            </a:extLst>
          </p:cNvPr>
          <p:cNvSpPr>
            <a:spLocks noGrp="1"/>
          </p:cNvSpPr>
          <p:nvPr/>
        </p:nvSpPr>
        <p:spPr>
          <a:xfrm>
            <a:off x="6229350" y="3409950"/>
            <a:ext cx="3143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Prem Kamble</a:t>
            </a:r>
          </a:p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1RV25MC074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082963C-A470-46E6-947F-AE4C4F3BBE5C}"/>
              </a:ext>
            </a:extLst>
          </p:cNvPr>
          <p:cNvSpPr>
            <a:spLocks noGrp="1"/>
          </p:cNvSpPr>
          <p:nvPr/>
        </p:nvSpPr>
        <p:spPr>
          <a:xfrm>
            <a:off x="7162800" y="4819650"/>
            <a:ext cx="3143250" cy="495300"/>
          </a:xfrm>
          <a:prstGeom prst="roundRect">
            <a:avLst>
              <a:gd name="adj" fmla="val 15385"/>
            </a:avLst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D513E0-C8CA-4DFB-A761-7E56C847AFBE}"/>
              </a:ext>
            </a:extLst>
          </p:cNvPr>
          <p:cNvSpPr>
            <a:spLocks noGrp="1"/>
          </p:cNvSpPr>
          <p:nvPr/>
        </p:nvSpPr>
        <p:spPr>
          <a:xfrm>
            <a:off x="7086600" y="4743450"/>
            <a:ext cx="3143250" cy="495300"/>
          </a:xfrm>
          <a:prstGeom prst="rect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 lIns="171450" tIns="76200" rIns="171450" bIns="76200" anchor="ctr"/>
          <a:lstStyle/>
          <a:p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GenAI + Animation + Learning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2720E3-A348-4F6A-AA47-73DD57B977A3}"/>
              </a:ext>
            </a:extLst>
          </p:cNvPr>
          <p:cNvSpPr>
            <a:spLocks noGrp="1"/>
          </p:cNvSpPr>
          <p:nvPr/>
        </p:nvSpPr>
        <p:spPr>
          <a:xfrm>
            <a:off x="723900" y="63055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Focusly | GenAI Phase 1 Evaluation</a:t>
            </a:r>
          </a:p>
        </p:txBody>
      </p:sp>
    </p:spTree>
    <p:extLst>
      <p:ext uri="{BB962C8B-B14F-4D97-AF65-F5344CB8AC3E}">
        <p14:creationId xmlns:p14="http://schemas.microsoft.com/office/powerpoint/2010/main" val="1016328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029F4F0-DCFD-497B-8AED-51630F8D55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6558BB-4DBC-4949-AFA0-17BAD69688BA}"/>
              </a:ext>
            </a:extLst>
          </p:cNvPr>
          <p:cNvSpPr>
            <a:spLocks noGrp="1"/>
          </p:cNvSpPr>
          <p:nvPr/>
        </p:nvSpPr>
        <p:spPr>
          <a:xfrm>
            <a:off x="9878533" y="57150"/>
            <a:ext cx="1476375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7721C9-AE84-48FB-920B-19D8B7CAC07E}"/>
              </a:ext>
            </a:extLst>
          </p:cNvPr>
          <p:cNvSpPr>
            <a:spLocks noGrp="1"/>
          </p:cNvSpPr>
          <p:nvPr/>
        </p:nvSpPr>
        <p:spPr>
          <a:xfrm>
            <a:off x="723900" y="4191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A135F8-5467-42F6-A4E2-64060D9BCAA8}"/>
              </a:ext>
            </a:extLst>
          </p:cNvPr>
          <p:cNvSpPr>
            <a:spLocks noGrp="1"/>
          </p:cNvSpPr>
          <p:nvPr/>
        </p:nvSpPr>
        <p:spPr>
          <a:xfrm>
            <a:off x="723900" y="781050"/>
            <a:ext cx="107442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62CACB-146B-4B58-9F94-2570293A2A62}"/>
              </a:ext>
            </a:extLst>
          </p:cNvPr>
          <p:cNvSpPr>
            <a:spLocks noGrp="1"/>
          </p:cNvSpPr>
          <p:nvPr/>
        </p:nvSpPr>
        <p:spPr>
          <a:xfrm>
            <a:off x="723900" y="1104900"/>
            <a:ext cx="7239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31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1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What Focusly Solves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B020D6-E709-485E-A7DC-1DD98DD85083}"/>
              </a:ext>
            </a:extLst>
          </p:cNvPr>
          <p:cNvSpPr>
            <a:spLocks noGrp="1"/>
          </p:cNvSpPr>
          <p:nvPr/>
        </p:nvSpPr>
        <p:spPr>
          <a:xfrm>
            <a:off x="781050" y="190500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Students need short, visual, course-specific explanations instead of long generic videos.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1CD28E-09F9-48AE-A010-FB3FD5B9720F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3143250" cy="23431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37AF15-E997-4068-8D81-182721870C1D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3143250" cy="2343150"/>
          </a:xfrm>
          <a:prstGeom prst="rect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0C5E4D-5D92-4502-93AC-551077942A6E}"/>
              </a:ext>
            </a:extLst>
          </p:cNvPr>
          <p:cNvSpPr>
            <a:spLocks noGrp="1"/>
          </p:cNvSpPr>
          <p:nvPr/>
        </p:nvSpPr>
        <p:spPr>
          <a:xfrm>
            <a:off x="1085850" y="2895600"/>
            <a:ext cx="247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175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175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Problem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BF678A-E7C7-412E-9307-17EDAEF92D96}"/>
              </a:ext>
            </a:extLst>
          </p:cNvPr>
          <p:cNvSpPr>
            <a:spLocks noGrp="1"/>
          </p:cNvSpPr>
          <p:nvPr/>
        </p:nvSpPr>
        <p:spPr>
          <a:xfrm>
            <a:off x="1104900" y="3371850"/>
            <a:ext cx="133350" cy="133350"/>
          </a:xfrm>
          <a:prstGeom prst="ellipse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79DDC8-B5E0-4602-8F52-2087A298DB70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09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Lecture notes are text-heavy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E8ECCF-5D3A-4451-A57F-977621EBAB80}"/>
              </a:ext>
            </a:extLst>
          </p:cNvPr>
          <p:cNvSpPr>
            <a:spLocks noGrp="1"/>
          </p:cNvSpPr>
          <p:nvPr/>
        </p:nvSpPr>
        <p:spPr>
          <a:xfrm>
            <a:off x="1104900" y="3848100"/>
            <a:ext cx="133350" cy="133350"/>
          </a:xfrm>
          <a:prstGeom prst="ellipse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1DB6A1-0C09-4657-A760-A9FFA485E237}"/>
              </a:ext>
            </a:extLst>
          </p:cNvPr>
          <p:cNvSpPr>
            <a:spLocks noGrp="1"/>
          </p:cNvSpPr>
          <p:nvPr/>
        </p:nvSpPr>
        <p:spPr>
          <a:xfrm>
            <a:off x="1390650" y="3752850"/>
            <a:ext cx="209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YouTube videos are too generic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9D8CCCE-DFA1-469F-AA2F-4BAB51E32597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33350" cy="133350"/>
          </a:xfrm>
          <a:prstGeom prst="ellipse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AC9FC-3082-499E-971E-A5D4E95BA0AF}"/>
              </a:ext>
            </a:extLst>
          </p:cNvPr>
          <p:cNvSpPr>
            <a:spLocks noGrp="1"/>
          </p:cNvSpPr>
          <p:nvPr/>
        </p:nvSpPr>
        <p:spPr>
          <a:xfrm>
            <a:off x="1390650" y="4229100"/>
            <a:ext cx="209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Attention drops during long explanations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63019F-1C5D-4E65-BFE7-C2183F179B4E}"/>
              </a:ext>
            </a:extLst>
          </p:cNvPr>
          <p:cNvSpPr>
            <a:spLocks noGrp="1"/>
          </p:cNvSpPr>
          <p:nvPr/>
        </p:nvSpPr>
        <p:spPr>
          <a:xfrm>
            <a:off x="4591050" y="2667000"/>
            <a:ext cx="3143250" cy="23431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81EBAD-2827-4657-9913-3B14027FE106}"/>
              </a:ext>
            </a:extLst>
          </p:cNvPr>
          <p:cNvSpPr>
            <a:spLocks noGrp="1"/>
          </p:cNvSpPr>
          <p:nvPr/>
        </p:nvSpPr>
        <p:spPr>
          <a:xfrm>
            <a:off x="4495800" y="2571750"/>
            <a:ext cx="3143250" cy="2343150"/>
          </a:xfrm>
          <a:prstGeom prst="rect">
            <a:avLst/>
          </a:prstGeom>
          <a:solidFill>
            <a:srgbClr val="BCE0F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8D5F82-C475-41CE-A30B-713FF0A30328}"/>
              </a:ext>
            </a:extLst>
          </p:cNvPr>
          <p:cNvSpPr>
            <a:spLocks noGrp="1"/>
          </p:cNvSpPr>
          <p:nvPr/>
        </p:nvSpPr>
        <p:spPr>
          <a:xfrm>
            <a:off x="4800600" y="2895600"/>
            <a:ext cx="247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175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175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Phase 1 Scope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94B91CB-BACB-4475-B66F-0DEA6A128B00}"/>
              </a:ext>
            </a:extLst>
          </p:cNvPr>
          <p:cNvSpPr>
            <a:spLocks noGrp="1"/>
          </p:cNvSpPr>
          <p:nvPr/>
        </p:nvSpPr>
        <p:spPr>
          <a:xfrm>
            <a:off x="4819650" y="3371850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28C9A1-1E10-4FCC-8908-A8536D9B829E}"/>
              </a:ext>
            </a:extLst>
          </p:cNvPr>
          <p:cNvSpPr>
            <a:spLocks noGrp="1"/>
          </p:cNvSpPr>
          <p:nvPr/>
        </p:nvSpPr>
        <p:spPr>
          <a:xfrm>
            <a:off x="5105400" y="3276600"/>
            <a:ext cx="209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Topic prompt input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BB69F7E-2CEE-472B-BE7C-4A00F69F015F}"/>
              </a:ext>
            </a:extLst>
          </p:cNvPr>
          <p:cNvSpPr>
            <a:spLocks noGrp="1"/>
          </p:cNvSpPr>
          <p:nvPr/>
        </p:nvSpPr>
        <p:spPr>
          <a:xfrm>
            <a:off x="4819650" y="3848100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EFF834-8850-44C7-8D0C-C888B2B1A440}"/>
              </a:ext>
            </a:extLst>
          </p:cNvPr>
          <p:cNvSpPr>
            <a:spLocks noGrp="1"/>
          </p:cNvSpPr>
          <p:nvPr/>
        </p:nvSpPr>
        <p:spPr>
          <a:xfrm>
            <a:off x="5105400" y="3752850"/>
            <a:ext cx="209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Generate animated lesson video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325B0F5-ACC3-489E-A4B8-D37D25CDAE25}"/>
              </a:ext>
            </a:extLst>
          </p:cNvPr>
          <p:cNvSpPr>
            <a:spLocks noGrp="1"/>
          </p:cNvSpPr>
          <p:nvPr/>
        </p:nvSpPr>
        <p:spPr>
          <a:xfrm>
            <a:off x="4819650" y="4324350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5EC93F-7573-40ED-B77F-C06129A89F5F}"/>
              </a:ext>
            </a:extLst>
          </p:cNvPr>
          <p:cNvSpPr>
            <a:spLocks noGrp="1"/>
          </p:cNvSpPr>
          <p:nvPr/>
        </p:nvSpPr>
        <p:spPr>
          <a:xfrm>
            <a:off x="5105400" y="4229100"/>
            <a:ext cx="209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Narration + quiz checkpoints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544EE4-264E-46B1-858F-41326428B189}"/>
              </a:ext>
            </a:extLst>
          </p:cNvPr>
          <p:cNvSpPr>
            <a:spLocks noGrp="1"/>
          </p:cNvSpPr>
          <p:nvPr/>
        </p:nvSpPr>
        <p:spPr>
          <a:xfrm>
            <a:off x="8305800" y="2667000"/>
            <a:ext cx="2533650" cy="23431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D803EF-CEF8-415E-AC98-E940C929CECD}"/>
              </a:ext>
            </a:extLst>
          </p:cNvPr>
          <p:cNvSpPr>
            <a:spLocks noGrp="1"/>
          </p:cNvSpPr>
          <p:nvPr/>
        </p:nvSpPr>
        <p:spPr>
          <a:xfrm>
            <a:off x="8210550" y="2571750"/>
            <a:ext cx="2533650" cy="2343150"/>
          </a:xfrm>
          <a:prstGeom prst="rect">
            <a:avLst/>
          </a:prstGeom>
          <a:solidFill>
            <a:srgbClr val="F7F7F7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B47131-2065-4967-B069-372E7559137B}"/>
              </a:ext>
            </a:extLst>
          </p:cNvPr>
          <p:cNvSpPr>
            <a:spLocks noGrp="1"/>
          </p:cNvSpPr>
          <p:nvPr/>
        </p:nvSpPr>
        <p:spPr>
          <a:xfrm>
            <a:off x="8515350" y="289560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175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175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MVP Target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FC7E6D-9E05-4651-AFF0-3398FFF4B75C}"/>
              </a:ext>
            </a:extLst>
          </p:cNvPr>
          <p:cNvSpPr>
            <a:spLocks noGrp="1"/>
          </p:cNvSpPr>
          <p:nvPr/>
        </p:nvSpPr>
        <p:spPr>
          <a:xfrm>
            <a:off x="8553450" y="3429000"/>
            <a:ext cx="18097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 lesson video ready in under 5 minutes.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0823F17-7E61-40EC-BD09-08E321CA6326}"/>
              </a:ext>
            </a:extLst>
          </p:cNvPr>
          <p:cNvSpPr>
            <a:spLocks noGrp="1"/>
          </p:cNvSpPr>
          <p:nvPr/>
        </p:nvSpPr>
        <p:spPr>
          <a:xfrm>
            <a:off x="3829050" y="5295900"/>
            <a:ext cx="4362450" cy="476250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F8467B-3AB0-4250-A971-AF2E9948717E}"/>
              </a:ext>
            </a:extLst>
          </p:cNvPr>
          <p:cNvSpPr>
            <a:spLocks noGrp="1"/>
          </p:cNvSpPr>
          <p:nvPr/>
        </p:nvSpPr>
        <p:spPr>
          <a:xfrm>
            <a:off x="3752850" y="5219700"/>
            <a:ext cx="4362450" cy="4762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lIns="171450" tIns="76200" rIns="171450" bIns="76200" anchor="ctr"/>
          <a:lstStyle/>
          <a:p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Minimal demo: prompt to video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7548DC-EB16-4301-B6DD-54197AF62373}"/>
              </a:ext>
            </a:extLst>
          </p:cNvPr>
          <p:cNvSpPr>
            <a:spLocks noGrp="1"/>
          </p:cNvSpPr>
          <p:nvPr/>
        </p:nvSpPr>
        <p:spPr>
          <a:xfrm>
            <a:off x="723900" y="63055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Focusly | GenAI Phase 1 Evaluation</a:t>
            </a:r>
          </a:p>
        </p:txBody>
      </p:sp>
    </p:spTree>
    <p:extLst>
      <p:ext uri="{BB962C8B-B14F-4D97-AF65-F5344CB8AC3E}">
        <p14:creationId xmlns:p14="http://schemas.microsoft.com/office/powerpoint/2010/main" val="518748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BB39397-9636-4D17-8002-6D8ACBA6C2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52BE7E-0763-4331-9632-BD5408301302}"/>
              </a:ext>
            </a:extLst>
          </p:cNvPr>
          <p:cNvSpPr>
            <a:spLocks noGrp="1"/>
          </p:cNvSpPr>
          <p:nvPr/>
        </p:nvSpPr>
        <p:spPr>
          <a:xfrm>
            <a:off x="9864577" y="123825"/>
            <a:ext cx="1476375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F4C584-143A-4E18-A887-D273B470EE7B}"/>
              </a:ext>
            </a:extLst>
          </p:cNvPr>
          <p:cNvSpPr>
            <a:spLocks noGrp="1"/>
          </p:cNvSpPr>
          <p:nvPr/>
        </p:nvSpPr>
        <p:spPr>
          <a:xfrm>
            <a:off x="723900" y="4191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7B92C-81B3-4515-B991-A65B6EB675F9}"/>
              </a:ext>
            </a:extLst>
          </p:cNvPr>
          <p:cNvSpPr>
            <a:spLocks noGrp="1"/>
          </p:cNvSpPr>
          <p:nvPr/>
        </p:nvSpPr>
        <p:spPr>
          <a:xfrm>
            <a:off x="723900" y="781050"/>
            <a:ext cx="107442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5FDD62-4D95-4A52-86B4-D62895812F84}"/>
              </a:ext>
            </a:extLst>
          </p:cNvPr>
          <p:cNvSpPr>
            <a:spLocks noGrp="1"/>
          </p:cNvSpPr>
          <p:nvPr/>
        </p:nvSpPr>
        <p:spPr>
          <a:xfrm>
            <a:off x="723900" y="1104900"/>
            <a:ext cx="7239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31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1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Simple User 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3DA67-F8F4-4D67-AEE5-9DA03FE752CF}"/>
              </a:ext>
            </a:extLst>
          </p:cNvPr>
          <p:cNvSpPr>
            <a:spLocks noGrp="1"/>
          </p:cNvSpPr>
          <p:nvPr/>
        </p:nvSpPr>
        <p:spPr>
          <a:xfrm>
            <a:off x="781050" y="190500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phase-1 flow stays small: one topic goes in, one structured lesson video comes out.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D87B3-F059-4020-AED7-23EBDA0B65EF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2095500" cy="20955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9D9663-7DCD-4FF0-9902-8B5B62166431}"/>
              </a:ext>
            </a:extLst>
          </p:cNvPr>
          <p:cNvSpPr>
            <a:spLocks noGrp="1"/>
          </p:cNvSpPr>
          <p:nvPr/>
        </p:nvSpPr>
        <p:spPr>
          <a:xfrm>
            <a:off x="819150" y="2724150"/>
            <a:ext cx="2095500" cy="2095500"/>
          </a:xfrm>
          <a:prstGeom prst="rect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12D91B-ADA4-46DF-8023-4BECF42FEB5D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609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C828A7-5D73-48A0-9518-912504CEF257}"/>
              </a:ext>
            </a:extLst>
          </p:cNvPr>
          <p:cNvSpPr>
            <a:spLocks noGrp="1"/>
          </p:cNvSpPr>
          <p:nvPr/>
        </p:nvSpPr>
        <p:spPr>
          <a:xfrm>
            <a:off x="1028700" y="3562350"/>
            <a:ext cx="1619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 enters topic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6D506-7AF1-410D-9BFF-547506FE0FE2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1619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Example: Binary Search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518388-828B-47B0-B51D-CD693651C834}"/>
              </a:ext>
            </a:extLst>
          </p:cNvPr>
          <p:cNvSpPr>
            <a:spLocks noGrp="1"/>
          </p:cNvSpPr>
          <p:nvPr/>
        </p:nvSpPr>
        <p:spPr>
          <a:xfrm>
            <a:off x="2971800" y="3695700"/>
            <a:ext cx="495300" cy="381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E9F67412-8FAE-4D07-A65B-7A50004E8898}"/>
              </a:ext>
            </a:extLst>
          </p:cNvPr>
          <p:cNvSpPr>
            <a:spLocks noGrp="1"/>
          </p:cNvSpPr>
          <p:nvPr/>
        </p:nvSpPr>
        <p:spPr>
          <a:xfrm>
            <a:off x="3362325" y="3629025"/>
            <a:ext cx="171450" cy="171450"/>
          </a:xfrm>
          <a:prstGeom prst="triangl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2EAEB7-6D1E-4CF3-A53A-7CA6DBA2B168}"/>
              </a:ext>
            </a:extLst>
          </p:cNvPr>
          <p:cNvSpPr>
            <a:spLocks noGrp="1"/>
          </p:cNvSpPr>
          <p:nvPr/>
        </p:nvSpPr>
        <p:spPr>
          <a:xfrm>
            <a:off x="3695700" y="2819400"/>
            <a:ext cx="2095500" cy="20955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99F818-286D-44E2-AB6A-8864F0BDC236}"/>
              </a:ext>
            </a:extLst>
          </p:cNvPr>
          <p:cNvSpPr>
            <a:spLocks noGrp="1"/>
          </p:cNvSpPr>
          <p:nvPr/>
        </p:nvSpPr>
        <p:spPr>
          <a:xfrm>
            <a:off x="3600450" y="2724150"/>
            <a:ext cx="2095500" cy="2095500"/>
          </a:xfrm>
          <a:prstGeom prst="rect">
            <a:avLst/>
          </a:prstGeom>
          <a:solidFill>
            <a:srgbClr val="BCE0F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13BA4-E8A2-4E28-9CDD-5404B010FAAB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609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97FEC5-EA28-449C-B123-8D75B3A242A3}"/>
              </a:ext>
            </a:extLst>
          </p:cNvPr>
          <p:cNvSpPr>
            <a:spLocks noGrp="1"/>
          </p:cNvSpPr>
          <p:nvPr/>
        </p:nvSpPr>
        <p:spPr>
          <a:xfrm>
            <a:off x="3810000" y="3562350"/>
            <a:ext cx="1619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 plans lesson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5B2CFB-0AD3-4D1C-936E-3D0B84FF75BD}"/>
              </a:ext>
            </a:extLst>
          </p:cNvPr>
          <p:cNvSpPr>
            <a:spLocks noGrp="1"/>
          </p:cNvSpPr>
          <p:nvPr/>
        </p:nvSpPr>
        <p:spPr>
          <a:xfrm>
            <a:off x="3810000" y="4210050"/>
            <a:ext cx="1619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Objectives, script, quiz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F4AEA3-4C8F-4B3A-975F-2E372BE29F02}"/>
              </a:ext>
            </a:extLst>
          </p:cNvPr>
          <p:cNvSpPr>
            <a:spLocks noGrp="1"/>
          </p:cNvSpPr>
          <p:nvPr/>
        </p:nvSpPr>
        <p:spPr>
          <a:xfrm>
            <a:off x="5753100" y="3695700"/>
            <a:ext cx="495300" cy="381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44805C69-3FAD-4242-9B8F-5FDA5E5A4AA1}"/>
              </a:ext>
            </a:extLst>
          </p:cNvPr>
          <p:cNvSpPr>
            <a:spLocks noGrp="1"/>
          </p:cNvSpPr>
          <p:nvPr/>
        </p:nvSpPr>
        <p:spPr>
          <a:xfrm>
            <a:off x="6143625" y="3629025"/>
            <a:ext cx="171450" cy="171450"/>
          </a:xfrm>
          <a:prstGeom prst="triangl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4513C8-E367-411D-B4F0-F78C72743EC1}"/>
              </a:ext>
            </a:extLst>
          </p:cNvPr>
          <p:cNvSpPr>
            <a:spLocks noGrp="1"/>
          </p:cNvSpPr>
          <p:nvPr/>
        </p:nvSpPr>
        <p:spPr>
          <a:xfrm>
            <a:off x="6477000" y="2819400"/>
            <a:ext cx="2095500" cy="20955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10B6CB-A5A0-4B5C-B58A-0319FA305644}"/>
              </a:ext>
            </a:extLst>
          </p:cNvPr>
          <p:cNvSpPr>
            <a:spLocks noGrp="1"/>
          </p:cNvSpPr>
          <p:nvPr/>
        </p:nvSpPr>
        <p:spPr>
          <a:xfrm>
            <a:off x="6381750" y="2724150"/>
            <a:ext cx="2095500" cy="2095500"/>
          </a:xfrm>
          <a:prstGeom prst="rect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EC4325-8074-4CA1-9D59-EB837183227E}"/>
              </a:ext>
            </a:extLst>
          </p:cNvPr>
          <p:cNvSpPr>
            <a:spLocks noGrp="1"/>
          </p:cNvSpPr>
          <p:nvPr/>
        </p:nvSpPr>
        <p:spPr>
          <a:xfrm>
            <a:off x="6629400" y="2952750"/>
            <a:ext cx="609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6DEFD9-2075-4E24-92B1-7E47EADEB5A5}"/>
              </a:ext>
            </a:extLst>
          </p:cNvPr>
          <p:cNvSpPr>
            <a:spLocks noGrp="1"/>
          </p:cNvSpPr>
          <p:nvPr/>
        </p:nvSpPr>
        <p:spPr>
          <a:xfrm>
            <a:off x="6591300" y="3562350"/>
            <a:ext cx="1619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Generate visuals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7B0752-CDC0-42D5-832E-189DBFFCE4D6}"/>
              </a:ext>
            </a:extLst>
          </p:cNvPr>
          <p:cNvSpPr>
            <a:spLocks noGrp="1"/>
          </p:cNvSpPr>
          <p:nvPr/>
        </p:nvSpPr>
        <p:spPr>
          <a:xfrm>
            <a:off x="6591300" y="4210050"/>
            <a:ext cx="1619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Remotion / Manim scenes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F92645-F49F-4342-BA17-7C5A44CD5E00}"/>
              </a:ext>
            </a:extLst>
          </p:cNvPr>
          <p:cNvSpPr>
            <a:spLocks noGrp="1"/>
          </p:cNvSpPr>
          <p:nvPr/>
        </p:nvSpPr>
        <p:spPr>
          <a:xfrm>
            <a:off x="8534400" y="3695700"/>
            <a:ext cx="495300" cy="381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136D26CD-2D63-43B2-B5C8-53ADCB0F030F}"/>
              </a:ext>
            </a:extLst>
          </p:cNvPr>
          <p:cNvSpPr>
            <a:spLocks noGrp="1"/>
          </p:cNvSpPr>
          <p:nvPr/>
        </p:nvSpPr>
        <p:spPr>
          <a:xfrm>
            <a:off x="8924925" y="3629025"/>
            <a:ext cx="171450" cy="171450"/>
          </a:xfrm>
          <a:prstGeom prst="triangl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9209B5-C05D-4787-B233-A508DC06F283}"/>
              </a:ext>
            </a:extLst>
          </p:cNvPr>
          <p:cNvSpPr>
            <a:spLocks noGrp="1"/>
          </p:cNvSpPr>
          <p:nvPr/>
        </p:nvSpPr>
        <p:spPr>
          <a:xfrm>
            <a:off x="9258300" y="2819400"/>
            <a:ext cx="2095500" cy="20955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D92D5E-51F9-4F7B-992D-EF6F11618A9D}"/>
              </a:ext>
            </a:extLst>
          </p:cNvPr>
          <p:cNvSpPr>
            <a:spLocks noGrp="1"/>
          </p:cNvSpPr>
          <p:nvPr/>
        </p:nvSpPr>
        <p:spPr>
          <a:xfrm>
            <a:off x="9163050" y="2724150"/>
            <a:ext cx="2095500" cy="2095500"/>
          </a:xfrm>
          <a:prstGeom prst="rect">
            <a:avLst/>
          </a:prstGeom>
          <a:solidFill>
            <a:srgbClr val="BCE0F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B825B6-48A6-4F9F-8150-6A838D0A6B87}"/>
              </a:ext>
            </a:extLst>
          </p:cNvPr>
          <p:cNvSpPr>
            <a:spLocks noGrp="1"/>
          </p:cNvSpPr>
          <p:nvPr/>
        </p:nvSpPr>
        <p:spPr>
          <a:xfrm>
            <a:off x="9410700" y="2952750"/>
            <a:ext cx="609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AFE441-22FA-43C5-A5AB-704EB14095EF}"/>
              </a:ext>
            </a:extLst>
          </p:cNvPr>
          <p:cNvSpPr>
            <a:spLocks noGrp="1"/>
          </p:cNvSpPr>
          <p:nvPr/>
        </p:nvSpPr>
        <p:spPr>
          <a:xfrm>
            <a:off x="9372600" y="3562350"/>
            <a:ext cx="1619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Render video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972D34-7780-4701-8B45-4B5466E75B75}"/>
              </a:ext>
            </a:extLst>
          </p:cNvPr>
          <p:cNvSpPr>
            <a:spLocks noGrp="1"/>
          </p:cNvSpPr>
          <p:nvPr/>
        </p:nvSpPr>
        <p:spPr>
          <a:xfrm>
            <a:off x="9372600" y="4210050"/>
            <a:ext cx="1619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Narration + HLS output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1611828-0AB1-488C-97D1-D50710DCC016}"/>
              </a:ext>
            </a:extLst>
          </p:cNvPr>
          <p:cNvSpPr>
            <a:spLocks noGrp="1"/>
          </p:cNvSpPr>
          <p:nvPr/>
        </p:nvSpPr>
        <p:spPr>
          <a:xfrm>
            <a:off x="3295650" y="5238750"/>
            <a:ext cx="5810250" cy="476250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2DF338-C202-45E8-9734-F76826769629}"/>
              </a:ext>
            </a:extLst>
          </p:cNvPr>
          <p:cNvSpPr>
            <a:spLocks noGrp="1"/>
          </p:cNvSpPr>
          <p:nvPr/>
        </p:nvSpPr>
        <p:spPr>
          <a:xfrm>
            <a:off x="3219450" y="5162550"/>
            <a:ext cx="5810250" cy="4762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lIns="171450" tIns="76200" rIns="171450" bIns="76200" anchor="ctr"/>
          <a:lstStyle/>
          <a:p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deep model internals in phase 1: focus on working pipeline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5CDC63-E78E-472A-9E64-E40B231C658D}"/>
              </a:ext>
            </a:extLst>
          </p:cNvPr>
          <p:cNvSpPr>
            <a:spLocks noGrp="1"/>
          </p:cNvSpPr>
          <p:nvPr/>
        </p:nvSpPr>
        <p:spPr>
          <a:xfrm>
            <a:off x="723900" y="63055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Focusly | GenAI Phase 1 Evaluation</a:t>
            </a:r>
          </a:p>
        </p:txBody>
      </p:sp>
    </p:spTree>
    <p:extLst>
      <p:ext uri="{BB962C8B-B14F-4D97-AF65-F5344CB8AC3E}">
        <p14:creationId xmlns:p14="http://schemas.microsoft.com/office/powerpoint/2010/main" val="1068136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78D085C-839D-48FF-A7A6-B99069B637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6D42C-C6C2-465B-897F-0CA7392ED99F}"/>
              </a:ext>
            </a:extLst>
          </p:cNvPr>
          <p:cNvSpPr>
            <a:spLocks noGrp="1"/>
          </p:cNvSpPr>
          <p:nvPr/>
        </p:nvSpPr>
        <p:spPr>
          <a:xfrm>
            <a:off x="9853612" y="0"/>
            <a:ext cx="1476375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6810D8-8D7E-4664-9A7F-9B4E46FC10A1}"/>
              </a:ext>
            </a:extLst>
          </p:cNvPr>
          <p:cNvSpPr>
            <a:spLocks noGrp="1"/>
          </p:cNvSpPr>
          <p:nvPr/>
        </p:nvSpPr>
        <p:spPr>
          <a:xfrm>
            <a:off x="723900" y="4191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941980-70EA-48B3-B50A-74116B050FB9}"/>
              </a:ext>
            </a:extLst>
          </p:cNvPr>
          <p:cNvSpPr>
            <a:spLocks noGrp="1"/>
          </p:cNvSpPr>
          <p:nvPr/>
        </p:nvSpPr>
        <p:spPr>
          <a:xfrm>
            <a:off x="723900" y="781050"/>
            <a:ext cx="107442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B91130-ACA6-42BE-B110-48452B34FC68}"/>
              </a:ext>
            </a:extLst>
          </p:cNvPr>
          <p:cNvSpPr>
            <a:spLocks noGrp="1"/>
          </p:cNvSpPr>
          <p:nvPr/>
        </p:nvSpPr>
        <p:spPr>
          <a:xfrm>
            <a:off x="723900" y="1104900"/>
            <a:ext cx="7239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31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1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Implementation Stack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60CD29-BA4B-47A4-806A-C48B16B64DFC}"/>
              </a:ext>
            </a:extLst>
          </p:cNvPr>
          <p:cNvSpPr>
            <a:spLocks noGrp="1"/>
          </p:cNvSpPr>
          <p:nvPr/>
        </p:nvSpPr>
        <p:spPr>
          <a:xfrm>
            <a:off x="781050" y="190500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Tools are selected for fast phase-1 delivery, not unnecessary technical depth.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E66F53-E2AE-4CC6-A507-459ABE43FCF9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10363200" cy="457200"/>
          </a:xfrm>
          <a:prstGeom prst="rect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A1879B-DC6F-451A-A232-6AEB5ABE2AB8}"/>
              </a:ext>
            </a:extLst>
          </p:cNvPr>
          <p:cNvSpPr>
            <a:spLocks noGrp="1"/>
          </p:cNvSpPr>
          <p:nvPr/>
        </p:nvSpPr>
        <p:spPr>
          <a:xfrm>
            <a:off x="1123950" y="27622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0E4684-B8E7-4BFF-AA60-E5810293751B}"/>
              </a:ext>
            </a:extLst>
          </p:cNvPr>
          <p:cNvSpPr>
            <a:spLocks noGrp="1"/>
          </p:cNvSpPr>
          <p:nvPr/>
        </p:nvSpPr>
        <p:spPr>
          <a:xfrm>
            <a:off x="3048000" y="27622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Next.js + React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B890A-0F84-463C-8796-E27A4802CA63}"/>
              </a:ext>
            </a:extLst>
          </p:cNvPr>
          <p:cNvSpPr>
            <a:spLocks noGrp="1"/>
          </p:cNvSpPr>
          <p:nvPr/>
        </p:nvSpPr>
        <p:spPr>
          <a:xfrm>
            <a:off x="5638800" y="27622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Generate form, dashboard, HLS video player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A7D868-1727-4941-81F9-ACE33ACBA126}"/>
              </a:ext>
            </a:extLst>
          </p:cNvPr>
          <p:cNvSpPr>
            <a:spLocks noGrp="1"/>
          </p:cNvSpPr>
          <p:nvPr/>
        </p:nvSpPr>
        <p:spPr>
          <a:xfrm>
            <a:off x="914400" y="3276600"/>
            <a:ext cx="10363200" cy="457200"/>
          </a:xfrm>
          <a:prstGeom prst="rect">
            <a:avLst/>
          </a:prstGeom>
          <a:solidFill>
            <a:srgbClr val="BCE0F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493E4D-D06C-430B-9B52-ED3173BC6CFA}"/>
              </a:ext>
            </a:extLst>
          </p:cNvPr>
          <p:cNvSpPr>
            <a:spLocks noGrp="1"/>
          </p:cNvSpPr>
          <p:nvPr/>
        </p:nvSpPr>
        <p:spPr>
          <a:xfrm>
            <a:off x="1123950" y="33528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8E8F6-CB2D-4644-9859-DABBBEFEA1A6}"/>
              </a:ext>
            </a:extLst>
          </p:cNvPr>
          <p:cNvSpPr>
            <a:spLocks noGrp="1"/>
          </p:cNvSpPr>
          <p:nvPr/>
        </p:nvSpPr>
        <p:spPr>
          <a:xfrm>
            <a:off x="3048000" y="33528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D794ED-D664-4154-91E4-C3A1FA964EBB}"/>
              </a:ext>
            </a:extLst>
          </p:cNvPr>
          <p:cNvSpPr>
            <a:spLocks noGrp="1"/>
          </p:cNvSpPr>
          <p:nvPr/>
        </p:nvSpPr>
        <p:spPr>
          <a:xfrm>
            <a:off x="5638800" y="33528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Auth, lesson APIs, job status polling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AC5A56-F632-4821-A8CA-8E60BD97C627}"/>
              </a:ext>
            </a:extLst>
          </p:cNvPr>
          <p:cNvSpPr>
            <a:spLocks noGrp="1"/>
          </p:cNvSpPr>
          <p:nvPr/>
        </p:nvSpPr>
        <p:spPr>
          <a:xfrm>
            <a:off x="914400" y="3867150"/>
            <a:ext cx="10363200" cy="457200"/>
          </a:xfrm>
          <a:prstGeom prst="rect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1F3FF8-DE6F-450C-9E6F-0150E2ADD04A}"/>
              </a:ext>
            </a:extLst>
          </p:cNvPr>
          <p:cNvSpPr>
            <a:spLocks noGrp="1"/>
          </p:cNvSpPr>
          <p:nvPr/>
        </p:nvSpPr>
        <p:spPr>
          <a:xfrm>
            <a:off x="1123950" y="39433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C4087C-1845-4F9C-99DA-E4ECDA460C6B}"/>
              </a:ext>
            </a:extLst>
          </p:cNvPr>
          <p:cNvSpPr>
            <a:spLocks noGrp="1"/>
          </p:cNvSpPr>
          <p:nvPr/>
        </p:nvSpPr>
        <p:spPr>
          <a:xfrm>
            <a:off x="3048000" y="39433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Redis + ARQ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2500BD-31C5-4618-A0D3-2C2AE756545C}"/>
              </a:ext>
            </a:extLst>
          </p:cNvPr>
          <p:cNvSpPr>
            <a:spLocks noGrp="1"/>
          </p:cNvSpPr>
          <p:nvPr/>
        </p:nvSpPr>
        <p:spPr>
          <a:xfrm>
            <a:off x="5638800" y="39433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Async lesson generation jobs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29F676-D7F2-4F23-BE0F-223AC18BE9D0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10363200" cy="457200"/>
          </a:xfrm>
          <a:prstGeom prst="rect">
            <a:avLst/>
          </a:prstGeom>
          <a:solidFill>
            <a:srgbClr val="BCE0F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18D8C4-58BA-479C-9EDA-81EA0A3CCA53}"/>
              </a:ext>
            </a:extLst>
          </p:cNvPr>
          <p:cNvSpPr>
            <a:spLocks noGrp="1"/>
          </p:cNvSpPr>
          <p:nvPr/>
        </p:nvSpPr>
        <p:spPr>
          <a:xfrm>
            <a:off x="1123950" y="45339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971FFE-3D60-4E8F-80EC-E4892F7F4B40}"/>
              </a:ext>
            </a:extLst>
          </p:cNvPr>
          <p:cNvSpPr>
            <a:spLocks noGrp="1"/>
          </p:cNvSpPr>
          <p:nvPr/>
        </p:nvSpPr>
        <p:spPr>
          <a:xfrm>
            <a:off x="3048000" y="45339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772ACF-56EF-464F-8F95-70A7B1330ADB}"/>
              </a:ext>
            </a:extLst>
          </p:cNvPr>
          <p:cNvSpPr>
            <a:spLocks noGrp="1"/>
          </p:cNvSpPr>
          <p:nvPr/>
        </p:nvSpPr>
        <p:spPr>
          <a:xfrm>
            <a:off x="5638800" y="4533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Users, jobs, lesson metadata, checkpoints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96EDD4-66D9-4DA9-B1DC-977EEB8629E4}"/>
              </a:ext>
            </a:extLst>
          </p:cNvPr>
          <p:cNvSpPr>
            <a:spLocks noGrp="1"/>
          </p:cNvSpPr>
          <p:nvPr/>
        </p:nvSpPr>
        <p:spPr>
          <a:xfrm>
            <a:off x="914400" y="5048250"/>
            <a:ext cx="10363200" cy="457200"/>
          </a:xfrm>
          <a:prstGeom prst="rect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2EF2B4-0A4C-48FF-858E-112134DDF186}"/>
              </a:ext>
            </a:extLst>
          </p:cNvPr>
          <p:cNvSpPr>
            <a:spLocks noGrp="1"/>
          </p:cNvSpPr>
          <p:nvPr/>
        </p:nvSpPr>
        <p:spPr>
          <a:xfrm>
            <a:off x="1123950" y="51244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313A86-7B2A-4760-AD10-D2079B784B6C}"/>
              </a:ext>
            </a:extLst>
          </p:cNvPr>
          <p:cNvSpPr>
            <a:spLocks noGrp="1"/>
          </p:cNvSpPr>
          <p:nvPr/>
        </p:nvSpPr>
        <p:spPr>
          <a:xfrm>
            <a:off x="3048000" y="51244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Cloudflare R2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DA8505-2F38-4915-A2B4-1BE78D466375}"/>
              </a:ext>
            </a:extLst>
          </p:cNvPr>
          <p:cNvSpPr>
            <a:spLocks noGrp="1"/>
          </p:cNvSpPr>
          <p:nvPr/>
        </p:nvSpPr>
        <p:spPr>
          <a:xfrm>
            <a:off x="5638800" y="51244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Generated video and asset storage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8D28481-E453-43EC-BFE7-7DDE0DD9EFA5}"/>
              </a:ext>
            </a:extLst>
          </p:cNvPr>
          <p:cNvSpPr>
            <a:spLocks noGrp="1"/>
          </p:cNvSpPr>
          <p:nvPr/>
        </p:nvSpPr>
        <p:spPr>
          <a:xfrm>
            <a:off x="3333750" y="5829300"/>
            <a:ext cx="5676900" cy="457200"/>
          </a:xfrm>
          <a:prstGeom prst="roundRect">
            <a:avLst>
              <a:gd name="adj" fmla="val 16667"/>
            </a:avLst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73D18A-08D6-41A2-9F37-D45B4BC905C8}"/>
              </a:ext>
            </a:extLst>
          </p:cNvPr>
          <p:cNvSpPr>
            <a:spLocks noGrp="1"/>
          </p:cNvSpPr>
          <p:nvPr/>
        </p:nvSpPr>
        <p:spPr>
          <a:xfrm>
            <a:off x="3257550" y="5753100"/>
            <a:ext cx="56769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lIns="171450" tIns="76200" rIns="171450" bIns="76200" anchor="ctr"/>
          <a:lstStyle/>
          <a:p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Architecture style: monorepo + one backend + one frontend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7FABDF-485E-461E-833F-1F99CB49423F}"/>
              </a:ext>
            </a:extLst>
          </p:cNvPr>
          <p:cNvSpPr>
            <a:spLocks noGrp="1"/>
          </p:cNvSpPr>
          <p:nvPr/>
        </p:nvSpPr>
        <p:spPr>
          <a:xfrm>
            <a:off x="723900" y="63055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Focusly | GenAI Phase 1 Evaluation</a:t>
            </a:r>
          </a:p>
        </p:txBody>
      </p:sp>
    </p:spTree>
    <p:extLst>
      <p:ext uri="{BB962C8B-B14F-4D97-AF65-F5344CB8AC3E}">
        <p14:creationId xmlns:p14="http://schemas.microsoft.com/office/powerpoint/2010/main" val="2105665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6895265-E0C4-431B-B823-094C3572B6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63E385-ADA0-49A1-8893-69C807251E33}"/>
              </a:ext>
            </a:extLst>
          </p:cNvPr>
          <p:cNvSpPr>
            <a:spLocks noGrp="1"/>
          </p:cNvSpPr>
          <p:nvPr/>
        </p:nvSpPr>
        <p:spPr>
          <a:xfrm>
            <a:off x="9867900" y="19050"/>
            <a:ext cx="1476375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A58461-EBF1-4958-AA19-41B7EFF50DB9}"/>
              </a:ext>
            </a:extLst>
          </p:cNvPr>
          <p:cNvSpPr>
            <a:spLocks noGrp="1"/>
          </p:cNvSpPr>
          <p:nvPr/>
        </p:nvSpPr>
        <p:spPr>
          <a:xfrm>
            <a:off x="723900" y="4191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9E6E31-E039-4978-AFDE-30747CD1C65E}"/>
              </a:ext>
            </a:extLst>
          </p:cNvPr>
          <p:cNvSpPr>
            <a:spLocks noGrp="1"/>
          </p:cNvSpPr>
          <p:nvPr/>
        </p:nvSpPr>
        <p:spPr>
          <a:xfrm>
            <a:off x="723900" y="781050"/>
            <a:ext cx="107442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4CD58E-EBFC-4966-AE05-D8FA388867FE}"/>
              </a:ext>
            </a:extLst>
          </p:cNvPr>
          <p:cNvSpPr>
            <a:spLocks noGrp="1"/>
          </p:cNvSpPr>
          <p:nvPr/>
        </p:nvSpPr>
        <p:spPr>
          <a:xfrm>
            <a:off x="723900" y="1104900"/>
            <a:ext cx="7239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31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1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GenAI Model Choice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4D60AB-3A1B-41FA-A1A5-6EF3B2082F9A}"/>
              </a:ext>
            </a:extLst>
          </p:cNvPr>
          <p:cNvSpPr>
            <a:spLocks noGrp="1"/>
          </p:cNvSpPr>
          <p:nvPr/>
        </p:nvSpPr>
        <p:spPr>
          <a:xfrm>
            <a:off x="781050" y="190500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LLM is used for planning, script writing, structured outputs, and code generation.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7B0D65-BB6D-450F-B3E1-948EF849CB75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4629150" cy="23622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5C19E6-965E-4DA7-B3E2-A79AB2FF469E}"/>
              </a:ext>
            </a:extLst>
          </p:cNvPr>
          <p:cNvSpPr>
            <a:spLocks noGrp="1"/>
          </p:cNvSpPr>
          <p:nvPr/>
        </p:nvSpPr>
        <p:spPr>
          <a:xfrm>
            <a:off x="781050" y="2590800"/>
            <a:ext cx="4629150" cy="2362200"/>
          </a:xfrm>
          <a:prstGeom prst="rect">
            <a:avLst/>
          </a:prstGeom>
          <a:solidFill>
            <a:srgbClr val="BCE0F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89E2ED-90F7-41ED-8A30-0BD72D8E03AE}"/>
              </a:ext>
            </a:extLst>
          </p:cNvPr>
          <p:cNvSpPr>
            <a:spLocks noGrp="1"/>
          </p:cNvSpPr>
          <p:nvPr/>
        </p:nvSpPr>
        <p:spPr>
          <a:xfrm>
            <a:off x="1104900" y="28765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9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9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Primary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4297E9-C4F5-4DE1-AD8A-9253E7997E52}"/>
              </a:ext>
            </a:extLst>
          </p:cNvPr>
          <p:cNvSpPr>
            <a:spLocks noGrp="1"/>
          </p:cNvSpPr>
          <p:nvPr/>
        </p:nvSpPr>
        <p:spPr>
          <a:xfrm>
            <a:off x="1104900" y="3333750"/>
            <a:ext cx="3429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Claude API</a:t>
            </a:r>
          </a:p>
          <a:p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via LangChain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52A67D-6459-4EEA-8857-1413C01DFF14}"/>
              </a:ext>
            </a:extLst>
          </p:cNvPr>
          <p:cNvSpPr>
            <a:spLocks noGrp="1"/>
          </p:cNvSpPr>
          <p:nvPr/>
        </p:nvSpPr>
        <p:spPr>
          <a:xfrm>
            <a:off x="1123950" y="4324350"/>
            <a:ext cx="3676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Docs define ChatAnthropic + Pydantic parsing for each agent node.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D8CB63-B85E-4B20-BF23-C8A1ECB36147}"/>
              </a:ext>
            </a:extLst>
          </p:cNvPr>
          <p:cNvSpPr>
            <a:spLocks noGrp="1"/>
          </p:cNvSpPr>
          <p:nvPr/>
        </p:nvSpPr>
        <p:spPr>
          <a:xfrm>
            <a:off x="6153150" y="2686050"/>
            <a:ext cx="4629150" cy="23622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BCE019-275E-463A-B006-9ACAB62CBE99}"/>
              </a:ext>
            </a:extLst>
          </p:cNvPr>
          <p:cNvSpPr>
            <a:spLocks noGrp="1"/>
          </p:cNvSpPr>
          <p:nvPr/>
        </p:nvSpPr>
        <p:spPr>
          <a:xfrm>
            <a:off x="6057900" y="2590800"/>
            <a:ext cx="4629150" cy="2362200"/>
          </a:xfrm>
          <a:prstGeom prst="rect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8E7E9B-EA4E-4ADA-8635-0722A0881564}"/>
              </a:ext>
            </a:extLst>
          </p:cNvPr>
          <p:cNvSpPr>
            <a:spLocks noGrp="1"/>
          </p:cNvSpPr>
          <p:nvPr/>
        </p:nvSpPr>
        <p:spPr>
          <a:xfrm>
            <a:off x="6381750" y="28765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9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9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How we use it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3B36005-4ED2-404D-9A21-5AB8B8BAA4F7}"/>
              </a:ext>
            </a:extLst>
          </p:cNvPr>
          <p:cNvSpPr>
            <a:spLocks noGrp="1"/>
          </p:cNvSpPr>
          <p:nvPr/>
        </p:nvSpPr>
        <p:spPr>
          <a:xfrm>
            <a:off x="6419850" y="3467100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49B46A-DD6E-4D01-B69C-053299670FE8}"/>
              </a:ext>
            </a:extLst>
          </p:cNvPr>
          <p:cNvSpPr>
            <a:spLocks noGrp="1"/>
          </p:cNvSpPr>
          <p:nvPr/>
        </p:nvSpPr>
        <p:spPr>
          <a:xfrm>
            <a:off x="6705600" y="3371850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Generate lesson script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41545D-2A3F-46DB-8300-0D83500FB281}"/>
              </a:ext>
            </a:extLst>
          </p:cNvPr>
          <p:cNvSpPr>
            <a:spLocks noGrp="1"/>
          </p:cNvSpPr>
          <p:nvPr/>
        </p:nvSpPr>
        <p:spPr>
          <a:xfrm>
            <a:off x="6419850" y="3848100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A751D9-B47D-4079-B6FC-5DA975EF97F6}"/>
              </a:ext>
            </a:extLst>
          </p:cNvPr>
          <p:cNvSpPr>
            <a:spLocks noGrp="1"/>
          </p:cNvSpPr>
          <p:nvPr/>
        </p:nvSpPr>
        <p:spPr>
          <a:xfrm>
            <a:off x="6705600" y="3752850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Create scene manifest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B90DB44-6793-4C45-9E2B-7BB60D27BC6E}"/>
              </a:ext>
            </a:extLst>
          </p:cNvPr>
          <p:cNvSpPr>
            <a:spLocks noGrp="1"/>
          </p:cNvSpPr>
          <p:nvPr/>
        </p:nvSpPr>
        <p:spPr>
          <a:xfrm>
            <a:off x="6419850" y="4229100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A066F2-4B14-4587-ADAD-7224543DCD72}"/>
              </a:ext>
            </a:extLst>
          </p:cNvPr>
          <p:cNvSpPr>
            <a:spLocks noGrp="1"/>
          </p:cNvSpPr>
          <p:nvPr/>
        </p:nvSpPr>
        <p:spPr>
          <a:xfrm>
            <a:off x="6705600" y="4133850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Produce Remotion / Manim code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B062927-2DC2-426C-8320-0339B71CC193}"/>
              </a:ext>
            </a:extLst>
          </p:cNvPr>
          <p:cNvSpPr>
            <a:spLocks noGrp="1"/>
          </p:cNvSpPr>
          <p:nvPr/>
        </p:nvSpPr>
        <p:spPr>
          <a:xfrm>
            <a:off x="6419850" y="4610100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0DCC64-7011-4F33-9E0E-60938D3035C4}"/>
              </a:ext>
            </a:extLst>
          </p:cNvPr>
          <p:cNvSpPr>
            <a:spLocks noGrp="1"/>
          </p:cNvSpPr>
          <p:nvPr/>
        </p:nvSpPr>
        <p:spPr>
          <a:xfrm>
            <a:off x="6705600" y="4514850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Retry invalid outputs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1BB5832-50F6-4C28-8B71-433BF2EF0FDF}"/>
              </a:ext>
            </a:extLst>
          </p:cNvPr>
          <p:cNvSpPr>
            <a:spLocks noGrp="1"/>
          </p:cNvSpPr>
          <p:nvPr/>
        </p:nvSpPr>
        <p:spPr>
          <a:xfrm>
            <a:off x="3829050" y="5505450"/>
            <a:ext cx="4686300" cy="476250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9C8936-54A7-4FBC-9153-53E7EA219F83}"/>
              </a:ext>
            </a:extLst>
          </p:cNvPr>
          <p:cNvSpPr>
            <a:spLocks noGrp="1"/>
          </p:cNvSpPr>
          <p:nvPr/>
        </p:nvSpPr>
        <p:spPr>
          <a:xfrm>
            <a:off x="3752850" y="5429250"/>
            <a:ext cx="4686300" cy="4762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lIns="171450" tIns="76200" rIns="171450" bIns="76200" anchor="ctr"/>
          <a:lstStyle/>
          <a:p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model training in phase 1: inference only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7DDF77-3F6D-4048-9798-27D70F80A892}"/>
              </a:ext>
            </a:extLst>
          </p:cNvPr>
          <p:cNvSpPr>
            <a:spLocks noGrp="1"/>
          </p:cNvSpPr>
          <p:nvPr/>
        </p:nvSpPr>
        <p:spPr>
          <a:xfrm>
            <a:off x="723900" y="63055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Focusly | GenAI Phase 1 Evaluation</a:t>
            </a:r>
          </a:p>
        </p:txBody>
      </p:sp>
    </p:spTree>
    <p:extLst>
      <p:ext uri="{BB962C8B-B14F-4D97-AF65-F5344CB8AC3E}">
        <p14:creationId xmlns:p14="http://schemas.microsoft.com/office/powerpoint/2010/main" val="1382781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9673E037-22E0-4D56-AE01-1FA8774C1F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0C9414-49C1-4F65-998A-98E91F458146}"/>
              </a:ext>
            </a:extLst>
          </p:cNvPr>
          <p:cNvSpPr>
            <a:spLocks noGrp="1"/>
          </p:cNvSpPr>
          <p:nvPr/>
        </p:nvSpPr>
        <p:spPr>
          <a:xfrm>
            <a:off x="9867900" y="85725"/>
            <a:ext cx="1476375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3EB234-85C7-4B57-A18C-7192F2CC6F95}"/>
              </a:ext>
            </a:extLst>
          </p:cNvPr>
          <p:cNvSpPr>
            <a:spLocks noGrp="1"/>
          </p:cNvSpPr>
          <p:nvPr/>
        </p:nvSpPr>
        <p:spPr>
          <a:xfrm>
            <a:off x="723900" y="4191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E2C3A5-D502-417A-ABF9-5B93712564C7}"/>
              </a:ext>
            </a:extLst>
          </p:cNvPr>
          <p:cNvSpPr>
            <a:spLocks noGrp="1"/>
          </p:cNvSpPr>
          <p:nvPr/>
        </p:nvSpPr>
        <p:spPr>
          <a:xfrm>
            <a:off x="723900" y="781050"/>
            <a:ext cx="107442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10FEB5-EB96-42C5-83B8-556411CB9898}"/>
              </a:ext>
            </a:extLst>
          </p:cNvPr>
          <p:cNvSpPr>
            <a:spLocks noGrp="1"/>
          </p:cNvSpPr>
          <p:nvPr/>
        </p:nvSpPr>
        <p:spPr>
          <a:xfrm>
            <a:off x="723900" y="1104900"/>
            <a:ext cx="7239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31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1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AI Pipeline Overview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3EEDE6-7979-4FEC-A2B7-B485E4F7B8A0}"/>
              </a:ext>
            </a:extLst>
          </p:cNvPr>
          <p:cNvSpPr>
            <a:spLocks noGrp="1"/>
          </p:cNvSpPr>
          <p:nvPr/>
        </p:nvSpPr>
        <p:spPr>
          <a:xfrm>
            <a:off x="781050" y="190500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LangGraph controls the sequence. LangChain handles prompts, parsing, tools, and retries.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FDE97C-1FDE-4EA7-A923-5D57B363DA74}"/>
              </a:ext>
            </a:extLst>
          </p:cNvPr>
          <p:cNvSpPr>
            <a:spLocks noGrp="1"/>
          </p:cNvSpPr>
          <p:nvPr/>
        </p:nvSpPr>
        <p:spPr>
          <a:xfrm>
            <a:off x="933450" y="2952750"/>
            <a:ext cx="1619250" cy="13335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F67591-BA2C-4F35-B436-9A811274CB4F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1619250" cy="1333500"/>
          </a:xfrm>
          <a:prstGeom prst="rect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2C6E70-E908-424A-86B9-609C1674BDD0}"/>
              </a:ext>
            </a:extLst>
          </p:cNvPr>
          <p:cNvSpPr>
            <a:spLocks noGrp="1"/>
          </p:cNvSpPr>
          <p:nvPr/>
        </p:nvSpPr>
        <p:spPr>
          <a:xfrm>
            <a:off x="1066800" y="3105150"/>
            <a:ext cx="114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1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Plan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640A6E-A7C1-4E19-9893-E2425A540517}"/>
              </a:ext>
            </a:extLst>
          </p:cNvPr>
          <p:cNvSpPr>
            <a:spLocks noGrp="1"/>
          </p:cNvSpPr>
          <p:nvPr/>
        </p:nvSpPr>
        <p:spPr>
          <a:xfrm>
            <a:off x="1028700" y="3619500"/>
            <a:ext cx="1219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Audience + objectives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2C5011-AFBC-4E38-81ED-296ABEB89CE4}"/>
              </a:ext>
            </a:extLst>
          </p:cNvPr>
          <p:cNvSpPr>
            <a:spLocks noGrp="1"/>
          </p:cNvSpPr>
          <p:nvPr/>
        </p:nvSpPr>
        <p:spPr>
          <a:xfrm>
            <a:off x="2514600" y="3505200"/>
            <a:ext cx="381000" cy="381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AA1C8F39-DAEB-40A4-951E-A39F43DFE152}"/>
              </a:ext>
            </a:extLst>
          </p:cNvPr>
          <p:cNvSpPr>
            <a:spLocks noGrp="1"/>
          </p:cNvSpPr>
          <p:nvPr/>
        </p:nvSpPr>
        <p:spPr>
          <a:xfrm>
            <a:off x="2790825" y="3438525"/>
            <a:ext cx="171450" cy="171450"/>
          </a:xfrm>
          <a:prstGeom prst="triangl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49DCCA-13B4-48FA-A9A8-22FF3112989E}"/>
              </a:ext>
            </a:extLst>
          </p:cNvPr>
          <p:cNvSpPr>
            <a:spLocks noGrp="1"/>
          </p:cNvSpPr>
          <p:nvPr/>
        </p:nvSpPr>
        <p:spPr>
          <a:xfrm>
            <a:off x="3105150" y="2952750"/>
            <a:ext cx="1619250" cy="13335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A0DA38-9981-4503-8C30-EB6F20FB4E2B}"/>
              </a:ext>
            </a:extLst>
          </p:cNvPr>
          <p:cNvSpPr>
            <a:spLocks noGrp="1"/>
          </p:cNvSpPr>
          <p:nvPr/>
        </p:nvSpPr>
        <p:spPr>
          <a:xfrm>
            <a:off x="3009900" y="2857500"/>
            <a:ext cx="1619250" cy="1333500"/>
          </a:xfrm>
          <a:prstGeom prst="rect">
            <a:avLst/>
          </a:prstGeom>
          <a:solidFill>
            <a:srgbClr val="BCE0F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B1AA0F-BDE3-4FFB-8A7B-C7382FE2BCE1}"/>
              </a:ext>
            </a:extLst>
          </p:cNvPr>
          <p:cNvSpPr>
            <a:spLocks noGrp="1"/>
          </p:cNvSpPr>
          <p:nvPr/>
        </p:nvSpPr>
        <p:spPr>
          <a:xfrm>
            <a:off x="3238500" y="3105150"/>
            <a:ext cx="114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1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Script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E305C2-DBBE-46C9-A247-65B168F99320}"/>
              </a:ext>
            </a:extLst>
          </p:cNvPr>
          <p:cNvSpPr>
            <a:spLocks noGrp="1"/>
          </p:cNvSpPr>
          <p:nvPr/>
        </p:nvSpPr>
        <p:spPr>
          <a:xfrm>
            <a:off x="3200400" y="3619500"/>
            <a:ext cx="1219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Narration + quiz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EF05A6-3ED5-400B-8FC8-71C7D4349A55}"/>
              </a:ext>
            </a:extLst>
          </p:cNvPr>
          <p:cNvSpPr>
            <a:spLocks noGrp="1"/>
          </p:cNvSpPr>
          <p:nvPr/>
        </p:nvSpPr>
        <p:spPr>
          <a:xfrm>
            <a:off x="4686300" y="3505200"/>
            <a:ext cx="381000" cy="381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918E3CFC-0AB7-483D-BC19-3FC2314B8951}"/>
              </a:ext>
            </a:extLst>
          </p:cNvPr>
          <p:cNvSpPr>
            <a:spLocks noGrp="1"/>
          </p:cNvSpPr>
          <p:nvPr/>
        </p:nvSpPr>
        <p:spPr>
          <a:xfrm>
            <a:off x="4962525" y="3438525"/>
            <a:ext cx="171450" cy="171450"/>
          </a:xfrm>
          <a:prstGeom prst="triangl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B987F7-FB16-43FC-87C6-67945F8A1AB8}"/>
              </a:ext>
            </a:extLst>
          </p:cNvPr>
          <p:cNvSpPr>
            <a:spLocks noGrp="1"/>
          </p:cNvSpPr>
          <p:nvPr/>
        </p:nvSpPr>
        <p:spPr>
          <a:xfrm>
            <a:off x="5276850" y="2952750"/>
            <a:ext cx="1619250" cy="13335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1DF10E-4AD5-4025-8F59-35B5A629F95C}"/>
              </a:ext>
            </a:extLst>
          </p:cNvPr>
          <p:cNvSpPr>
            <a:spLocks noGrp="1"/>
          </p:cNvSpPr>
          <p:nvPr/>
        </p:nvSpPr>
        <p:spPr>
          <a:xfrm>
            <a:off x="5181600" y="2857500"/>
            <a:ext cx="1619250" cy="1333500"/>
          </a:xfrm>
          <a:prstGeom prst="rect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E4C118-47A9-4133-8734-F1E3FF0DC7DB}"/>
              </a:ext>
            </a:extLst>
          </p:cNvPr>
          <p:cNvSpPr>
            <a:spLocks noGrp="1"/>
          </p:cNvSpPr>
          <p:nvPr/>
        </p:nvSpPr>
        <p:spPr>
          <a:xfrm>
            <a:off x="5410200" y="3105150"/>
            <a:ext cx="114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1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Visual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38998E-107F-4212-A832-602E68AD002B}"/>
              </a:ext>
            </a:extLst>
          </p:cNvPr>
          <p:cNvSpPr>
            <a:spLocks noGrp="1"/>
          </p:cNvSpPr>
          <p:nvPr/>
        </p:nvSpPr>
        <p:spPr>
          <a:xfrm>
            <a:off x="5372100" y="3619500"/>
            <a:ext cx="1219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Scene plan + assets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CA0469-2B4E-4E62-B372-826C0A5EC96D}"/>
              </a:ext>
            </a:extLst>
          </p:cNvPr>
          <p:cNvSpPr>
            <a:spLocks noGrp="1"/>
          </p:cNvSpPr>
          <p:nvPr/>
        </p:nvSpPr>
        <p:spPr>
          <a:xfrm>
            <a:off x="6858000" y="3505200"/>
            <a:ext cx="381000" cy="381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2843A127-5EF8-4A2B-8B93-E1065F800132}"/>
              </a:ext>
            </a:extLst>
          </p:cNvPr>
          <p:cNvSpPr>
            <a:spLocks noGrp="1"/>
          </p:cNvSpPr>
          <p:nvPr/>
        </p:nvSpPr>
        <p:spPr>
          <a:xfrm>
            <a:off x="7134225" y="3438525"/>
            <a:ext cx="171450" cy="171450"/>
          </a:xfrm>
          <a:prstGeom prst="triangl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E4A6E4-B0AD-4EC5-9D16-4C8CA95DBC5B}"/>
              </a:ext>
            </a:extLst>
          </p:cNvPr>
          <p:cNvSpPr>
            <a:spLocks noGrp="1"/>
          </p:cNvSpPr>
          <p:nvPr/>
        </p:nvSpPr>
        <p:spPr>
          <a:xfrm>
            <a:off x="7448550" y="2952750"/>
            <a:ext cx="1619250" cy="13335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A7F15E-F25B-4E84-B1AA-9C40F4BA0E57}"/>
              </a:ext>
            </a:extLst>
          </p:cNvPr>
          <p:cNvSpPr>
            <a:spLocks noGrp="1"/>
          </p:cNvSpPr>
          <p:nvPr/>
        </p:nvSpPr>
        <p:spPr>
          <a:xfrm>
            <a:off x="7353300" y="2857500"/>
            <a:ext cx="1619250" cy="1333500"/>
          </a:xfrm>
          <a:prstGeom prst="rect">
            <a:avLst/>
          </a:prstGeom>
          <a:solidFill>
            <a:srgbClr val="BCE0F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8049B5-4571-4D18-A7B6-95726755BD67}"/>
              </a:ext>
            </a:extLst>
          </p:cNvPr>
          <p:cNvSpPr>
            <a:spLocks noGrp="1"/>
          </p:cNvSpPr>
          <p:nvPr/>
        </p:nvSpPr>
        <p:spPr>
          <a:xfrm>
            <a:off x="7581900" y="3105150"/>
            <a:ext cx="114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1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Code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3B9EB5-4F9B-4180-8DDB-4D652F0038AB}"/>
              </a:ext>
            </a:extLst>
          </p:cNvPr>
          <p:cNvSpPr>
            <a:spLocks noGrp="1"/>
          </p:cNvSpPr>
          <p:nvPr/>
        </p:nvSpPr>
        <p:spPr>
          <a:xfrm>
            <a:off x="7543800" y="3619500"/>
            <a:ext cx="1219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Remotion / Manim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34146B-4CB0-4E3F-BE07-477EF7B7B8E3}"/>
              </a:ext>
            </a:extLst>
          </p:cNvPr>
          <p:cNvSpPr>
            <a:spLocks noGrp="1"/>
          </p:cNvSpPr>
          <p:nvPr/>
        </p:nvSpPr>
        <p:spPr>
          <a:xfrm>
            <a:off x="9029700" y="3505200"/>
            <a:ext cx="381000" cy="381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78588A66-47B5-4FD5-8DC4-D54976796C14}"/>
              </a:ext>
            </a:extLst>
          </p:cNvPr>
          <p:cNvSpPr>
            <a:spLocks noGrp="1"/>
          </p:cNvSpPr>
          <p:nvPr/>
        </p:nvSpPr>
        <p:spPr>
          <a:xfrm>
            <a:off x="9305925" y="3438525"/>
            <a:ext cx="171450" cy="171450"/>
          </a:xfrm>
          <a:prstGeom prst="triangl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98C85D-390A-48A5-8BAD-37EC6B562380}"/>
              </a:ext>
            </a:extLst>
          </p:cNvPr>
          <p:cNvSpPr>
            <a:spLocks noGrp="1"/>
          </p:cNvSpPr>
          <p:nvPr/>
        </p:nvSpPr>
        <p:spPr>
          <a:xfrm>
            <a:off x="9620250" y="2952750"/>
            <a:ext cx="1619250" cy="13335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D6E3E5-3A5B-46A6-911F-0635E95EDDE8}"/>
              </a:ext>
            </a:extLst>
          </p:cNvPr>
          <p:cNvSpPr>
            <a:spLocks noGrp="1"/>
          </p:cNvSpPr>
          <p:nvPr/>
        </p:nvSpPr>
        <p:spPr>
          <a:xfrm>
            <a:off x="9525000" y="2857500"/>
            <a:ext cx="1619250" cy="1333500"/>
          </a:xfrm>
          <a:prstGeom prst="rect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0B4C17-B02D-4A1A-BCD8-1BA77A796A47}"/>
              </a:ext>
            </a:extLst>
          </p:cNvPr>
          <p:cNvSpPr>
            <a:spLocks noGrp="1"/>
          </p:cNvSpPr>
          <p:nvPr/>
        </p:nvSpPr>
        <p:spPr>
          <a:xfrm>
            <a:off x="9753600" y="3105150"/>
            <a:ext cx="114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1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QA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B8CB4C3-DDE4-45DF-9743-9C249FD67E63}"/>
              </a:ext>
            </a:extLst>
          </p:cNvPr>
          <p:cNvSpPr>
            <a:spLocks noGrp="1"/>
          </p:cNvSpPr>
          <p:nvPr/>
        </p:nvSpPr>
        <p:spPr>
          <a:xfrm>
            <a:off x="9715500" y="3619500"/>
            <a:ext cx="1219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 + retry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BBAB9E-B9E7-4630-861E-1C32FC9CB0B8}"/>
              </a:ext>
            </a:extLst>
          </p:cNvPr>
          <p:cNvSpPr>
            <a:spLocks noGrp="1"/>
          </p:cNvSpPr>
          <p:nvPr/>
        </p:nvSpPr>
        <p:spPr>
          <a:xfrm>
            <a:off x="2019300" y="4629150"/>
            <a:ext cx="8077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phase 1, we present the workflow at a high level instead of explaining all 33 planned agent nodes.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04A76F1-FE2F-4326-8F4C-B57FBE0F8278}"/>
              </a:ext>
            </a:extLst>
          </p:cNvPr>
          <p:cNvSpPr>
            <a:spLocks noGrp="1"/>
          </p:cNvSpPr>
          <p:nvPr/>
        </p:nvSpPr>
        <p:spPr>
          <a:xfrm>
            <a:off x="3752850" y="5429250"/>
            <a:ext cx="4838700" cy="476250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AABC26-A871-466E-AD22-990C73FFE017}"/>
              </a:ext>
            </a:extLst>
          </p:cNvPr>
          <p:cNvSpPr>
            <a:spLocks noGrp="1"/>
          </p:cNvSpPr>
          <p:nvPr/>
        </p:nvSpPr>
        <p:spPr>
          <a:xfrm>
            <a:off x="3676650" y="5353050"/>
            <a:ext cx="4838700" cy="4762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lIns="171450" tIns="76200" rIns="171450" bIns="76200" anchor="ctr"/>
          <a:lstStyle/>
          <a:p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 benefit: controlled, repeatable lesson generation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73722D6-6968-47A1-B5D9-87E0C62EA6DA}"/>
              </a:ext>
            </a:extLst>
          </p:cNvPr>
          <p:cNvSpPr>
            <a:spLocks noGrp="1"/>
          </p:cNvSpPr>
          <p:nvPr/>
        </p:nvSpPr>
        <p:spPr>
          <a:xfrm>
            <a:off x="723900" y="63055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Focusly | GenAI Phase 1 Evaluation</a:t>
            </a:r>
          </a:p>
        </p:txBody>
      </p:sp>
    </p:spTree>
    <p:extLst>
      <p:ext uri="{BB962C8B-B14F-4D97-AF65-F5344CB8AC3E}">
        <p14:creationId xmlns:p14="http://schemas.microsoft.com/office/powerpoint/2010/main" val="1018847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4370607-8613-42F7-A768-0DA47439C694}"/>
              </a:ext>
            </a:extLst>
          </p:cNvPr>
          <p:cNvSpPr>
            <a:spLocks noGrp="1"/>
          </p:cNvSpPr>
          <p:nvPr/>
        </p:nvSpPr>
        <p:spPr>
          <a:xfrm>
            <a:off x="0" y="-9525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0A89DD-0C61-4F5A-9648-7EAB424F4C72}"/>
              </a:ext>
            </a:extLst>
          </p:cNvPr>
          <p:cNvSpPr>
            <a:spLocks noGrp="1"/>
          </p:cNvSpPr>
          <p:nvPr/>
        </p:nvSpPr>
        <p:spPr>
          <a:xfrm>
            <a:off x="9864799" y="0"/>
            <a:ext cx="1476375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C65DDB-3F1C-4F71-B8C7-CE54FF065992}"/>
              </a:ext>
            </a:extLst>
          </p:cNvPr>
          <p:cNvSpPr>
            <a:spLocks noGrp="1"/>
          </p:cNvSpPr>
          <p:nvPr/>
        </p:nvSpPr>
        <p:spPr>
          <a:xfrm>
            <a:off x="723900" y="4191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979933-C80C-4FB9-BA17-AEBB1AC3F6AE}"/>
              </a:ext>
            </a:extLst>
          </p:cNvPr>
          <p:cNvSpPr>
            <a:spLocks noGrp="1"/>
          </p:cNvSpPr>
          <p:nvPr/>
        </p:nvSpPr>
        <p:spPr>
          <a:xfrm>
            <a:off x="723900" y="781050"/>
            <a:ext cx="107442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0A4E2-54FD-4572-B184-832E997432E0}"/>
              </a:ext>
            </a:extLst>
          </p:cNvPr>
          <p:cNvSpPr>
            <a:spLocks noGrp="1"/>
          </p:cNvSpPr>
          <p:nvPr/>
        </p:nvSpPr>
        <p:spPr>
          <a:xfrm>
            <a:off x="723900" y="1104900"/>
            <a:ext cx="7239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31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1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Video Generation Tools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D69EEE-6847-4B10-B342-1286D42DFC5D}"/>
              </a:ext>
            </a:extLst>
          </p:cNvPr>
          <p:cNvSpPr>
            <a:spLocks noGrp="1"/>
          </p:cNvSpPr>
          <p:nvPr/>
        </p:nvSpPr>
        <p:spPr>
          <a:xfrm>
            <a:off x="781050" y="190500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output is code-generated animation, not a generic AI video generation API.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E0B8B7-03EF-4DD3-AADA-E4D2AFBF28F8}"/>
              </a:ext>
            </a:extLst>
          </p:cNvPr>
          <p:cNvSpPr>
            <a:spLocks noGrp="1"/>
          </p:cNvSpPr>
          <p:nvPr/>
        </p:nvSpPr>
        <p:spPr>
          <a:xfrm>
            <a:off x="1047750" y="2686050"/>
            <a:ext cx="2857500" cy="21907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795400-0EC6-4104-BBF1-44EF726B1D79}"/>
              </a:ext>
            </a:extLst>
          </p:cNvPr>
          <p:cNvSpPr>
            <a:spLocks noGrp="1"/>
          </p:cNvSpPr>
          <p:nvPr/>
        </p:nvSpPr>
        <p:spPr>
          <a:xfrm>
            <a:off x="952500" y="2590800"/>
            <a:ext cx="2857500" cy="2190750"/>
          </a:xfrm>
          <a:prstGeom prst="rect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92E56A-5FCE-4B62-9876-02275BDE69C8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Remotion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DFE5D5-186D-475A-95F6-A3A6247EB962}"/>
              </a:ext>
            </a:extLst>
          </p:cNvPr>
          <p:cNvSpPr>
            <a:spLocks noGrp="1"/>
          </p:cNvSpPr>
          <p:nvPr/>
        </p:nvSpPr>
        <p:spPr>
          <a:xfrm>
            <a:off x="1295400" y="3543300"/>
            <a:ext cx="19431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React-based scenes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Text animation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Quiz screens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General visuals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9C460B-6FBE-40EE-9DC8-9EBFF94134CF}"/>
              </a:ext>
            </a:extLst>
          </p:cNvPr>
          <p:cNvSpPr>
            <a:spLocks noGrp="1"/>
          </p:cNvSpPr>
          <p:nvPr/>
        </p:nvSpPr>
        <p:spPr>
          <a:xfrm>
            <a:off x="4762500" y="2686050"/>
            <a:ext cx="2857500" cy="21907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A19E5-70CC-425A-B210-F268D5F94FB9}"/>
              </a:ext>
            </a:extLst>
          </p:cNvPr>
          <p:cNvSpPr>
            <a:spLocks noGrp="1"/>
          </p:cNvSpPr>
          <p:nvPr/>
        </p:nvSpPr>
        <p:spPr>
          <a:xfrm>
            <a:off x="4667250" y="2590800"/>
            <a:ext cx="2857500" cy="2190750"/>
          </a:xfrm>
          <a:prstGeom prst="rect">
            <a:avLst/>
          </a:prstGeom>
          <a:solidFill>
            <a:srgbClr val="BCE0F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C3343E-7079-419B-91ED-7885244C85F0}"/>
              </a:ext>
            </a:extLst>
          </p:cNvPr>
          <p:cNvSpPr>
            <a:spLocks noGrp="1"/>
          </p:cNvSpPr>
          <p:nvPr/>
        </p:nvSpPr>
        <p:spPr>
          <a:xfrm>
            <a:off x="4972050" y="295275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Manim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C2F72-B316-444B-8FCC-C9DE5C23DB70}"/>
              </a:ext>
            </a:extLst>
          </p:cNvPr>
          <p:cNvSpPr>
            <a:spLocks noGrp="1"/>
          </p:cNvSpPr>
          <p:nvPr/>
        </p:nvSpPr>
        <p:spPr>
          <a:xfrm>
            <a:off x="5010150" y="3543300"/>
            <a:ext cx="19431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Math animation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Algorithms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Graph concepts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Step-by-step visuals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0B081B-ACD6-45C7-BA89-2CB2F17A8AE1}"/>
              </a:ext>
            </a:extLst>
          </p:cNvPr>
          <p:cNvSpPr>
            <a:spLocks noGrp="1"/>
          </p:cNvSpPr>
          <p:nvPr/>
        </p:nvSpPr>
        <p:spPr>
          <a:xfrm>
            <a:off x="8477250" y="2686050"/>
            <a:ext cx="2857500" cy="21907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517EE5-E061-4647-BD9F-81974F459C91}"/>
              </a:ext>
            </a:extLst>
          </p:cNvPr>
          <p:cNvSpPr>
            <a:spLocks noGrp="1"/>
          </p:cNvSpPr>
          <p:nvPr/>
        </p:nvSpPr>
        <p:spPr>
          <a:xfrm>
            <a:off x="8382000" y="2590800"/>
            <a:ext cx="2857500" cy="2190750"/>
          </a:xfrm>
          <a:prstGeom prst="rect">
            <a:avLst/>
          </a:prstGeom>
          <a:solidFill>
            <a:srgbClr val="F7F7F7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B787BB-B5D4-40F9-8181-89388838AC58}"/>
              </a:ext>
            </a:extLst>
          </p:cNvPr>
          <p:cNvSpPr>
            <a:spLocks noGrp="1"/>
          </p:cNvSpPr>
          <p:nvPr/>
        </p:nvSpPr>
        <p:spPr>
          <a:xfrm>
            <a:off x="8686800" y="295275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FFmpeg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C2EC58-EEDD-4913-8C78-35AE034A8CDB}"/>
              </a:ext>
            </a:extLst>
          </p:cNvPr>
          <p:cNvSpPr>
            <a:spLocks noGrp="1"/>
          </p:cNvSpPr>
          <p:nvPr/>
        </p:nvSpPr>
        <p:spPr>
          <a:xfrm>
            <a:off x="8724900" y="3543300"/>
            <a:ext cx="19431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Stitch scenes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Mix narration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 MP4</a:t>
            </a:r>
          </a:p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Create HLS stream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F01A67A-D4D6-4651-87D8-B2E18D0B7E4F}"/>
              </a:ext>
            </a:extLst>
          </p:cNvPr>
          <p:cNvSpPr>
            <a:spLocks noGrp="1"/>
          </p:cNvSpPr>
          <p:nvPr/>
        </p:nvSpPr>
        <p:spPr>
          <a:xfrm>
            <a:off x="2038350" y="5391150"/>
            <a:ext cx="3257550" cy="476250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839B62-9EC6-4DCA-AAF6-755934905DA8}"/>
              </a:ext>
            </a:extLst>
          </p:cNvPr>
          <p:cNvSpPr>
            <a:spLocks noGrp="1"/>
          </p:cNvSpPr>
          <p:nvPr/>
        </p:nvSpPr>
        <p:spPr>
          <a:xfrm>
            <a:off x="1962150" y="5314950"/>
            <a:ext cx="3257550" cy="4762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lIns="171450" tIns="76200" rIns="171450" bIns="76200" anchor="ctr"/>
          <a:lstStyle/>
          <a:p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Narration: ElevenLabs TTS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539C65F-5360-4ACB-90B7-41252893B78D}"/>
              </a:ext>
            </a:extLst>
          </p:cNvPr>
          <p:cNvSpPr>
            <a:spLocks noGrp="1"/>
          </p:cNvSpPr>
          <p:nvPr/>
        </p:nvSpPr>
        <p:spPr>
          <a:xfrm>
            <a:off x="6096000" y="5391150"/>
            <a:ext cx="3943350" cy="476250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BDC62C-1883-4AFE-8421-CC9A2F63C09B}"/>
              </a:ext>
            </a:extLst>
          </p:cNvPr>
          <p:cNvSpPr>
            <a:spLocks noGrp="1"/>
          </p:cNvSpPr>
          <p:nvPr/>
        </p:nvSpPr>
        <p:spPr>
          <a:xfrm>
            <a:off x="6019800" y="5314950"/>
            <a:ext cx="3943350" cy="4762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lIns="171450" tIns="76200" rIns="171450" bIns="76200" anchor="ctr"/>
          <a:lstStyle/>
          <a:p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Delivery: HLS player + R2 storage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0260D1-EE73-46ED-9539-466E1CF0833C}"/>
              </a:ext>
            </a:extLst>
          </p:cNvPr>
          <p:cNvSpPr>
            <a:spLocks noGrp="1"/>
          </p:cNvSpPr>
          <p:nvPr/>
        </p:nvSpPr>
        <p:spPr>
          <a:xfrm>
            <a:off x="723900" y="63055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Focusly | GenAI Phase 1 Evaluation</a:t>
            </a:r>
          </a:p>
        </p:txBody>
      </p:sp>
    </p:spTree>
    <p:extLst>
      <p:ext uri="{BB962C8B-B14F-4D97-AF65-F5344CB8AC3E}">
        <p14:creationId xmlns:p14="http://schemas.microsoft.com/office/powerpoint/2010/main" val="698033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A84004C-C07E-4582-A7BF-8CB7057DD4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67CED-2D4E-47BB-8457-ED8719149793}"/>
              </a:ext>
            </a:extLst>
          </p:cNvPr>
          <p:cNvSpPr>
            <a:spLocks noGrp="1"/>
          </p:cNvSpPr>
          <p:nvPr/>
        </p:nvSpPr>
        <p:spPr>
          <a:xfrm>
            <a:off x="9867900" y="304800"/>
            <a:ext cx="1476375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48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29143-4FE5-450A-9875-7302FF12887F}"/>
              </a:ext>
            </a:extLst>
          </p:cNvPr>
          <p:cNvSpPr>
            <a:spLocks noGrp="1"/>
          </p:cNvSpPr>
          <p:nvPr/>
        </p:nvSpPr>
        <p:spPr>
          <a:xfrm>
            <a:off x="723900" y="4191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A1E13D-8A8A-41A4-B2C8-4FF13ABE81D0}"/>
              </a:ext>
            </a:extLst>
          </p:cNvPr>
          <p:cNvSpPr>
            <a:spLocks noGrp="1"/>
          </p:cNvSpPr>
          <p:nvPr/>
        </p:nvSpPr>
        <p:spPr>
          <a:xfrm>
            <a:off x="723900" y="781050"/>
            <a:ext cx="107442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398642-E005-433D-83BE-1453FDAB6AB1}"/>
              </a:ext>
            </a:extLst>
          </p:cNvPr>
          <p:cNvSpPr>
            <a:spLocks noGrp="1"/>
          </p:cNvSpPr>
          <p:nvPr/>
        </p:nvSpPr>
        <p:spPr>
          <a:xfrm>
            <a:off x="723900" y="1104900"/>
            <a:ext cx="7239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31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1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Phase 1 Evaluation Focus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1A0D74-8730-48C5-BCDD-8415BB73335E}"/>
              </a:ext>
            </a:extLst>
          </p:cNvPr>
          <p:cNvSpPr>
            <a:spLocks noGrp="1"/>
          </p:cNvSpPr>
          <p:nvPr/>
        </p:nvSpPr>
        <p:spPr>
          <a:xfrm>
            <a:off x="781050" y="190500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goal is to show that the implementation path is practical and the core pipeline is clear.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D3B6A3-C70D-4ABE-91AC-D36A92BCF395}"/>
              </a:ext>
            </a:extLst>
          </p:cNvPr>
          <p:cNvSpPr>
            <a:spLocks noGrp="1"/>
          </p:cNvSpPr>
          <p:nvPr/>
        </p:nvSpPr>
        <p:spPr>
          <a:xfrm>
            <a:off x="1028700" y="2552700"/>
            <a:ext cx="4838700" cy="25717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4B3FFA-DD97-406A-923E-7552FEFABE39}"/>
              </a:ext>
            </a:extLst>
          </p:cNvPr>
          <p:cNvSpPr>
            <a:spLocks noGrp="1"/>
          </p:cNvSpPr>
          <p:nvPr/>
        </p:nvSpPr>
        <p:spPr>
          <a:xfrm>
            <a:off x="933450" y="2457450"/>
            <a:ext cx="4838700" cy="2571750"/>
          </a:xfrm>
          <a:prstGeom prst="rect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5AB4EB-9B3E-47E9-9BA5-81D81E734332}"/>
              </a:ext>
            </a:extLst>
          </p:cNvPr>
          <p:cNvSpPr>
            <a:spLocks noGrp="1"/>
          </p:cNvSpPr>
          <p:nvPr/>
        </p:nvSpPr>
        <p:spPr>
          <a:xfrm>
            <a:off x="1257300" y="2781300"/>
            <a:ext cx="342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2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What we will show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876646-F681-4614-93E7-F7F5B896BB66}"/>
              </a:ext>
            </a:extLst>
          </p:cNvPr>
          <p:cNvSpPr>
            <a:spLocks noGrp="1"/>
          </p:cNvSpPr>
          <p:nvPr/>
        </p:nvSpPr>
        <p:spPr>
          <a:xfrm>
            <a:off x="1314450" y="3486150"/>
            <a:ext cx="133350" cy="133350"/>
          </a:xfrm>
          <a:prstGeom prst="ellipse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A85DC7-D4A6-4A43-B0AD-7A4B9C4A4B04}"/>
              </a:ext>
            </a:extLst>
          </p:cNvPr>
          <p:cNvSpPr>
            <a:spLocks noGrp="1"/>
          </p:cNvSpPr>
          <p:nvPr/>
        </p:nvSpPr>
        <p:spPr>
          <a:xfrm>
            <a:off x="1600200" y="33909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Prompt-based lesson request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9B4F46-F412-4688-B72C-E8FFE1B44292}"/>
              </a:ext>
            </a:extLst>
          </p:cNvPr>
          <p:cNvSpPr>
            <a:spLocks noGrp="1"/>
          </p:cNvSpPr>
          <p:nvPr/>
        </p:nvSpPr>
        <p:spPr>
          <a:xfrm>
            <a:off x="1314450" y="3886200"/>
            <a:ext cx="133350" cy="133350"/>
          </a:xfrm>
          <a:prstGeom prst="ellipse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7A70B6-9905-4A04-BB27-93D5E4D73BA6}"/>
              </a:ext>
            </a:extLst>
          </p:cNvPr>
          <p:cNvSpPr>
            <a:spLocks noGrp="1"/>
          </p:cNvSpPr>
          <p:nvPr/>
        </p:nvSpPr>
        <p:spPr>
          <a:xfrm>
            <a:off x="1600200" y="37909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Async job pipeline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00030E-DBB8-4939-9C5B-3B33465BF77F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133350" cy="133350"/>
          </a:xfrm>
          <a:prstGeom prst="ellipse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C73439-349E-486E-A208-AE8A3C45F6E2}"/>
              </a:ext>
            </a:extLst>
          </p:cNvPr>
          <p:cNvSpPr>
            <a:spLocks noGrp="1"/>
          </p:cNvSpPr>
          <p:nvPr/>
        </p:nvSpPr>
        <p:spPr>
          <a:xfrm>
            <a:off x="1600200" y="41910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 generated script + scene plan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A50AD7F-C7C9-4D68-994A-B09BC0A1224D}"/>
              </a:ext>
            </a:extLst>
          </p:cNvPr>
          <p:cNvSpPr>
            <a:spLocks noGrp="1"/>
          </p:cNvSpPr>
          <p:nvPr/>
        </p:nvSpPr>
        <p:spPr>
          <a:xfrm>
            <a:off x="1314450" y="4686300"/>
            <a:ext cx="133350" cy="133350"/>
          </a:xfrm>
          <a:prstGeom prst="ellipse">
            <a:avLst/>
          </a:prstGeom>
          <a:solidFill>
            <a:srgbClr val="C2F29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FA677E-5A8C-4AD9-8564-293CD3979F2A}"/>
              </a:ext>
            </a:extLst>
          </p:cNvPr>
          <p:cNvSpPr>
            <a:spLocks noGrp="1"/>
          </p:cNvSpPr>
          <p:nvPr/>
        </p:nvSpPr>
        <p:spPr>
          <a:xfrm>
            <a:off x="1600200" y="45910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Rendered animated lesson output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4A99B6-BC7B-4FA3-BD5C-ACE538BEBBE5}"/>
              </a:ext>
            </a:extLst>
          </p:cNvPr>
          <p:cNvSpPr>
            <a:spLocks noGrp="1"/>
          </p:cNvSpPr>
          <p:nvPr/>
        </p:nvSpPr>
        <p:spPr>
          <a:xfrm>
            <a:off x="6534150" y="2552700"/>
            <a:ext cx="4838700" cy="25717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694511-1B84-4B88-97FD-C019F4F7D2F4}"/>
              </a:ext>
            </a:extLst>
          </p:cNvPr>
          <p:cNvSpPr>
            <a:spLocks noGrp="1"/>
          </p:cNvSpPr>
          <p:nvPr/>
        </p:nvSpPr>
        <p:spPr>
          <a:xfrm>
            <a:off x="6438900" y="2457450"/>
            <a:ext cx="4838700" cy="2571750"/>
          </a:xfrm>
          <a:prstGeom prst="rect">
            <a:avLst/>
          </a:prstGeom>
          <a:solidFill>
            <a:srgbClr val="BCE0FD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B6C308-3B84-42AE-BE92-C2A1255C24B6}"/>
              </a:ext>
            </a:extLst>
          </p:cNvPr>
          <p:cNvSpPr>
            <a:spLocks noGrp="1"/>
          </p:cNvSpPr>
          <p:nvPr/>
        </p:nvSpPr>
        <p:spPr>
          <a:xfrm>
            <a:off x="6762750" y="2781300"/>
            <a:ext cx="342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2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What we will avoid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C75E7F-FEE5-4ADA-BE33-EEF1C87B76B8}"/>
              </a:ext>
            </a:extLst>
          </p:cNvPr>
          <p:cNvSpPr>
            <a:spLocks noGrp="1"/>
          </p:cNvSpPr>
          <p:nvPr/>
        </p:nvSpPr>
        <p:spPr>
          <a:xfrm>
            <a:off x="6819900" y="3486150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723B25-B3F9-444E-88FE-3005384A6A29}"/>
              </a:ext>
            </a:extLst>
          </p:cNvPr>
          <p:cNvSpPr>
            <a:spLocks noGrp="1"/>
          </p:cNvSpPr>
          <p:nvPr/>
        </p:nvSpPr>
        <p:spPr>
          <a:xfrm>
            <a:off x="7105650" y="33909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Deep model theory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C3BCCFE-A43B-45D8-AA0F-C85D8E86EE3B}"/>
              </a:ext>
            </a:extLst>
          </p:cNvPr>
          <p:cNvSpPr>
            <a:spLocks noGrp="1"/>
          </p:cNvSpPr>
          <p:nvPr/>
        </p:nvSpPr>
        <p:spPr>
          <a:xfrm>
            <a:off x="6819900" y="3886200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25985E-6CF3-49B6-BF78-044C5D2DEADC}"/>
              </a:ext>
            </a:extLst>
          </p:cNvPr>
          <p:cNvSpPr>
            <a:spLocks noGrp="1"/>
          </p:cNvSpPr>
          <p:nvPr/>
        </p:nvSpPr>
        <p:spPr>
          <a:xfrm>
            <a:off x="7105650" y="37909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Full 33-agent explanation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48205A9-37E2-477C-9CBC-BDB705C3D5C4}"/>
              </a:ext>
            </a:extLst>
          </p:cNvPr>
          <p:cNvSpPr>
            <a:spLocks noGrp="1"/>
          </p:cNvSpPr>
          <p:nvPr/>
        </p:nvSpPr>
        <p:spPr>
          <a:xfrm>
            <a:off x="6819900" y="4286250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E858BC-9412-4E21-9FD1-B3F2739883C1}"/>
              </a:ext>
            </a:extLst>
          </p:cNvPr>
          <p:cNvSpPr>
            <a:spLocks noGrp="1"/>
          </p:cNvSpPr>
          <p:nvPr/>
        </p:nvSpPr>
        <p:spPr>
          <a:xfrm>
            <a:off x="7105650" y="41910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Post-MVP features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B61C449-3FCE-47DA-991A-56B5299811AC}"/>
              </a:ext>
            </a:extLst>
          </p:cNvPr>
          <p:cNvSpPr>
            <a:spLocks noGrp="1"/>
          </p:cNvSpPr>
          <p:nvPr/>
        </p:nvSpPr>
        <p:spPr>
          <a:xfrm>
            <a:off x="6819900" y="4686300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B59E31-DBFD-49BF-9DAA-A80041618135}"/>
              </a:ext>
            </a:extLst>
          </p:cNvPr>
          <p:cNvSpPr>
            <a:spLocks noGrp="1"/>
          </p:cNvSpPr>
          <p:nvPr/>
        </p:nvSpPr>
        <p:spPr>
          <a:xfrm>
            <a:off x="7105650" y="45910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Complex deployment details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E2A9E62-1D34-482D-B060-14E4D299E829}"/>
              </a:ext>
            </a:extLst>
          </p:cNvPr>
          <p:cNvSpPr>
            <a:spLocks noGrp="1"/>
          </p:cNvSpPr>
          <p:nvPr/>
        </p:nvSpPr>
        <p:spPr>
          <a:xfrm>
            <a:off x="2571750" y="5638800"/>
            <a:ext cx="7200900" cy="495300"/>
          </a:xfrm>
          <a:prstGeom prst="roundRect">
            <a:avLst>
              <a:gd name="adj" fmla="val 15385"/>
            </a:avLst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78486DD-BA41-459B-B8B2-7F85117F7514}"/>
              </a:ext>
            </a:extLst>
          </p:cNvPr>
          <p:cNvSpPr>
            <a:spLocks noGrp="1"/>
          </p:cNvSpPr>
          <p:nvPr/>
        </p:nvSpPr>
        <p:spPr>
          <a:xfrm>
            <a:off x="2495550" y="5562600"/>
            <a:ext cx="7200900" cy="4953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lIns="171450" tIns="76200" rIns="171450" bIns="76200" anchor="ctr"/>
          <a:lstStyle/>
          <a:p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 1 message: working GenAI architecture, minimal scope, clear tools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815B21-76C6-487D-B9AC-212ADED43C44}"/>
              </a:ext>
            </a:extLst>
          </p:cNvPr>
          <p:cNvSpPr>
            <a:spLocks noGrp="1"/>
          </p:cNvSpPr>
          <p:nvPr/>
        </p:nvSpPr>
        <p:spPr>
          <a:xfrm>
            <a:off x="723900" y="63055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Focusly | GenAI Phase 1 Evaluation</a:t>
            </a:r>
          </a:p>
        </p:txBody>
      </p:sp>
    </p:spTree>
    <p:extLst>
      <p:ext uri="{BB962C8B-B14F-4D97-AF65-F5344CB8AC3E}">
        <p14:creationId xmlns:p14="http://schemas.microsoft.com/office/powerpoint/2010/main" val="14601129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Macintosh PowerPoint</Application>
  <DocSecurity>0</DocSecurity>
  <PresentationFormat>Widescreen</PresentationFormat>
  <Paragraphs>138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pankaj raikar</cp:lastModifiedBy>
  <cp:revision>1</cp:revision>
  <dcterms:created xsi:type="dcterms:W3CDTF">2026-05-19T16:22:53Z</dcterms:created>
  <dcterms:modified xsi:type="dcterms:W3CDTF">2026-05-19T16:44:41Z</dcterms:modified>
</cp:coreProperties>
</file>