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A4016DB-A082-452A-81B6-CB139832F013}"/>
              </a:ext>
            </a:extLst>
          </p:cNvPr>
          <p:cNvSpPr>
            <a:spLocks noGrp="1"/>
          </p:cNvSpPr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F49E8-D31C-4DC6-9EA0-C0ACA9B31376}"/>
              </a:ext>
            </a:extLst>
          </p:cNvPr>
          <p:cNvSpPr>
            <a:spLocks noGrp="1"/>
          </p:cNvSpPr>
          <p:nvPr/>
        </p:nvSpPr>
        <p:spPr>
          <a:xfrm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8EEAE8-B2A5-4009-AF38-355D66E7CA10}"/>
              </a:ext>
            </a:extLst>
          </p:cNvPr>
          <p:cNvSpPr>
            <a:spLocks noGrp="1"/>
          </p:cNvSpPr>
          <p:nvPr/>
        </p:nvSpPr>
        <p:spPr>
          <a:xfrm rot="18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47C41-0D1B-42DC-974B-A0DDAACDB0DD}"/>
              </a:ext>
            </a:extLst>
          </p:cNvPr>
          <p:cNvSpPr>
            <a:spLocks noGrp="1"/>
          </p:cNvSpPr>
          <p:nvPr/>
        </p:nvSpPr>
        <p:spPr>
          <a:xfrm rot="36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065BD-7493-4954-8AB4-70E858F70513}"/>
              </a:ext>
            </a:extLst>
          </p:cNvPr>
          <p:cNvSpPr>
            <a:spLocks noGrp="1"/>
          </p:cNvSpPr>
          <p:nvPr/>
        </p:nvSpPr>
        <p:spPr>
          <a:xfrm rot="54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255B3-953B-44E5-A90D-737FB8B3CC69}"/>
              </a:ext>
            </a:extLst>
          </p:cNvPr>
          <p:cNvSpPr>
            <a:spLocks noGrp="1"/>
          </p:cNvSpPr>
          <p:nvPr/>
        </p:nvSpPr>
        <p:spPr>
          <a:xfrm rot="72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AE371-B564-49CD-A6D6-FA52AB3EE63E}"/>
              </a:ext>
            </a:extLst>
          </p:cNvPr>
          <p:cNvSpPr>
            <a:spLocks noGrp="1"/>
          </p:cNvSpPr>
          <p:nvPr/>
        </p:nvSpPr>
        <p:spPr>
          <a:xfrm rot="90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4B628-447F-40E4-9B6A-2694FCF46DF2}"/>
              </a:ext>
            </a:extLst>
          </p:cNvPr>
          <p:cNvSpPr>
            <a:spLocks noGrp="1"/>
          </p:cNvSpPr>
          <p:nvPr/>
        </p:nvSpPr>
        <p:spPr>
          <a:xfrm rot="108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26E2B-72F1-4BCC-9A9C-21D4FFC20530}"/>
              </a:ext>
            </a:extLst>
          </p:cNvPr>
          <p:cNvSpPr>
            <a:spLocks noGrp="1"/>
          </p:cNvSpPr>
          <p:nvPr/>
        </p:nvSpPr>
        <p:spPr>
          <a:xfrm rot="126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161497-7158-4722-BB45-684096642493}"/>
              </a:ext>
            </a:extLst>
          </p:cNvPr>
          <p:cNvSpPr>
            <a:spLocks noGrp="1"/>
          </p:cNvSpPr>
          <p:nvPr/>
        </p:nvSpPr>
        <p:spPr>
          <a:xfrm rot="144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6BDB6E-9036-468E-9287-F5EB7CC0F137}"/>
              </a:ext>
            </a:extLst>
          </p:cNvPr>
          <p:cNvSpPr>
            <a:spLocks noGrp="1"/>
          </p:cNvSpPr>
          <p:nvPr/>
        </p:nvSpPr>
        <p:spPr>
          <a:xfrm rot="162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8118AC-4A23-4245-AB17-7A0D8F5E1F30}"/>
              </a:ext>
            </a:extLst>
          </p:cNvPr>
          <p:cNvSpPr>
            <a:spLocks noGrp="1"/>
          </p:cNvSpPr>
          <p:nvPr/>
        </p:nvSpPr>
        <p:spPr>
          <a:xfrm rot="180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60F6A0-BB91-4154-B006-85556B4BBF83}"/>
              </a:ext>
            </a:extLst>
          </p:cNvPr>
          <p:cNvSpPr>
            <a:spLocks noGrp="1"/>
          </p:cNvSpPr>
          <p:nvPr/>
        </p:nvSpPr>
        <p:spPr>
          <a:xfrm rot="19800000">
            <a:off x="9848850" y="552450"/>
            <a:ext cx="76200" cy="8382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938CCB-50C8-4908-B6F4-DE0AAAF92647}"/>
              </a:ext>
            </a:extLst>
          </p:cNvPr>
          <p:cNvSpPr>
            <a:spLocks noGrp="1"/>
          </p:cNvSpPr>
          <p:nvPr/>
        </p:nvSpPr>
        <p:spPr>
          <a:xfrm>
            <a:off x="716927" y="2345019"/>
            <a:ext cx="8096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57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Focusly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1B9F7-7EB4-4A02-AE72-8805A6153E39}"/>
              </a:ext>
            </a:extLst>
          </p:cNvPr>
          <p:cNvSpPr>
            <a:spLocks noGrp="1"/>
          </p:cNvSpPr>
          <p:nvPr/>
        </p:nvSpPr>
        <p:spPr>
          <a:xfrm>
            <a:off x="774077" y="3468969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GenAI Animated Learning Platform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B2895-867A-483A-BD36-DB7FDCC2DE15}"/>
              </a:ext>
            </a:extLst>
          </p:cNvPr>
          <p:cNvSpPr>
            <a:spLocks noGrp="1"/>
          </p:cNvSpPr>
          <p:nvPr/>
        </p:nvSpPr>
        <p:spPr>
          <a:xfrm>
            <a:off x="793127" y="4059519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Phase 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38C687-6CC2-4AA1-874D-7ACD81511DE1}"/>
              </a:ext>
            </a:extLst>
          </p:cNvPr>
          <p:cNvSpPr>
            <a:spLocks noGrp="1"/>
          </p:cNvSpPr>
          <p:nvPr/>
        </p:nvSpPr>
        <p:spPr>
          <a:xfrm>
            <a:off x="6877050" y="2261846"/>
            <a:ext cx="5086350" cy="2590800"/>
          </a:xfrm>
          <a:prstGeom prst="roundRect">
            <a:avLst>
              <a:gd name="adj" fmla="val 294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C72CBC5-2C1F-4D88-A23B-4ABFDAE6EA54}"/>
              </a:ext>
            </a:extLst>
          </p:cNvPr>
          <p:cNvSpPr>
            <a:spLocks noGrp="1"/>
          </p:cNvSpPr>
          <p:nvPr/>
        </p:nvSpPr>
        <p:spPr>
          <a:xfrm>
            <a:off x="6762750" y="2147546"/>
            <a:ext cx="5086350" cy="2590800"/>
          </a:xfrm>
          <a:prstGeom prst="roundRect">
            <a:avLst>
              <a:gd name="adj" fmla="val 2941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E98D6-C022-41C6-AD3B-DE2EA8B6E96F}"/>
              </a:ext>
            </a:extLst>
          </p:cNvPr>
          <p:cNvSpPr>
            <a:spLocks noGrp="1"/>
          </p:cNvSpPr>
          <p:nvPr/>
        </p:nvSpPr>
        <p:spPr>
          <a:xfrm>
            <a:off x="7162800" y="2642846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Presented by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2BFCDC-1EDF-4F4A-BCEA-71A5AE009FEC}"/>
              </a:ext>
            </a:extLst>
          </p:cNvPr>
          <p:cNvSpPr>
            <a:spLocks noGrp="1"/>
          </p:cNvSpPr>
          <p:nvPr/>
        </p:nvSpPr>
        <p:spPr>
          <a:xfrm>
            <a:off x="7162800" y="3138146"/>
            <a:ext cx="2952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Pankaj Raikar</a:t>
            </a:r>
          </a:p>
          <a:p>
            <a:pPr algn="l">
              <a:defRPr sz="18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1RV25MC065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3FC68A-6AE9-4967-A7A6-BFC377857E45}"/>
              </a:ext>
            </a:extLst>
          </p:cNvPr>
          <p:cNvSpPr>
            <a:spLocks noGrp="1"/>
          </p:cNvSpPr>
          <p:nvPr/>
        </p:nvSpPr>
        <p:spPr>
          <a:xfrm>
            <a:off x="7162800" y="3881096"/>
            <a:ext cx="2952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Prem Kamble</a:t>
            </a:r>
          </a:p>
          <a:p>
            <a:pPr algn="l">
              <a:defRPr sz="18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1RV25MC074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5A8847-3ABF-472B-88C6-9E3408C3791B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endParaRPr sz="1875" b="1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CDF0A6-25A1-425A-8F54-C562F137940D}"/>
              </a:ext>
            </a:extLst>
          </p:cNvPr>
          <p:cNvSpPr>
            <a:spLocks noGrp="1"/>
          </p:cNvSpPr>
          <p:nvPr/>
        </p:nvSpPr>
        <p:spPr>
          <a:xfrm>
            <a:off x="9296400" y="3100046"/>
            <a:ext cx="2178673" cy="366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lang="en-IN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Rahish Kumar</a:t>
            </a:r>
          </a:p>
          <a:p>
            <a:pPr algn="l">
              <a:defRPr sz="22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lang="en-IN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1RV25MC078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B33E13C-89D8-4E62-84EE-CC81C043B0CA}"/>
              </a:ext>
            </a:extLst>
          </p:cNvPr>
          <p:cNvSpPr>
            <a:spLocks noGrp="1"/>
          </p:cNvSpPr>
          <p:nvPr/>
        </p:nvSpPr>
        <p:spPr>
          <a:xfrm>
            <a:off x="2895600" y="5829300"/>
            <a:ext cx="2381250" cy="62865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611385B-206F-4EEA-95BC-F878299A11BF}"/>
              </a:ext>
            </a:extLst>
          </p:cNvPr>
          <p:cNvSpPr>
            <a:spLocks noGrp="1"/>
          </p:cNvSpPr>
          <p:nvPr/>
        </p:nvSpPr>
        <p:spPr>
          <a:xfrm>
            <a:off x="2800350" y="5734050"/>
            <a:ext cx="23812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396B9E-5AB7-45B9-9BA2-1FF758EA7F4F}"/>
              </a:ext>
            </a:extLst>
          </p:cNvPr>
          <p:cNvSpPr>
            <a:spLocks noGrp="1"/>
          </p:cNvSpPr>
          <p:nvPr/>
        </p:nvSpPr>
        <p:spPr>
          <a:xfrm>
            <a:off x="3028950" y="584835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Phase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4AFDA8-289A-42A0-A423-FA5A7B05813F}"/>
              </a:ext>
            </a:extLst>
          </p:cNvPr>
          <p:cNvSpPr>
            <a:spLocks noGrp="1"/>
          </p:cNvSpPr>
          <p:nvPr/>
        </p:nvSpPr>
        <p:spPr>
          <a:xfrm>
            <a:off x="5448299" y="5886450"/>
            <a:ext cx="5237421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Implementation-focused overview</a:t>
            </a:r>
          </a:p>
        </p:txBody>
      </p:sp>
    </p:spTree>
    <p:extLst>
      <p:ext uri="{BB962C8B-B14F-4D97-AF65-F5344CB8AC3E}">
        <p14:creationId xmlns:p14="http://schemas.microsoft.com/office/powerpoint/2010/main" val="1053470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5CE43-789A-418E-BDF4-666A1C615D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1B4D6E-B0E4-425A-8E29-716E5E25712F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9906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5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What is Focusly?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B21D6B-BABB-4D1E-B680-BD29561E3AAF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0001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Focusly converts a topic prompt into a short, visually animated lesson video. The phase-1 goal is a working GenAI pipeline that plans the lesson, writes the script, generates scenes, adds narration, and renders the final video.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2C980C-6569-474A-9E20-91EE9BC2FF30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CD16D4-91D8-4919-8F06-A61440B2D694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49A352-DC17-4E86-81F8-F9236025BAA7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308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Prompt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734A68-9A49-4A2A-904D-9807B43C0CBD}"/>
              </a:ext>
            </a:extLst>
          </p:cNvPr>
          <p:cNvSpPr>
            <a:spLocks noGrp="1"/>
          </p:cNvSpPr>
          <p:nvPr/>
        </p:nvSpPr>
        <p:spPr>
          <a:xfrm>
            <a:off x="4457700" y="3619500"/>
            <a:ext cx="457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User enters one topic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64F960-5EAA-4C52-8301-D40DAB5BCF5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37B8DCF-CAD6-4439-A413-4650D8AA1B89}"/>
              </a:ext>
            </a:extLst>
          </p:cNvPr>
          <p:cNvSpPr>
            <a:spLocks noGrp="1"/>
          </p:cNvSpPr>
          <p:nvPr/>
        </p:nvSpPr>
        <p:spPr>
          <a:xfrm>
            <a:off x="647700" y="457200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D4AC1D-EED7-41BE-9E10-8D3F2EFABB36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308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AI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86083-EC3C-45ED-88F6-394BCBEEDF0F}"/>
              </a:ext>
            </a:extLst>
          </p:cNvPr>
          <p:cNvSpPr>
            <a:spLocks noGrp="1"/>
          </p:cNvSpPr>
          <p:nvPr/>
        </p:nvSpPr>
        <p:spPr>
          <a:xfrm>
            <a:off x="4457700" y="4724400"/>
            <a:ext cx="533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Script, scenes, quiz checkpoints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786A89-DCFB-411F-949E-6AD29DF25763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978AF8-526B-4E87-82B9-FD21418031F2}"/>
              </a:ext>
            </a:extLst>
          </p:cNvPr>
          <p:cNvSpPr>
            <a:spLocks noGrp="1"/>
          </p:cNvSpPr>
          <p:nvPr/>
        </p:nvSpPr>
        <p:spPr>
          <a:xfrm>
            <a:off x="647700" y="5676900"/>
            <a:ext cx="3543300" cy="704850"/>
          </a:xfrm>
          <a:prstGeom prst="roundRect">
            <a:avLst>
              <a:gd name="adj" fmla="val 10811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4BBEA-A992-4712-ACEC-B562A95380D9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308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Video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F10BE-CEE7-4149-9A5D-8E333339F69B}"/>
              </a:ext>
            </a:extLst>
          </p:cNvPr>
          <p:cNvSpPr>
            <a:spLocks noGrp="1"/>
          </p:cNvSpPr>
          <p:nvPr/>
        </p:nvSpPr>
        <p:spPr>
          <a:xfrm>
            <a:off x="4457700" y="582930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Animated lesson output</a:t>
            </a:r>
          </a:p>
        </p:txBody>
      </p:sp>
    </p:spTree>
    <p:extLst>
      <p:ext uri="{BB962C8B-B14F-4D97-AF65-F5344CB8AC3E}">
        <p14:creationId xmlns:p14="http://schemas.microsoft.com/office/powerpoint/2010/main" val="85232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27E8305-D659-4836-B464-5CAE8B218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5622A-465F-4FD4-A0B9-0BA42A96C6D4}"/>
              </a:ext>
            </a:extLst>
          </p:cNvPr>
          <p:cNvSpPr>
            <a:spLocks noGrp="1"/>
          </p:cNvSpPr>
          <p:nvPr/>
        </p:nvSpPr>
        <p:spPr>
          <a:xfrm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6C48A-533F-4F8D-A9F1-43F8C3D0B712}"/>
              </a:ext>
            </a:extLst>
          </p:cNvPr>
          <p:cNvSpPr>
            <a:spLocks noGrp="1"/>
          </p:cNvSpPr>
          <p:nvPr/>
        </p:nvSpPr>
        <p:spPr>
          <a:xfrm rot="18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ED3489-3828-42ED-94F3-5D8027CEE843}"/>
              </a:ext>
            </a:extLst>
          </p:cNvPr>
          <p:cNvSpPr>
            <a:spLocks noGrp="1"/>
          </p:cNvSpPr>
          <p:nvPr/>
        </p:nvSpPr>
        <p:spPr>
          <a:xfrm rot="36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EA0F79-27C2-4A71-8390-0F1BB06ADDEB}"/>
              </a:ext>
            </a:extLst>
          </p:cNvPr>
          <p:cNvSpPr>
            <a:spLocks noGrp="1"/>
          </p:cNvSpPr>
          <p:nvPr/>
        </p:nvSpPr>
        <p:spPr>
          <a:xfrm rot="54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87CC6-5C31-4B4F-9D8B-20610C994342}"/>
              </a:ext>
            </a:extLst>
          </p:cNvPr>
          <p:cNvSpPr>
            <a:spLocks noGrp="1"/>
          </p:cNvSpPr>
          <p:nvPr/>
        </p:nvSpPr>
        <p:spPr>
          <a:xfrm rot="72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98921-B47D-409D-84B8-14E53A15BD2B}"/>
              </a:ext>
            </a:extLst>
          </p:cNvPr>
          <p:cNvSpPr>
            <a:spLocks noGrp="1"/>
          </p:cNvSpPr>
          <p:nvPr/>
        </p:nvSpPr>
        <p:spPr>
          <a:xfrm rot="90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5DFC5-583A-402B-9358-EAB49503D906}"/>
              </a:ext>
            </a:extLst>
          </p:cNvPr>
          <p:cNvSpPr>
            <a:spLocks noGrp="1"/>
          </p:cNvSpPr>
          <p:nvPr/>
        </p:nvSpPr>
        <p:spPr>
          <a:xfrm rot="108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7EA24-46ED-4986-805C-DA5AD6524ACC}"/>
              </a:ext>
            </a:extLst>
          </p:cNvPr>
          <p:cNvSpPr>
            <a:spLocks noGrp="1"/>
          </p:cNvSpPr>
          <p:nvPr/>
        </p:nvSpPr>
        <p:spPr>
          <a:xfrm rot="126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650D4-47D5-4279-8333-9373E960983A}"/>
              </a:ext>
            </a:extLst>
          </p:cNvPr>
          <p:cNvSpPr>
            <a:spLocks noGrp="1"/>
          </p:cNvSpPr>
          <p:nvPr/>
        </p:nvSpPr>
        <p:spPr>
          <a:xfrm rot="144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728611-3308-47D4-A9A8-8A6CC1D3FCFB}"/>
              </a:ext>
            </a:extLst>
          </p:cNvPr>
          <p:cNvSpPr>
            <a:spLocks noGrp="1"/>
          </p:cNvSpPr>
          <p:nvPr/>
        </p:nvSpPr>
        <p:spPr>
          <a:xfrm rot="162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B832B6-63DF-4044-8223-4AE2914EA125}"/>
              </a:ext>
            </a:extLst>
          </p:cNvPr>
          <p:cNvSpPr>
            <a:spLocks noGrp="1"/>
          </p:cNvSpPr>
          <p:nvPr/>
        </p:nvSpPr>
        <p:spPr>
          <a:xfrm rot="180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0C58C-F45A-49F3-873C-80CBF5564BD7}"/>
              </a:ext>
            </a:extLst>
          </p:cNvPr>
          <p:cNvSpPr>
            <a:spLocks noGrp="1"/>
          </p:cNvSpPr>
          <p:nvPr/>
        </p:nvSpPr>
        <p:spPr>
          <a:xfrm rot="19800000">
            <a:off x="1657350" y="628650"/>
            <a:ext cx="76200" cy="6477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E56C9-07E7-49D1-BB6B-73621B60CD94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47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4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Implementation Stack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549B2E-664E-492D-8E99-C9D2F82B736C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05165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The tools are selected to make a working pipeline possible without overbuilding.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417EDB-D69F-4344-8755-D3D5B5FCEECD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1296650" cy="386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3C9EE2-1E99-43F5-9D99-FE5BC7C9971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809750" cy="5524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22B5D-FB40-4567-9A80-50B46A4CCAD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70C0F1-23B6-4D12-9195-1AF8C8C09299}"/>
              </a:ext>
            </a:extLst>
          </p:cNvPr>
          <p:cNvSpPr>
            <a:spLocks noGrp="1"/>
          </p:cNvSpPr>
          <p:nvPr/>
        </p:nvSpPr>
        <p:spPr>
          <a:xfrm>
            <a:off x="2495550" y="2152650"/>
            <a:ext cx="2952750" cy="5524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E6E451-A410-4216-BDAC-1855ACE62460}"/>
              </a:ext>
            </a:extLst>
          </p:cNvPr>
          <p:cNvSpPr>
            <a:spLocks noGrp="1"/>
          </p:cNvSpPr>
          <p:nvPr/>
        </p:nvSpPr>
        <p:spPr>
          <a:xfrm>
            <a:off x="2686050" y="2266950"/>
            <a:ext cx="2609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Tool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D195BC-3A90-4C77-A3EB-3B60769701C8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5105400" cy="5524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6E2BE-CC2A-4AD0-8D17-3DDF5E2FD62C}"/>
              </a:ext>
            </a:extLst>
          </p:cNvPr>
          <p:cNvSpPr>
            <a:spLocks noGrp="1"/>
          </p:cNvSpPr>
          <p:nvPr/>
        </p:nvSpPr>
        <p:spPr>
          <a:xfrm>
            <a:off x="5638800" y="2266950"/>
            <a:ext cx="476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Phase 1 Role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58E5BE-0EA9-4142-8589-8365FBDA2FFD}"/>
              </a:ext>
            </a:extLst>
          </p:cNvPr>
          <p:cNvSpPr>
            <a:spLocks noGrp="1"/>
          </p:cNvSpPr>
          <p:nvPr/>
        </p:nvSpPr>
        <p:spPr>
          <a:xfrm>
            <a:off x="10553700" y="2152650"/>
            <a:ext cx="1428750" cy="5524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C08938-E841-412B-A8FD-638D369AE82D}"/>
              </a:ext>
            </a:extLst>
          </p:cNvPr>
          <p:cNvSpPr>
            <a:spLocks noGrp="1"/>
          </p:cNvSpPr>
          <p:nvPr/>
        </p:nvSpPr>
        <p:spPr>
          <a:xfrm>
            <a:off x="10744200" y="2266950"/>
            <a:ext cx="1085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Status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898D5-92EB-4C1C-944C-B76E2B658E17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739BAA-AAE0-4CCC-84A5-67BD99178CB4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42743A-654C-40B0-AED8-C58F21F0A3D1}"/>
              </a:ext>
            </a:extLst>
          </p:cNvPr>
          <p:cNvSpPr>
            <a:spLocks noGrp="1"/>
          </p:cNvSpPr>
          <p:nvPr/>
        </p:nvSpPr>
        <p:spPr>
          <a:xfrm>
            <a:off x="2495550" y="270510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D33369-FE62-437F-8BCA-7F8F096E7858}"/>
              </a:ext>
            </a:extLst>
          </p:cNvPr>
          <p:cNvSpPr>
            <a:spLocks noGrp="1"/>
          </p:cNvSpPr>
          <p:nvPr/>
        </p:nvSpPr>
        <p:spPr>
          <a:xfrm>
            <a:off x="2686050" y="281940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Next.js + React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3F90EA-6250-4A91-A0EF-21C932C8A689}"/>
              </a:ext>
            </a:extLst>
          </p:cNvPr>
          <p:cNvSpPr>
            <a:spLocks noGrp="1"/>
          </p:cNvSpPr>
          <p:nvPr/>
        </p:nvSpPr>
        <p:spPr>
          <a:xfrm>
            <a:off x="5448300" y="270510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403D58-BC7E-4FDD-96D6-85712952EF03}"/>
              </a:ext>
            </a:extLst>
          </p:cNvPr>
          <p:cNvSpPr>
            <a:spLocks noGrp="1"/>
          </p:cNvSpPr>
          <p:nvPr/>
        </p:nvSpPr>
        <p:spPr>
          <a:xfrm>
            <a:off x="5638800" y="28194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Prompt form, dashboard, lesson player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674D26-1537-43C9-A3F8-3D6A20D7282A}"/>
              </a:ext>
            </a:extLst>
          </p:cNvPr>
          <p:cNvSpPr>
            <a:spLocks noGrp="1"/>
          </p:cNvSpPr>
          <p:nvPr/>
        </p:nvSpPr>
        <p:spPr>
          <a:xfrm>
            <a:off x="10553700" y="270510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296EDF-F03C-48B3-B0AA-F9373883FED1}"/>
              </a:ext>
            </a:extLst>
          </p:cNvPr>
          <p:cNvSpPr>
            <a:spLocks noGrp="1"/>
          </p:cNvSpPr>
          <p:nvPr/>
        </p:nvSpPr>
        <p:spPr>
          <a:xfrm>
            <a:off x="10744200" y="28194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MVP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91F198-556D-4F68-BB63-88649DA38FB6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972460-FFD2-4080-B289-8741114D8FAF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FF3C36-B80E-4A66-A7CB-5E9C230CFAD8}"/>
              </a:ext>
            </a:extLst>
          </p:cNvPr>
          <p:cNvSpPr>
            <a:spLocks noGrp="1"/>
          </p:cNvSpPr>
          <p:nvPr/>
        </p:nvSpPr>
        <p:spPr>
          <a:xfrm>
            <a:off x="2495550" y="325755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A28915-F4D2-4064-8A3F-8EDF03C52EF9}"/>
              </a:ext>
            </a:extLst>
          </p:cNvPr>
          <p:cNvSpPr>
            <a:spLocks noGrp="1"/>
          </p:cNvSpPr>
          <p:nvPr/>
        </p:nvSpPr>
        <p:spPr>
          <a:xfrm>
            <a:off x="2686050" y="33718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FastAPI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FE00E4-B12E-4747-8812-BDAFB0B73016}"/>
              </a:ext>
            </a:extLst>
          </p:cNvPr>
          <p:cNvSpPr>
            <a:spLocks noGrp="1"/>
          </p:cNvSpPr>
          <p:nvPr/>
        </p:nvSpPr>
        <p:spPr>
          <a:xfrm>
            <a:off x="5448300" y="325755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2CB2E7-7D67-4C8A-A919-BACD7A8C9043}"/>
              </a:ext>
            </a:extLst>
          </p:cNvPr>
          <p:cNvSpPr>
            <a:spLocks noGrp="1"/>
          </p:cNvSpPr>
          <p:nvPr/>
        </p:nvSpPr>
        <p:spPr>
          <a:xfrm>
            <a:off x="5638800" y="33718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Auth, lesson APIs, job polling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C10D6C-60D6-42A7-B0BA-6F104DC2700E}"/>
              </a:ext>
            </a:extLst>
          </p:cNvPr>
          <p:cNvSpPr>
            <a:spLocks noGrp="1"/>
          </p:cNvSpPr>
          <p:nvPr/>
        </p:nvSpPr>
        <p:spPr>
          <a:xfrm>
            <a:off x="10553700" y="325755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08D36C-43FD-40F0-9E98-9E2FEBC68BE2}"/>
              </a:ext>
            </a:extLst>
          </p:cNvPr>
          <p:cNvSpPr>
            <a:spLocks noGrp="1"/>
          </p:cNvSpPr>
          <p:nvPr/>
        </p:nvSpPr>
        <p:spPr>
          <a:xfrm>
            <a:off x="10744200" y="337185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MVP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7CF460-683C-46BC-A9C6-8713A3C9D80C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162071-9D3F-461D-AF85-3B549A38BF6C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Queue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DA8B89-BAE8-497E-A866-0B283882C0D5}"/>
              </a:ext>
            </a:extLst>
          </p:cNvPr>
          <p:cNvSpPr>
            <a:spLocks noGrp="1"/>
          </p:cNvSpPr>
          <p:nvPr/>
        </p:nvSpPr>
        <p:spPr>
          <a:xfrm>
            <a:off x="2495550" y="381000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D2BAE3-7AD2-4A9A-AA7E-8F5F9E9AF672}"/>
              </a:ext>
            </a:extLst>
          </p:cNvPr>
          <p:cNvSpPr>
            <a:spLocks noGrp="1"/>
          </p:cNvSpPr>
          <p:nvPr/>
        </p:nvSpPr>
        <p:spPr>
          <a:xfrm>
            <a:off x="2686050" y="392430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Redis + ARQ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776443-48D7-4836-8A9B-D3C9E874F2E5}"/>
              </a:ext>
            </a:extLst>
          </p:cNvPr>
          <p:cNvSpPr>
            <a:spLocks noGrp="1"/>
          </p:cNvSpPr>
          <p:nvPr/>
        </p:nvSpPr>
        <p:spPr>
          <a:xfrm>
            <a:off x="5448300" y="381000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4A53E4-541A-41CD-80AD-476F4406623F}"/>
              </a:ext>
            </a:extLst>
          </p:cNvPr>
          <p:cNvSpPr>
            <a:spLocks noGrp="1"/>
          </p:cNvSpPr>
          <p:nvPr/>
        </p:nvSpPr>
        <p:spPr>
          <a:xfrm>
            <a:off x="5638800" y="39243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Async generation jobs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9679E8-8D6D-4A7A-BA20-795F8FC8B6D6}"/>
              </a:ext>
            </a:extLst>
          </p:cNvPr>
          <p:cNvSpPr>
            <a:spLocks noGrp="1"/>
          </p:cNvSpPr>
          <p:nvPr/>
        </p:nvSpPr>
        <p:spPr>
          <a:xfrm>
            <a:off x="10553700" y="381000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C50E9A-6A0B-40C5-87C2-0C2E5A38DB21}"/>
              </a:ext>
            </a:extLst>
          </p:cNvPr>
          <p:cNvSpPr>
            <a:spLocks noGrp="1"/>
          </p:cNvSpPr>
          <p:nvPr/>
        </p:nvSpPr>
        <p:spPr>
          <a:xfrm>
            <a:off x="10744200" y="39243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MVP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775EEF-CF90-4718-A6F2-3460D290E218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4DE8C6-0B02-4C3C-928F-2B6CE9D809FB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Database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60A0A9-0C66-4346-B152-5A072D211D10}"/>
              </a:ext>
            </a:extLst>
          </p:cNvPr>
          <p:cNvSpPr>
            <a:spLocks noGrp="1"/>
          </p:cNvSpPr>
          <p:nvPr/>
        </p:nvSpPr>
        <p:spPr>
          <a:xfrm>
            <a:off x="2495550" y="436245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4A41CD-AACC-4341-8C12-01A7DA3AE8D8}"/>
              </a:ext>
            </a:extLst>
          </p:cNvPr>
          <p:cNvSpPr>
            <a:spLocks noGrp="1"/>
          </p:cNvSpPr>
          <p:nvPr/>
        </p:nvSpPr>
        <p:spPr>
          <a:xfrm>
            <a:off x="2686050" y="44767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59B1B0-5F04-411E-8B8D-FF8A47BCC263}"/>
              </a:ext>
            </a:extLst>
          </p:cNvPr>
          <p:cNvSpPr>
            <a:spLocks noGrp="1"/>
          </p:cNvSpPr>
          <p:nvPr/>
        </p:nvSpPr>
        <p:spPr>
          <a:xfrm>
            <a:off x="5448300" y="436245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08630B2-F559-4A36-83D8-13315B29B0D7}"/>
              </a:ext>
            </a:extLst>
          </p:cNvPr>
          <p:cNvSpPr>
            <a:spLocks noGrp="1"/>
          </p:cNvSpPr>
          <p:nvPr/>
        </p:nvSpPr>
        <p:spPr>
          <a:xfrm>
            <a:off x="5638800" y="44767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Users, jobs, metadata, checkpoints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36A0398-3006-4728-841A-4C14E16EFF09}"/>
              </a:ext>
            </a:extLst>
          </p:cNvPr>
          <p:cNvSpPr>
            <a:spLocks noGrp="1"/>
          </p:cNvSpPr>
          <p:nvPr/>
        </p:nvSpPr>
        <p:spPr>
          <a:xfrm>
            <a:off x="10553700" y="436245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DCB2D2B-39F3-414A-8756-75FA837458B2}"/>
              </a:ext>
            </a:extLst>
          </p:cNvPr>
          <p:cNvSpPr>
            <a:spLocks noGrp="1"/>
          </p:cNvSpPr>
          <p:nvPr/>
        </p:nvSpPr>
        <p:spPr>
          <a:xfrm>
            <a:off x="10744200" y="447675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MVP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0AE63F-4B01-407D-BF99-512475F166DB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A3D4F4-982F-4320-82E4-DA0D6C30265F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Storage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CC79F9F-CE8D-453A-80FF-21B43C2A76DF}"/>
              </a:ext>
            </a:extLst>
          </p:cNvPr>
          <p:cNvSpPr>
            <a:spLocks noGrp="1"/>
          </p:cNvSpPr>
          <p:nvPr/>
        </p:nvSpPr>
        <p:spPr>
          <a:xfrm>
            <a:off x="2495550" y="491490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14F9922-027C-4F9E-82F9-4E7D9338F1A9}"/>
              </a:ext>
            </a:extLst>
          </p:cNvPr>
          <p:cNvSpPr>
            <a:spLocks noGrp="1"/>
          </p:cNvSpPr>
          <p:nvPr/>
        </p:nvSpPr>
        <p:spPr>
          <a:xfrm>
            <a:off x="2686050" y="502920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Cloudflare R2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D9FBEE-B8C5-455F-9AB2-C3B30E72C1E8}"/>
              </a:ext>
            </a:extLst>
          </p:cNvPr>
          <p:cNvSpPr>
            <a:spLocks noGrp="1"/>
          </p:cNvSpPr>
          <p:nvPr/>
        </p:nvSpPr>
        <p:spPr>
          <a:xfrm>
            <a:off x="5448300" y="491490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8EA044-485A-4658-8042-FA04F811A8E6}"/>
              </a:ext>
            </a:extLst>
          </p:cNvPr>
          <p:cNvSpPr>
            <a:spLocks noGrp="1"/>
          </p:cNvSpPr>
          <p:nvPr/>
        </p:nvSpPr>
        <p:spPr>
          <a:xfrm>
            <a:off x="5638800" y="50292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Generated video and assets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6A5E37E-6626-45E3-A4C9-EB95090B2EE7}"/>
              </a:ext>
            </a:extLst>
          </p:cNvPr>
          <p:cNvSpPr>
            <a:spLocks noGrp="1"/>
          </p:cNvSpPr>
          <p:nvPr/>
        </p:nvSpPr>
        <p:spPr>
          <a:xfrm>
            <a:off x="10553700" y="491490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998C0F-FCBA-49F5-B086-E6796CD147B4}"/>
              </a:ext>
            </a:extLst>
          </p:cNvPr>
          <p:cNvSpPr>
            <a:spLocks noGrp="1"/>
          </p:cNvSpPr>
          <p:nvPr/>
        </p:nvSpPr>
        <p:spPr>
          <a:xfrm>
            <a:off x="10744200" y="50292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MVP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39C361-F2BD-4091-B03A-300DF707ABC9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809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FDDE0C-A6B1-4E7D-89F3-6F009BBD7BF4}"/>
              </a:ext>
            </a:extLst>
          </p:cNvPr>
          <p:cNvSpPr>
            <a:spLocks noGrp="1"/>
          </p:cNvSpPr>
          <p:nvPr/>
        </p:nvSpPr>
        <p:spPr>
          <a:xfrm>
            <a:off x="876300" y="55816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Observability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09CB635-AC58-4BE7-AA64-C515FBB765C9}"/>
              </a:ext>
            </a:extLst>
          </p:cNvPr>
          <p:cNvSpPr>
            <a:spLocks noGrp="1"/>
          </p:cNvSpPr>
          <p:nvPr/>
        </p:nvSpPr>
        <p:spPr>
          <a:xfrm>
            <a:off x="2495550" y="5467350"/>
            <a:ext cx="2952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A54112-F730-4A10-83EF-ADC915A05D0B}"/>
              </a:ext>
            </a:extLst>
          </p:cNvPr>
          <p:cNvSpPr>
            <a:spLocks noGrp="1"/>
          </p:cNvSpPr>
          <p:nvPr/>
        </p:nvSpPr>
        <p:spPr>
          <a:xfrm>
            <a:off x="2686050" y="5581650"/>
            <a:ext cx="2609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Sentry + logs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99FEB32-FF4E-4912-9DC5-11FA6CA578AB}"/>
              </a:ext>
            </a:extLst>
          </p:cNvPr>
          <p:cNvSpPr>
            <a:spLocks noGrp="1"/>
          </p:cNvSpPr>
          <p:nvPr/>
        </p:nvSpPr>
        <p:spPr>
          <a:xfrm>
            <a:off x="5448300" y="5467350"/>
            <a:ext cx="510540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752C6BD-6CA6-47B6-A666-84651FFCFB71}"/>
              </a:ext>
            </a:extLst>
          </p:cNvPr>
          <p:cNvSpPr>
            <a:spLocks noGrp="1"/>
          </p:cNvSpPr>
          <p:nvPr/>
        </p:nvSpPr>
        <p:spPr>
          <a:xfrm>
            <a:off x="5638800" y="55816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Errors, cost, generation status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ADEA7A-3D36-4B5F-BE1F-BC4128419946}"/>
              </a:ext>
            </a:extLst>
          </p:cNvPr>
          <p:cNvSpPr>
            <a:spLocks noGrp="1"/>
          </p:cNvSpPr>
          <p:nvPr/>
        </p:nvSpPr>
        <p:spPr>
          <a:xfrm>
            <a:off x="10553700" y="5467350"/>
            <a:ext cx="1428750" cy="5524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05B233D-020B-47F8-8BB6-F74410BF1F69}"/>
              </a:ext>
            </a:extLst>
          </p:cNvPr>
          <p:cNvSpPr>
            <a:spLocks noGrp="1"/>
          </p:cNvSpPr>
          <p:nvPr/>
        </p:nvSpPr>
        <p:spPr>
          <a:xfrm>
            <a:off x="10744200" y="558165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Basic</a:t>
            </a:r>
          </a:p>
        </p:txBody>
      </p:sp>
    </p:spTree>
    <p:extLst>
      <p:ext uri="{BB962C8B-B14F-4D97-AF65-F5344CB8AC3E}">
        <p14:creationId xmlns:p14="http://schemas.microsoft.com/office/powerpoint/2010/main" val="134519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3F0794-667D-4896-A93C-CE9436D7D3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11E943-4F38-4234-BBED-E5F5201F6080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76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defRPr>
            </a:pPr>
            <a:r>
              <a: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rPr>
              <a:t>GenAI Model Choice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3C5260-435D-4798-84E6-E119B2305828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1028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High-level model usage for the evaluation, without going deep into model internals.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65B993-AD30-4C7F-97D5-71693022419F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4743450" cy="2400300"/>
          </a:xfrm>
          <a:prstGeom prst="roundRect">
            <a:avLst>
              <a:gd name="adj" fmla="val 317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348084-81BD-4572-B088-DFEA027E3EBE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743450" cy="2400300"/>
          </a:xfrm>
          <a:prstGeom prst="roundRect">
            <a:avLst>
              <a:gd name="adj" fmla="val 3175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8DC1B-DB93-4A8A-A87C-CF25FDD4A553}"/>
              </a:ext>
            </a:extLst>
          </p:cNvPr>
          <p:cNvSpPr>
            <a:spLocks noGrp="1"/>
          </p:cNvSpPr>
          <p:nvPr/>
        </p:nvSpPr>
        <p:spPr>
          <a:xfrm>
            <a:off x="1123950" y="26670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Primary LLM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A560C-A315-40DA-8449-592137030DFF}"/>
              </a:ext>
            </a:extLst>
          </p:cNvPr>
          <p:cNvSpPr>
            <a:spLocks noGrp="1"/>
          </p:cNvSpPr>
          <p:nvPr/>
        </p:nvSpPr>
        <p:spPr>
          <a:xfrm>
            <a:off x="1123950" y="323850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Claude API</a:t>
            </a:r>
          </a:p>
          <a:p>
            <a:pPr algn="l">
              <a:defRPr sz="25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via LangChain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38E27-625D-41BC-ADDD-84FE1BB53CB5}"/>
              </a:ext>
            </a:extLst>
          </p:cNvPr>
          <p:cNvSpPr>
            <a:spLocks noGrp="1"/>
          </p:cNvSpPr>
          <p:nvPr/>
        </p:nvSpPr>
        <p:spPr>
          <a:xfrm>
            <a:off x="1123950" y="4152900"/>
            <a:ext cx="390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Used for script, structured outputs, scene planning, and code generation.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840371-6865-4751-9B62-0F5D963D2565}"/>
              </a:ext>
            </a:extLst>
          </p:cNvPr>
          <p:cNvSpPr>
            <a:spLocks noGrp="1"/>
          </p:cNvSpPr>
          <p:nvPr/>
        </p:nvSpPr>
        <p:spPr>
          <a:xfrm>
            <a:off x="6400800" y="2381250"/>
            <a:ext cx="4743450" cy="2400300"/>
          </a:xfrm>
          <a:prstGeom prst="roundRect">
            <a:avLst>
              <a:gd name="adj" fmla="val 317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297B84-AD3A-4AEE-A73D-1F4CA6F3C837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4743450" cy="2400300"/>
          </a:xfrm>
          <a:prstGeom prst="roundRect">
            <a:avLst>
              <a:gd name="adj" fmla="val 3175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74736-1DC1-451D-9690-01BA77571152}"/>
              </a:ext>
            </a:extLst>
          </p:cNvPr>
          <p:cNvSpPr>
            <a:spLocks noGrp="1"/>
          </p:cNvSpPr>
          <p:nvPr/>
        </p:nvSpPr>
        <p:spPr>
          <a:xfrm>
            <a:off x="6724650" y="26670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Why this choice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CBE97A-BEFD-48FC-87B3-4F550E952A2E}"/>
              </a:ext>
            </a:extLst>
          </p:cNvPr>
          <p:cNvSpPr>
            <a:spLocks noGrp="1"/>
          </p:cNvSpPr>
          <p:nvPr/>
        </p:nvSpPr>
        <p:spPr>
          <a:xfrm>
            <a:off x="6724650" y="3295650"/>
            <a:ext cx="3524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LangChain gives prompt templates, Pydantic parsing, retry handling, tools, and cost tracking callbacks.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828581-BB2C-426F-9094-8F5DE64F8E25}"/>
              </a:ext>
            </a:extLst>
          </p:cNvPr>
          <p:cNvSpPr>
            <a:spLocks noGrp="1"/>
          </p:cNvSpPr>
          <p:nvPr/>
        </p:nvSpPr>
        <p:spPr>
          <a:xfrm>
            <a:off x="2343150" y="5562600"/>
            <a:ext cx="3276600" cy="64770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6822C4-C2DA-4AC0-BD53-2D4657B5E78C}"/>
              </a:ext>
            </a:extLst>
          </p:cNvPr>
          <p:cNvSpPr>
            <a:spLocks noGrp="1"/>
          </p:cNvSpPr>
          <p:nvPr/>
        </p:nvSpPr>
        <p:spPr>
          <a:xfrm>
            <a:off x="2247900" y="5467350"/>
            <a:ext cx="32766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768E7-DD99-4168-AED8-DB82E5ECF577}"/>
              </a:ext>
            </a:extLst>
          </p:cNvPr>
          <p:cNvSpPr>
            <a:spLocks noGrp="1"/>
          </p:cNvSpPr>
          <p:nvPr/>
        </p:nvSpPr>
        <p:spPr>
          <a:xfrm>
            <a:off x="2476500" y="5581650"/>
            <a:ext cx="2819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Inference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7099D4-AA95-4FC0-B39C-E94707E1E737}"/>
              </a:ext>
            </a:extLst>
          </p:cNvPr>
          <p:cNvSpPr>
            <a:spLocks noGrp="1"/>
          </p:cNvSpPr>
          <p:nvPr/>
        </p:nvSpPr>
        <p:spPr>
          <a:xfrm>
            <a:off x="5791200" y="5619750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No model training in phase 1</a:t>
            </a:r>
          </a:p>
        </p:txBody>
      </p:sp>
    </p:spTree>
    <p:extLst>
      <p:ext uri="{BB962C8B-B14F-4D97-AF65-F5344CB8AC3E}">
        <p14:creationId xmlns:p14="http://schemas.microsoft.com/office/powerpoint/2010/main" val="209214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097C9DE-F615-4058-92DA-1C0C778628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AAECE-F99C-42D3-98E7-94D22AA24975}"/>
              </a:ext>
            </a:extLst>
          </p:cNvPr>
          <p:cNvSpPr>
            <a:spLocks noGrp="1"/>
          </p:cNvSpPr>
          <p:nvPr/>
        </p:nvSpPr>
        <p:spPr>
          <a:xfrm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4713C-3883-4EE4-AD89-7F19D3851FC5}"/>
              </a:ext>
            </a:extLst>
          </p:cNvPr>
          <p:cNvSpPr>
            <a:spLocks noGrp="1"/>
          </p:cNvSpPr>
          <p:nvPr/>
        </p:nvSpPr>
        <p:spPr>
          <a:xfrm rot="18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C95C33-9982-410D-8BC0-1F3FA0AE93F2}"/>
              </a:ext>
            </a:extLst>
          </p:cNvPr>
          <p:cNvSpPr>
            <a:spLocks noGrp="1"/>
          </p:cNvSpPr>
          <p:nvPr/>
        </p:nvSpPr>
        <p:spPr>
          <a:xfrm rot="36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2AD49-D5BD-4954-B493-B5B20AA1636B}"/>
              </a:ext>
            </a:extLst>
          </p:cNvPr>
          <p:cNvSpPr>
            <a:spLocks noGrp="1"/>
          </p:cNvSpPr>
          <p:nvPr/>
        </p:nvSpPr>
        <p:spPr>
          <a:xfrm rot="54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B9408-35B1-4580-B15C-42A15762EA52}"/>
              </a:ext>
            </a:extLst>
          </p:cNvPr>
          <p:cNvSpPr>
            <a:spLocks noGrp="1"/>
          </p:cNvSpPr>
          <p:nvPr/>
        </p:nvSpPr>
        <p:spPr>
          <a:xfrm rot="72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9F060-54C7-4F5B-8D9F-6259E888A5AA}"/>
              </a:ext>
            </a:extLst>
          </p:cNvPr>
          <p:cNvSpPr>
            <a:spLocks noGrp="1"/>
          </p:cNvSpPr>
          <p:nvPr/>
        </p:nvSpPr>
        <p:spPr>
          <a:xfrm rot="90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80BBF-E3D1-4FAE-8B8E-8FA561DCA287}"/>
              </a:ext>
            </a:extLst>
          </p:cNvPr>
          <p:cNvSpPr>
            <a:spLocks noGrp="1"/>
          </p:cNvSpPr>
          <p:nvPr/>
        </p:nvSpPr>
        <p:spPr>
          <a:xfrm rot="108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5E4FB-382E-4F3C-B689-F312166EA5E6}"/>
              </a:ext>
            </a:extLst>
          </p:cNvPr>
          <p:cNvSpPr>
            <a:spLocks noGrp="1"/>
          </p:cNvSpPr>
          <p:nvPr/>
        </p:nvSpPr>
        <p:spPr>
          <a:xfrm rot="126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A62AA-65C8-4CA8-A476-567415EB1D6A}"/>
              </a:ext>
            </a:extLst>
          </p:cNvPr>
          <p:cNvSpPr>
            <a:spLocks noGrp="1"/>
          </p:cNvSpPr>
          <p:nvPr/>
        </p:nvSpPr>
        <p:spPr>
          <a:xfrm rot="144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AF9BE9-F29E-49F6-BDCF-A6665624511F}"/>
              </a:ext>
            </a:extLst>
          </p:cNvPr>
          <p:cNvSpPr>
            <a:spLocks noGrp="1"/>
          </p:cNvSpPr>
          <p:nvPr/>
        </p:nvSpPr>
        <p:spPr>
          <a:xfrm rot="162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178F5-0FCD-4C3B-8D06-C0161B314BE0}"/>
              </a:ext>
            </a:extLst>
          </p:cNvPr>
          <p:cNvSpPr>
            <a:spLocks noGrp="1"/>
          </p:cNvSpPr>
          <p:nvPr/>
        </p:nvSpPr>
        <p:spPr>
          <a:xfrm rot="180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2414D4-22C3-4525-AEFE-6F10B6025C1A}"/>
              </a:ext>
            </a:extLst>
          </p:cNvPr>
          <p:cNvSpPr>
            <a:spLocks noGrp="1"/>
          </p:cNvSpPr>
          <p:nvPr/>
        </p:nvSpPr>
        <p:spPr>
          <a:xfrm rot="19800000">
            <a:off x="10401300" y="723900"/>
            <a:ext cx="76200" cy="876300"/>
          </a:xfrm>
          <a:prstGeom prst="rect">
            <a:avLst/>
          </a:prstGeom>
          <a:solidFill>
            <a:srgbClr val="E7FFD7"/>
          </a:solidFill>
          <a:ln w="0">
            <a:solidFill>
              <a:srgbClr val="E7F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410AA-1E42-410C-84BC-CD7F7414DBCA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76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defRPr>
            </a:pPr>
            <a:r>
              <a: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rPr>
              <a:t>Minimum Viable Product Scope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63B98C-DA5D-4338-97D7-56BA5D0E2803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1028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input, generation, narration, video output.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682CE5-FC8F-40AC-8539-B614DCD71C80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C5BDB3E-2644-4342-A598-878BA87DCD5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3A3C2D-5DE2-4F4D-B334-A1C3CA8A9E91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514350" cy="5143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3DFAA5-03C9-4416-84A2-F7BFC6D66F8E}"/>
              </a:ext>
            </a:extLst>
          </p:cNvPr>
          <p:cNvSpPr>
            <a:spLocks noGrp="1"/>
          </p:cNvSpPr>
          <p:nvPr/>
        </p:nvSpPr>
        <p:spPr>
          <a:xfrm>
            <a:off x="1152525" y="2686050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0257AA-461E-4D7E-B422-0F789F79D6DA}"/>
              </a:ext>
            </a:extLst>
          </p:cNvPr>
          <p:cNvSpPr>
            <a:spLocks noGrp="1"/>
          </p:cNvSpPr>
          <p:nvPr/>
        </p:nvSpPr>
        <p:spPr>
          <a:xfrm>
            <a:off x="1714500" y="2686050"/>
            <a:ext cx="361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Topic Input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E1B32-DF5E-416E-B029-0582B508F57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4267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Student enters a concept such as binary search, sorting, or DBMS normalization.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9E0B64A-B32B-4996-953B-149390E49D8B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0A83A54-75D9-42CA-9AD1-ACE289A3E9E8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530786-7A4E-4894-8D32-13D11A50662E}"/>
              </a:ext>
            </a:extLst>
          </p:cNvPr>
          <p:cNvSpPr>
            <a:spLocks noGrp="1"/>
          </p:cNvSpPr>
          <p:nvPr/>
        </p:nvSpPr>
        <p:spPr>
          <a:xfrm>
            <a:off x="6724650" y="2667000"/>
            <a:ext cx="514350" cy="5143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F22B71-7DAC-4B91-AB7C-6D71A69F0F54}"/>
              </a:ext>
            </a:extLst>
          </p:cNvPr>
          <p:cNvSpPr>
            <a:spLocks noGrp="1"/>
          </p:cNvSpPr>
          <p:nvPr/>
        </p:nvSpPr>
        <p:spPr>
          <a:xfrm>
            <a:off x="6848475" y="2686050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733514-7C8C-4FC0-8887-9B276001D5C4}"/>
              </a:ext>
            </a:extLst>
          </p:cNvPr>
          <p:cNvSpPr>
            <a:spLocks noGrp="1"/>
          </p:cNvSpPr>
          <p:nvPr/>
        </p:nvSpPr>
        <p:spPr>
          <a:xfrm>
            <a:off x="7410450" y="2686050"/>
            <a:ext cx="361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AI Lesson Planning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EE8451-1A14-42E3-8E60-08CBF8216A97}"/>
              </a:ext>
            </a:extLst>
          </p:cNvPr>
          <p:cNvSpPr>
            <a:spLocks noGrp="1"/>
          </p:cNvSpPr>
          <p:nvPr/>
        </p:nvSpPr>
        <p:spPr>
          <a:xfrm>
            <a:off x="6724650" y="3390900"/>
            <a:ext cx="4267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LLM creates objectives, pacing, script, scene plan, and quiz checkpoints.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39530FC-ADE6-4F99-A358-56CA131C6D8B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EE8611-DAE2-404D-AB72-796A153F14FA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5450E1-40AE-44AA-9BE0-2A82B4A83F2B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514350" cy="5143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400761-9C79-42AC-A86A-6CFF77253756}"/>
              </a:ext>
            </a:extLst>
          </p:cNvPr>
          <p:cNvSpPr>
            <a:spLocks noGrp="1"/>
          </p:cNvSpPr>
          <p:nvPr/>
        </p:nvSpPr>
        <p:spPr>
          <a:xfrm>
            <a:off x="1152525" y="4800600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1A7D4B-15BC-41D3-950A-D26CA66B6304}"/>
              </a:ext>
            </a:extLst>
          </p:cNvPr>
          <p:cNvSpPr>
            <a:spLocks noGrp="1"/>
          </p:cNvSpPr>
          <p:nvPr/>
        </p:nvSpPr>
        <p:spPr>
          <a:xfrm>
            <a:off x="1714500" y="4800600"/>
            <a:ext cx="361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Video Rendering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E13E36-5196-4ECD-B627-60C4147461FE}"/>
              </a:ext>
            </a:extLst>
          </p:cNvPr>
          <p:cNvSpPr>
            <a:spLocks noGrp="1"/>
          </p:cNvSpPr>
          <p:nvPr/>
        </p:nvSpPr>
        <p:spPr>
          <a:xfrm>
            <a:off x="1028700" y="5505450"/>
            <a:ext cx="4267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Remotion and Manim generate controlled educational animation scenes.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13F1908-A13E-47F9-B3AA-23CA9525C8BA}"/>
              </a:ext>
            </a:extLst>
          </p:cNvPr>
          <p:cNvSpPr>
            <a:spLocks noGrp="1"/>
          </p:cNvSpPr>
          <p:nvPr/>
        </p:nvSpPr>
        <p:spPr>
          <a:xfrm>
            <a:off x="6496050" y="457200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393C139-EDE8-4245-AABF-C87F60EFB8AD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9E3A942-8699-4449-8D7C-63D541878E2F}"/>
              </a:ext>
            </a:extLst>
          </p:cNvPr>
          <p:cNvSpPr>
            <a:spLocks noGrp="1"/>
          </p:cNvSpPr>
          <p:nvPr/>
        </p:nvSpPr>
        <p:spPr>
          <a:xfrm>
            <a:off x="6724650" y="4781550"/>
            <a:ext cx="514350" cy="5143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0BA0BE-72C9-4225-9DC5-681DD0CD0629}"/>
              </a:ext>
            </a:extLst>
          </p:cNvPr>
          <p:cNvSpPr>
            <a:spLocks noGrp="1"/>
          </p:cNvSpPr>
          <p:nvPr/>
        </p:nvSpPr>
        <p:spPr>
          <a:xfrm>
            <a:off x="6848475" y="4800600"/>
            <a:ext cx="30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DC2B39-118E-489F-A29E-B96C4AE0B976}"/>
              </a:ext>
            </a:extLst>
          </p:cNvPr>
          <p:cNvSpPr>
            <a:spLocks noGrp="1"/>
          </p:cNvSpPr>
          <p:nvPr/>
        </p:nvSpPr>
        <p:spPr>
          <a:xfrm>
            <a:off x="7410450" y="4800600"/>
            <a:ext cx="361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Delivery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4B7894-4A61-44A3-B5B5-01CE1846FFFE}"/>
              </a:ext>
            </a:extLst>
          </p:cNvPr>
          <p:cNvSpPr>
            <a:spLocks noGrp="1"/>
          </p:cNvSpPr>
          <p:nvPr/>
        </p:nvSpPr>
        <p:spPr>
          <a:xfrm>
            <a:off x="6724650" y="5505450"/>
            <a:ext cx="4267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Final MP4/HLS stream is stored and shown in the Focusly player.</a:t>
            </a:r>
          </a:p>
        </p:txBody>
      </p:sp>
    </p:spTree>
    <p:extLst>
      <p:ext uri="{BB962C8B-B14F-4D97-AF65-F5344CB8AC3E}">
        <p14:creationId xmlns:p14="http://schemas.microsoft.com/office/powerpoint/2010/main" val="139526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101B8FA-9E9C-4280-AA2B-49D6C74D5866}"/>
              </a:ext>
            </a:extLst>
          </p:cNvPr>
          <p:cNvSpPr>
            <a:spLocks noGrp="1"/>
          </p:cNvSpPr>
          <p:nvPr/>
        </p:nvSpPr>
        <p:spPr>
          <a:xfrm>
            <a:off x="0" y="276225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CB4075-0BAB-4270-BC9B-D4A5E008B313}"/>
              </a:ext>
            </a:extLst>
          </p:cNvPr>
          <p:cNvSpPr>
            <a:spLocks noGrp="1"/>
          </p:cNvSpPr>
          <p:nvPr/>
        </p:nvSpPr>
        <p:spPr>
          <a:xfrm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76499-F1C5-45AD-841B-C452439DA525}"/>
              </a:ext>
            </a:extLst>
          </p:cNvPr>
          <p:cNvSpPr>
            <a:spLocks noGrp="1"/>
          </p:cNvSpPr>
          <p:nvPr/>
        </p:nvSpPr>
        <p:spPr>
          <a:xfrm rot="18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DB0D47-8918-40EC-B109-4B19E8AF99E8}"/>
              </a:ext>
            </a:extLst>
          </p:cNvPr>
          <p:cNvSpPr>
            <a:spLocks noGrp="1"/>
          </p:cNvSpPr>
          <p:nvPr/>
        </p:nvSpPr>
        <p:spPr>
          <a:xfrm rot="36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929F9-C0FE-4ED4-AD15-FF921E11AF00}"/>
              </a:ext>
            </a:extLst>
          </p:cNvPr>
          <p:cNvSpPr>
            <a:spLocks noGrp="1"/>
          </p:cNvSpPr>
          <p:nvPr/>
        </p:nvSpPr>
        <p:spPr>
          <a:xfrm rot="54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FF82F0-7C40-475A-9B5C-8957169FBC14}"/>
              </a:ext>
            </a:extLst>
          </p:cNvPr>
          <p:cNvSpPr>
            <a:spLocks noGrp="1"/>
          </p:cNvSpPr>
          <p:nvPr/>
        </p:nvSpPr>
        <p:spPr>
          <a:xfrm rot="72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CF754-61EC-466C-AEF1-7B625CC5E05C}"/>
              </a:ext>
            </a:extLst>
          </p:cNvPr>
          <p:cNvSpPr>
            <a:spLocks noGrp="1"/>
          </p:cNvSpPr>
          <p:nvPr/>
        </p:nvSpPr>
        <p:spPr>
          <a:xfrm rot="90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16DAC-8193-465C-BFD9-5B8B9C4BFBA3}"/>
              </a:ext>
            </a:extLst>
          </p:cNvPr>
          <p:cNvSpPr>
            <a:spLocks noGrp="1"/>
          </p:cNvSpPr>
          <p:nvPr/>
        </p:nvSpPr>
        <p:spPr>
          <a:xfrm rot="108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243733-2374-4D34-8CAF-4949F538ECF6}"/>
              </a:ext>
            </a:extLst>
          </p:cNvPr>
          <p:cNvSpPr>
            <a:spLocks noGrp="1"/>
          </p:cNvSpPr>
          <p:nvPr/>
        </p:nvSpPr>
        <p:spPr>
          <a:xfrm rot="126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C0EE7C-9702-4598-9B3D-A6F5A364095C}"/>
              </a:ext>
            </a:extLst>
          </p:cNvPr>
          <p:cNvSpPr>
            <a:spLocks noGrp="1"/>
          </p:cNvSpPr>
          <p:nvPr/>
        </p:nvSpPr>
        <p:spPr>
          <a:xfrm rot="144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D886B-F3EB-44D3-BD94-57CEB5DEE595}"/>
              </a:ext>
            </a:extLst>
          </p:cNvPr>
          <p:cNvSpPr>
            <a:spLocks noGrp="1"/>
          </p:cNvSpPr>
          <p:nvPr/>
        </p:nvSpPr>
        <p:spPr>
          <a:xfrm rot="162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CF2F6F-F11C-4E61-A8DF-D65F43E190BD}"/>
              </a:ext>
            </a:extLst>
          </p:cNvPr>
          <p:cNvSpPr>
            <a:spLocks noGrp="1"/>
          </p:cNvSpPr>
          <p:nvPr/>
        </p:nvSpPr>
        <p:spPr>
          <a:xfrm rot="180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53949C-0F9E-4AB5-9BA0-C72D08BB3A86}"/>
              </a:ext>
            </a:extLst>
          </p:cNvPr>
          <p:cNvSpPr>
            <a:spLocks noGrp="1"/>
          </p:cNvSpPr>
          <p:nvPr/>
        </p:nvSpPr>
        <p:spPr>
          <a:xfrm rot="19800000">
            <a:off x="10477500" y="514350"/>
            <a:ext cx="76200" cy="8001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BDE46-AC55-47DF-AC93-3519A6F5A6BF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76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defRPr>
            </a:pPr>
            <a:r>
              <a: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rPr>
              <a:t>AI Pipeline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0EA3F1-259C-4AD9-B072-286A02E1A7C1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1028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LangGraph controls the workflow; LangChain wraps the model calls and tools.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31F078-0101-425F-8207-A387F4398CEC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6949ADE-E1B4-4E91-BDE2-27649971267A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03C574-9A58-4A3C-87D6-5A287563732E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Plan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3AFF35-272D-4665-A113-200B1D6867A8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1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Objectives + audience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BA17FB-4C0C-4BBB-8A29-7FEA999A764D}"/>
              </a:ext>
            </a:extLst>
          </p:cNvPr>
          <p:cNvSpPr>
            <a:spLocks noGrp="1"/>
          </p:cNvSpPr>
          <p:nvPr/>
        </p:nvSpPr>
        <p:spPr>
          <a:xfrm>
            <a:off x="2286000" y="3705225"/>
            <a:ext cx="323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34BCAE02-EBF4-41CD-98EC-B751BDF68802}"/>
              </a:ext>
            </a:extLst>
          </p:cNvPr>
          <p:cNvSpPr>
            <a:spLocks noGrp="1"/>
          </p:cNvSpPr>
          <p:nvPr/>
        </p:nvSpPr>
        <p:spPr>
          <a:xfrm rot="19974195">
            <a:off x="2550484" y="3590925"/>
            <a:ext cx="266700" cy="266700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3A8ADD0-035E-47F8-9A95-9CFA3474F5C5}"/>
              </a:ext>
            </a:extLst>
          </p:cNvPr>
          <p:cNvSpPr>
            <a:spLocks noGrp="1"/>
          </p:cNvSpPr>
          <p:nvPr/>
        </p:nvSpPr>
        <p:spPr>
          <a:xfrm>
            <a:off x="2971800" y="31051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7FAB9D-C635-4A7F-9219-8B9547E9240D}"/>
              </a:ext>
            </a:extLst>
          </p:cNvPr>
          <p:cNvSpPr>
            <a:spLocks noGrp="1"/>
          </p:cNvSpPr>
          <p:nvPr/>
        </p:nvSpPr>
        <p:spPr>
          <a:xfrm>
            <a:off x="2876550" y="300990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DE5D8D-AE2F-4422-B5BC-75FB612735CF}"/>
              </a:ext>
            </a:extLst>
          </p:cNvPr>
          <p:cNvSpPr>
            <a:spLocks noGrp="1"/>
          </p:cNvSpPr>
          <p:nvPr/>
        </p:nvSpPr>
        <p:spPr>
          <a:xfrm>
            <a:off x="3067050" y="33337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Script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8A7C5C-BC8D-411A-8821-EB2A46D2DDDC}"/>
              </a:ext>
            </a:extLst>
          </p:cNvPr>
          <p:cNvSpPr>
            <a:spLocks noGrp="1"/>
          </p:cNvSpPr>
          <p:nvPr/>
        </p:nvSpPr>
        <p:spPr>
          <a:xfrm>
            <a:off x="3048000" y="386715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1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Narration + quiz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759CEB-7E9C-498C-95B2-5AEE5CEBC894}"/>
              </a:ext>
            </a:extLst>
          </p:cNvPr>
          <p:cNvSpPr>
            <a:spLocks noGrp="1"/>
          </p:cNvSpPr>
          <p:nvPr/>
        </p:nvSpPr>
        <p:spPr>
          <a:xfrm>
            <a:off x="4495800" y="3705225"/>
            <a:ext cx="323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F90925E7-F878-4E19-A872-A7B98EDDA04D}"/>
              </a:ext>
            </a:extLst>
          </p:cNvPr>
          <p:cNvSpPr>
            <a:spLocks noGrp="1"/>
          </p:cNvSpPr>
          <p:nvPr/>
        </p:nvSpPr>
        <p:spPr>
          <a:xfrm rot="19985303">
            <a:off x="4760284" y="3590925"/>
            <a:ext cx="266700" cy="266700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935BFCD-2265-4EE8-A642-721B53C93B83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ED4F2F7-4C43-4EF1-9BBD-FE653383146A}"/>
              </a:ext>
            </a:extLst>
          </p:cNvPr>
          <p:cNvSpPr>
            <a:spLocks noGrp="1"/>
          </p:cNvSpPr>
          <p:nvPr/>
        </p:nvSpPr>
        <p:spPr>
          <a:xfrm>
            <a:off x="5086350" y="300990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2C5662-299E-4492-B6E6-2761EE76A6C1}"/>
              </a:ext>
            </a:extLst>
          </p:cNvPr>
          <p:cNvSpPr>
            <a:spLocks noGrp="1"/>
          </p:cNvSpPr>
          <p:nvPr/>
        </p:nvSpPr>
        <p:spPr>
          <a:xfrm>
            <a:off x="5276850" y="33337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Scenes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F9F81B-4A60-4B13-B71E-6E0B8EBA3B55}"/>
              </a:ext>
            </a:extLst>
          </p:cNvPr>
          <p:cNvSpPr>
            <a:spLocks noGrp="1"/>
          </p:cNvSpPr>
          <p:nvPr/>
        </p:nvSpPr>
        <p:spPr>
          <a:xfrm>
            <a:off x="5257800" y="386715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1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Visual manifest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52B845-66F2-4087-8AE5-254971038970}"/>
              </a:ext>
            </a:extLst>
          </p:cNvPr>
          <p:cNvSpPr>
            <a:spLocks noGrp="1"/>
          </p:cNvSpPr>
          <p:nvPr/>
        </p:nvSpPr>
        <p:spPr>
          <a:xfrm>
            <a:off x="6705600" y="3705225"/>
            <a:ext cx="323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5B88D225-5CF2-4A6F-8DFA-481BB11A37FF}"/>
              </a:ext>
            </a:extLst>
          </p:cNvPr>
          <p:cNvSpPr>
            <a:spLocks noGrp="1"/>
          </p:cNvSpPr>
          <p:nvPr/>
        </p:nvSpPr>
        <p:spPr>
          <a:xfrm rot="20092333">
            <a:off x="6959451" y="3590925"/>
            <a:ext cx="266700" cy="266700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64EA96E-AAF6-48AA-B311-0CCD15CA8C2C}"/>
              </a:ext>
            </a:extLst>
          </p:cNvPr>
          <p:cNvSpPr>
            <a:spLocks noGrp="1"/>
          </p:cNvSpPr>
          <p:nvPr/>
        </p:nvSpPr>
        <p:spPr>
          <a:xfrm>
            <a:off x="7391400" y="31051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6C455B-0E66-402D-962E-1229F91A4886}"/>
              </a:ext>
            </a:extLst>
          </p:cNvPr>
          <p:cNvSpPr>
            <a:spLocks noGrp="1"/>
          </p:cNvSpPr>
          <p:nvPr/>
        </p:nvSpPr>
        <p:spPr>
          <a:xfrm>
            <a:off x="7296150" y="300990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72772E-53DB-43E5-9E9E-634805C0DD7E}"/>
              </a:ext>
            </a:extLst>
          </p:cNvPr>
          <p:cNvSpPr>
            <a:spLocks noGrp="1"/>
          </p:cNvSpPr>
          <p:nvPr/>
        </p:nvSpPr>
        <p:spPr>
          <a:xfrm>
            <a:off x="7486650" y="33337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Render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9DED7-8D71-4312-B5B4-0EA3754DC941}"/>
              </a:ext>
            </a:extLst>
          </p:cNvPr>
          <p:cNvSpPr>
            <a:spLocks noGrp="1"/>
          </p:cNvSpPr>
          <p:nvPr/>
        </p:nvSpPr>
        <p:spPr>
          <a:xfrm>
            <a:off x="7467600" y="386715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1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Video + audio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5C059F-ADCE-418F-8509-C6E896C7ED67}"/>
              </a:ext>
            </a:extLst>
          </p:cNvPr>
          <p:cNvSpPr>
            <a:spLocks noGrp="1"/>
          </p:cNvSpPr>
          <p:nvPr/>
        </p:nvSpPr>
        <p:spPr>
          <a:xfrm>
            <a:off x="8915400" y="3705225"/>
            <a:ext cx="323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CF2F10A2-8C78-456C-A4EB-A333BBA13EE2}"/>
              </a:ext>
            </a:extLst>
          </p:cNvPr>
          <p:cNvSpPr>
            <a:spLocks noGrp="1"/>
          </p:cNvSpPr>
          <p:nvPr/>
        </p:nvSpPr>
        <p:spPr>
          <a:xfrm rot="19876370">
            <a:off x="9169251" y="3590925"/>
            <a:ext cx="266700" cy="266700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43A9A53-C410-4053-8499-97579D2D66C5}"/>
              </a:ext>
            </a:extLst>
          </p:cNvPr>
          <p:cNvSpPr>
            <a:spLocks noGrp="1"/>
          </p:cNvSpPr>
          <p:nvPr/>
        </p:nvSpPr>
        <p:spPr>
          <a:xfrm>
            <a:off x="9601200" y="310515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674F3B1-FD74-4606-8687-3EB48C112EC5}"/>
              </a:ext>
            </a:extLst>
          </p:cNvPr>
          <p:cNvSpPr>
            <a:spLocks noGrp="1"/>
          </p:cNvSpPr>
          <p:nvPr/>
        </p:nvSpPr>
        <p:spPr>
          <a:xfrm>
            <a:off x="9505950" y="3009900"/>
            <a:ext cx="1504950" cy="1428750"/>
          </a:xfrm>
          <a:prstGeom prst="roundRect">
            <a:avLst>
              <a:gd name="adj" fmla="val 5333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844C7D-0B8C-491D-A014-9CA7C3879B91}"/>
              </a:ext>
            </a:extLst>
          </p:cNvPr>
          <p:cNvSpPr>
            <a:spLocks noGrp="1"/>
          </p:cNvSpPr>
          <p:nvPr/>
        </p:nvSpPr>
        <p:spPr>
          <a:xfrm>
            <a:off x="9696450" y="33337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QA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1978A0-926C-46CD-9F74-B610CC40C205}"/>
              </a:ext>
            </a:extLst>
          </p:cNvPr>
          <p:cNvSpPr>
            <a:spLocks noGrp="1"/>
          </p:cNvSpPr>
          <p:nvPr/>
        </p:nvSpPr>
        <p:spPr>
          <a:xfrm>
            <a:off x="9677400" y="386715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125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Check + retry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A3B726-161F-49E1-B096-9CA2159864BA}"/>
              </a:ext>
            </a:extLst>
          </p:cNvPr>
          <p:cNvSpPr>
            <a:spLocks noGrp="1"/>
          </p:cNvSpPr>
          <p:nvPr/>
        </p:nvSpPr>
        <p:spPr>
          <a:xfrm>
            <a:off x="2400300" y="521970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endParaRPr sz="1950" b="1">
              <a:solidFill>
                <a:srgbClr val="2D3748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973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7757FB-69C7-4A60-951D-F4169100A2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B79C7-F29D-4453-A59C-BFF5A174E7A7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763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defRPr>
            </a:pPr>
            <a:r>
              <a:rPr sz="4350" b="1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</a:rPr>
              <a:t>Video Generation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104C8F-25BB-4A1F-8B47-7DFDFBB44FCE}"/>
              </a:ext>
            </a:extLst>
          </p:cNvPr>
          <p:cNvSpPr>
            <a:spLocks noGrp="1"/>
          </p:cNvSpPr>
          <p:nvPr/>
        </p:nvSpPr>
        <p:spPr>
          <a:xfrm>
            <a:off x="495299" y="1409700"/>
            <a:ext cx="11296207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Output is generated through controllable code</a:t>
            </a:r>
            <a:r>
              <a:rPr lang="en-US"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725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based animation, not black-box AI video generation.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DD6EEC-FD01-4A4B-9188-CA6DA018723D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CEC175-DD7F-40A1-97BE-DA7EBC4746AA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C2F29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EF882-B698-4A46-B56F-E20FC0F5D2F0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Remotion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56EB0-C477-48B0-B718-29E2E5EF6877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2495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React-based animated scenes, text reveals, quiz screens, and general visual layouts.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7A1C4F-C532-4A4F-8A98-107D686EF55B}"/>
              </a:ext>
            </a:extLst>
          </p:cNvPr>
          <p:cNvSpPr>
            <a:spLocks noGrp="1"/>
          </p:cNvSpPr>
          <p:nvPr/>
        </p:nvSpPr>
        <p:spPr>
          <a:xfrm>
            <a:off x="4610100" y="26479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4FDEAD0-FFC8-4E15-91C1-855E10E934BA}"/>
              </a:ext>
            </a:extLst>
          </p:cNvPr>
          <p:cNvSpPr>
            <a:spLocks noGrp="1"/>
          </p:cNvSpPr>
          <p:nvPr/>
        </p:nvSpPr>
        <p:spPr>
          <a:xfrm>
            <a:off x="4495800" y="25336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7F37F-967D-420D-886B-8332C42893BA}"/>
              </a:ext>
            </a:extLst>
          </p:cNvPr>
          <p:cNvSpPr>
            <a:spLocks noGrp="1"/>
          </p:cNvSpPr>
          <p:nvPr/>
        </p:nvSpPr>
        <p:spPr>
          <a:xfrm>
            <a:off x="4838700" y="28765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Manim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AED117-3903-46BC-8482-CA26F945E58F}"/>
              </a:ext>
            </a:extLst>
          </p:cNvPr>
          <p:cNvSpPr>
            <a:spLocks noGrp="1"/>
          </p:cNvSpPr>
          <p:nvPr/>
        </p:nvSpPr>
        <p:spPr>
          <a:xfrm>
            <a:off x="4838700" y="3581400"/>
            <a:ext cx="2495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Math, algorithms, graphs, and step-by-step concept animation.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E97620-3CD7-41A5-A33C-FE40E14D706A}"/>
              </a:ext>
            </a:extLst>
          </p:cNvPr>
          <p:cNvSpPr>
            <a:spLocks noGrp="1"/>
          </p:cNvSpPr>
          <p:nvPr/>
        </p:nvSpPr>
        <p:spPr>
          <a:xfrm>
            <a:off x="8420100" y="26479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F05FE3-CEA9-49B6-AA0D-05AAD30DEDE7}"/>
              </a:ext>
            </a:extLst>
          </p:cNvPr>
          <p:cNvSpPr>
            <a:spLocks noGrp="1"/>
          </p:cNvSpPr>
          <p:nvPr/>
        </p:nvSpPr>
        <p:spPr>
          <a:xfrm>
            <a:off x="8305800" y="253365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F7F8FA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C1E7E9-C502-4261-83F1-DD26426D9B9F}"/>
              </a:ext>
            </a:extLst>
          </p:cNvPr>
          <p:cNvSpPr>
            <a:spLocks noGrp="1"/>
          </p:cNvSpPr>
          <p:nvPr/>
        </p:nvSpPr>
        <p:spPr>
          <a:xfrm>
            <a:off x="8648700" y="28765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FFmpeg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96A2D-6E7C-4C14-8171-5E399DE23AD9}"/>
              </a:ext>
            </a:extLst>
          </p:cNvPr>
          <p:cNvSpPr>
            <a:spLocks noGrp="1"/>
          </p:cNvSpPr>
          <p:nvPr/>
        </p:nvSpPr>
        <p:spPr>
          <a:xfrm>
            <a:off x="8648700" y="3581400"/>
            <a:ext cx="24955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Stitches scenes, mixes narration, encodes MP4, and prepares HLS streaming.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D9EE63-EF8F-480F-B96E-AAC790D511A8}"/>
              </a:ext>
            </a:extLst>
          </p:cNvPr>
          <p:cNvSpPr>
            <a:spLocks noGrp="1"/>
          </p:cNvSpPr>
          <p:nvPr/>
        </p:nvSpPr>
        <p:spPr>
          <a:xfrm>
            <a:off x="1828800" y="5638800"/>
            <a:ext cx="3733800" cy="62865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07A88A0-C637-4086-AFBA-11A4F64458F0}"/>
              </a:ext>
            </a:extLst>
          </p:cNvPr>
          <p:cNvSpPr>
            <a:spLocks noGrp="1"/>
          </p:cNvSpPr>
          <p:nvPr/>
        </p:nvSpPr>
        <p:spPr>
          <a:xfrm>
            <a:off x="1752600" y="5562600"/>
            <a:ext cx="37338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B830C9-0A8D-4141-9B68-28B71A71DE21}"/>
              </a:ext>
            </a:extLst>
          </p:cNvPr>
          <p:cNvSpPr>
            <a:spLocks noGrp="1"/>
          </p:cNvSpPr>
          <p:nvPr/>
        </p:nvSpPr>
        <p:spPr>
          <a:xfrm>
            <a:off x="2038350" y="5705475"/>
            <a:ext cx="3181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ElevenLabs — TTS narration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F76EC0-1986-4A64-B436-F2275E7F6363}"/>
              </a:ext>
            </a:extLst>
          </p:cNvPr>
          <p:cNvSpPr>
            <a:spLocks noGrp="1"/>
          </p:cNvSpPr>
          <p:nvPr/>
        </p:nvSpPr>
        <p:spPr>
          <a:xfrm>
            <a:off x="6781800" y="5638800"/>
            <a:ext cx="3733800" cy="62865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CBF3CE4-DF7F-4492-804D-12961B9F3247}"/>
              </a:ext>
            </a:extLst>
          </p:cNvPr>
          <p:cNvSpPr>
            <a:spLocks noGrp="1"/>
          </p:cNvSpPr>
          <p:nvPr/>
        </p:nvSpPr>
        <p:spPr>
          <a:xfrm>
            <a:off x="6705600" y="5562600"/>
            <a:ext cx="37338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379F9C-EE56-4034-BC92-2E8C4DD19522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3181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Cloudflare R2  —  Video storage</a:t>
            </a:r>
          </a:p>
        </p:txBody>
      </p:sp>
    </p:spTree>
    <p:extLst>
      <p:ext uri="{BB962C8B-B14F-4D97-AF65-F5344CB8AC3E}">
        <p14:creationId xmlns:p14="http://schemas.microsoft.com/office/powerpoint/2010/main" val="1243810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EF238687-0185-4D39-9711-595D3B77D334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B6B391-DDF4-4F63-819B-3CDED9861750}"/>
              </a:ext>
            </a:extLst>
          </p:cNvPr>
          <p:cNvSpPr>
            <a:spLocks noGrp="1"/>
          </p:cNvSpPr>
          <p:nvPr/>
        </p:nvSpPr>
        <p:spPr>
          <a:xfrm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EAD766-5B6F-4885-B792-21DF8D86C24C}"/>
              </a:ext>
            </a:extLst>
          </p:cNvPr>
          <p:cNvSpPr>
            <a:spLocks noGrp="1"/>
          </p:cNvSpPr>
          <p:nvPr/>
        </p:nvSpPr>
        <p:spPr>
          <a:xfrm rot="18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58DBE-F396-4424-ABED-31A11C78556E}"/>
              </a:ext>
            </a:extLst>
          </p:cNvPr>
          <p:cNvSpPr>
            <a:spLocks noGrp="1"/>
          </p:cNvSpPr>
          <p:nvPr/>
        </p:nvSpPr>
        <p:spPr>
          <a:xfrm rot="36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F66977-52A4-4DEC-A99F-DEC066231639}"/>
              </a:ext>
            </a:extLst>
          </p:cNvPr>
          <p:cNvSpPr>
            <a:spLocks noGrp="1"/>
          </p:cNvSpPr>
          <p:nvPr/>
        </p:nvSpPr>
        <p:spPr>
          <a:xfrm rot="54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27483-872D-4961-8AE4-099A73D0677B}"/>
              </a:ext>
            </a:extLst>
          </p:cNvPr>
          <p:cNvSpPr>
            <a:spLocks noGrp="1"/>
          </p:cNvSpPr>
          <p:nvPr/>
        </p:nvSpPr>
        <p:spPr>
          <a:xfrm rot="72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F3A8F-D66B-4B76-99C9-B7423472D3EA}"/>
              </a:ext>
            </a:extLst>
          </p:cNvPr>
          <p:cNvSpPr>
            <a:spLocks noGrp="1"/>
          </p:cNvSpPr>
          <p:nvPr/>
        </p:nvSpPr>
        <p:spPr>
          <a:xfrm rot="90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86836F-857F-41B3-81A1-6A3473A8E142}"/>
              </a:ext>
            </a:extLst>
          </p:cNvPr>
          <p:cNvSpPr>
            <a:spLocks noGrp="1"/>
          </p:cNvSpPr>
          <p:nvPr/>
        </p:nvSpPr>
        <p:spPr>
          <a:xfrm rot="108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CF8BA-B36B-4DFF-A59F-BD400A244E2C}"/>
              </a:ext>
            </a:extLst>
          </p:cNvPr>
          <p:cNvSpPr>
            <a:spLocks noGrp="1"/>
          </p:cNvSpPr>
          <p:nvPr/>
        </p:nvSpPr>
        <p:spPr>
          <a:xfrm rot="126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95887-B5E9-4427-995C-9472277B3430}"/>
              </a:ext>
            </a:extLst>
          </p:cNvPr>
          <p:cNvSpPr>
            <a:spLocks noGrp="1"/>
          </p:cNvSpPr>
          <p:nvPr/>
        </p:nvSpPr>
        <p:spPr>
          <a:xfrm rot="144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54B65-21FA-4F25-AD45-85A462E1E8F2}"/>
              </a:ext>
            </a:extLst>
          </p:cNvPr>
          <p:cNvSpPr>
            <a:spLocks noGrp="1"/>
          </p:cNvSpPr>
          <p:nvPr/>
        </p:nvSpPr>
        <p:spPr>
          <a:xfrm rot="162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90087D-4331-4253-9801-8DED13ED9D15}"/>
              </a:ext>
            </a:extLst>
          </p:cNvPr>
          <p:cNvSpPr>
            <a:spLocks noGrp="1"/>
          </p:cNvSpPr>
          <p:nvPr/>
        </p:nvSpPr>
        <p:spPr>
          <a:xfrm rot="180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201A5-81A7-4CE3-ABA0-CB1DA8314961}"/>
              </a:ext>
            </a:extLst>
          </p:cNvPr>
          <p:cNvSpPr>
            <a:spLocks noGrp="1"/>
          </p:cNvSpPr>
          <p:nvPr/>
        </p:nvSpPr>
        <p:spPr>
          <a:xfrm rot="19800000">
            <a:off x="10229850" y="438150"/>
            <a:ext cx="76200" cy="685800"/>
          </a:xfrm>
          <a:prstGeom prst="rect">
            <a:avLst/>
          </a:prstGeom>
          <a:solidFill>
            <a:srgbClr val="DFF1FF"/>
          </a:solidFill>
          <a:ln w="0">
            <a:solidFill>
              <a:srgbClr val="DF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C5BE7-7451-400B-9B36-B150FAE3614F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1066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45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Phase 1 Evaluation Focus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B6683-6A9E-44FD-9A82-E52D90A58DC4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10287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97282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697282"/>
                </a:solidFill>
                <a:latin typeface="Poppins"/>
                <a:ea typeface="Poppins"/>
                <a:cs typeface="Poppins"/>
              </a:rPr>
              <a:t>implementation choices, tools, model usage, and demo scope.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135202-F0FA-4ABD-A7BC-934821ACFE6E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1296650" cy="35433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E50991-0E79-4F43-9AA0-1AAD8A923D9A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095500" cy="5905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23F3D5-7C66-43DD-AA59-89360E179FE0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Area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CFB552-707F-4381-88E9-211C6C5365AD}"/>
              </a:ext>
            </a:extLst>
          </p:cNvPr>
          <p:cNvSpPr>
            <a:spLocks noGrp="1"/>
          </p:cNvSpPr>
          <p:nvPr/>
        </p:nvSpPr>
        <p:spPr>
          <a:xfrm>
            <a:off x="2781300" y="2152650"/>
            <a:ext cx="5105400" cy="5905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499D16-069B-4917-A8BB-6E861BF79E19}"/>
              </a:ext>
            </a:extLst>
          </p:cNvPr>
          <p:cNvSpPr>
            <a:spLocks noGrp="1"/>
          </p:cNvSpPr>
          <p:nvPr/>
        </p:nvSpPr>
        <p:spPr>
          <a:xfrm>
            <a:off x="2971800" y="2266950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What We </a:t>
            </a:r>
            <a:r>
              <a:rPr lang="en-US"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use</a:t>
            </a:r>
            <a:endParaRPr sz="1275" b="1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C9AFCA-410F-4080-9E79-DA724C3CC979}"/>
              </a:ext>
            </a:extLst>
          </p:cNvPr>
          <p:cNvSpPr>
            <a:spLocks noGrp="1"/>
          </p:cNvSpPr>
          <p:nvPr/>
        </p:nvSpPr>
        <p:spPr>
          <a:xfrm>
            <a:off x="7886700" y="2152650"/>
            <a:ext cx="2095500" cy="5905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4500D-75E6-4905-9545-C37B338BEAA8}"/>
              </a:ext>
            </a:extLst>
          </p:cNvPr>
          <p:cNvSpPr>
            <a:spLocks noGrp="1"/>
          </p:cNvSpPr>
          <p:nvPr/>
        </p:nvSpPr>
        <p:spPr>
          <a:xfrm>
            <a:off x="8077200" y="22669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Depth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016C-03BC-4350-B600-F0C3A620E769}"/>
              </a:ext>
            </a:extLst>
          </p:cNvPr>
          <p:cNvSpPr>
            <a:spLocks noGrp="1"/>
          </p:cNvSpPr>
          <p:nvPr/>
        </p:nvSpPr>
        <p:spPr>
          <a:xfrm>
            <a:off x="9982200" y="2152650"/>
            <a:ext cx="2000250" cy="590550"/>
          </a:xfrm>
          <a:prstGeom prst="rect">
            <a:avLst/>
          </a:prstGeom>
          <a:solidFill>
            <a:srgbClr val="BCE0FD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C38B84-32C2-4FD9-8069-DDB4A59CBDEC}"/>
              </a:ext>
            </a:extLst>
          </p:cNvPr>
          <p:cNvSpPr>
            <a:spLocks noGrp="1"/>
          </p:cNvSpPr>
          <p:nvPr/>
        </p:nvSpPr>
        <p:spPr>
          <a:xfrm>
            <a:off x="10172700" y="22669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000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Priority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57A96A-7C7A-45E5-8F38-7A013442E9EB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568FC7-A6F6-43E0-A948-75065AD3FB3B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92A277-2203-44BA-956E-564A5203603C}"/>
              </a:ext>
            </a:extLst>
          </p:cNvPr>
          <p:cNvSpPr>
            <a:spLocks noGrp="1"/>
          </p:cNvSpPr>
          <p:nvPr/>
        </p:nvSpPr>
        <p:spPr>
          <a:xfrm>
            <a:off x="2781300" y="2743200"/>
            <a:ext cx="51054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74373-2E05-4143-8E75-BCB941126162}"/>
              </a:ext>
            </a:extLst>
          </p:cNvPr>
          <p:cNvSpPr>
            <a:spLocks noGrp="1"/>
          </p:cNvSpPr>
          <p:nvPr/>
        </p:nvSpPr>
        <p:spPr>
          <a:xfrm>
            <a:off x="2971800" y="285750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Claude API via LangChain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44FE10-2A36-4147-B702-E18538F52BC1}"/>
              </a:ext>
            </a:extLst>
          </p:cNvPr>
          <p:cNvSpPr>
            <a:spLocks noGrp="1"/>
          </p:cNvSpPr>
          <p:nvPr/>
        </p:nvSpPr>
        <p:spPr>
          <a:xfrm>
            <a:off x="7886700" y="27432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38FBB9-B369-4AC3-AD0B-57E740D5D0D8}"/>
              </a:ext>
            </a:extLst>
          </p:cNvPr>
          <p:cNvSpPr>
            <a:spLocks noGrp="1"/>
          </p:cNvSpPr>
          <p:nvPr/>
        </p:nvSpPr>
        <p:spPr>
          <a:xfrm>
            <a:off x="8077200" y="28575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High level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19E162-D4C5-4FC8-A3E6-C1B756BD2CC4}"/>
              </a:ext>
            </a:extLst>
          </p:cNvPr>
          <p:cNvSpPr>
            <a:spLocks noGrp="1"/>
          </p:cNvSpPr>
          <p:nvPr/>
        </p:nvSpPr>
        <p:spPr>
          <a:xfrm>
            <a:off x="9982200" y="2743200"/>
            <a:ext cx="200025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BF0C8C-C77E-4FBB-BE2C-1B8F6AC85E2E}"/>
              </a:ext>
            </a:extLst>
          </p:cNvPr>
          <p:cNvSpPr>
            <a:spLocks noGrp="1"/>
          </p:cNvSpPr>
          <p:nvPr/>
        </p:nvSpPr>
        <p:spPr>
          <a:xfrm>
            <a:off x="10172700" y="28575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High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B55754-A157-449E-8AEE-84AC127907D7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CD5DA7-D683-4EB3-BAA7-5F0E2D1775BA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Pipeline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15855F-0992-48C9-A059-DCAA11FC06A1}"/>
              </a:ext>
            </a:extLst>
          </p:cNvPr>
          <p:cNvSpPr>
            <a:spLocks noGrp="1"/>
          </p:cNvSpPr>
          <p:nvPr/>
        </p:nvSpPr>
        <p:spPr>
          <a:xfrm>
            <a:off x="2781300" y="3333750"/>
            <a:ext cx="51054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9D2320-51F7-49B8-904F-6DF9991F6AAB}"/>
              </a:ext>
            </a:extLst>
          </p:cNvPr>
          <p:cNvSpPr>
            <a:spLocks noGrp="1"/>
          </p:cNvSpPr>
          <p:nvPr/>
        </p:nvSpPr>
        <p:spPr>
          <a:xfrm>
            <a:off x="2971800" y="344805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LangGraph flow from prompt to render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ED33D3-29B3-4369-A904-3AB25C490ADB}"/>
              </a:ext>
            </a:extLst>
          </p:cNvPr>
          <p:cNvSpPr>
            <a:spLocks noGrp="1"/>
          </p:cNvSpPr>
          <p:nvPr/>
        </p:nvSpPr>
        <p:spPr>
          <a:xfrm>
            <a:off x="7886700" y="333375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985503-EDEC-4373-BB7F-C53D9D6A474F}"/>
              </a:ext>
            </a:extLst>
          </p:cNvPr>
          <p:cNvSpPr>
            <a:spLocks noGrp="1"/>
          </p:cNvSpPr>
          <p:nvPr/>
        </p:nvSpPr>
        <p:spPr>
          <a:xfrm>
            <a:off x="8077200" y="344805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High level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F5D026-DFBF-4532-AEBD-B90CAFD244CD}"/>
              </a:ext>
            </a:extLst>
          </p:cNvPr>
          <p:cNvSpPr>
            <a:spLocks noGrp="1"/>
          </p:cNvSpPr>
          <p:nvPr/>
        </p:nvSpPr>
        <p:spPr>
          <a:xfrm>
            <a:off x="9982200" y="3333750"/>
            <a:ext cx="200025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3EA95D-98D8-47F3-9500-F45EA2E71CFC}"/>
              </a:ext>
            </a:extLst>
          </p:cNvPr>
          <p:cNvSpPr>
            <a:spLocks noGrp="1"/>
          </p:cNvSpPr>
          <p:nvPr/>
        </p:nvSpPr>
        <p:spPr>
          <a:xfrm>
            <a:off x="10172700" y="344805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High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7C7DFC-5CF8-4435-9EB2-3CAA023A7EE8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8D28BE-BFA4-40B4-B3C0-2D07073F0507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Video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1F2737-DB26-4650-9533-2363A4162861}"/>
              </a:ext>
            </a:extLst>
          </p:cNvPr>
          <p:cNvSpPr>
            <a:spLocks noGrp="1"/>
          </p:cNvSpPr>
          <p:nvPr/>
        </p:nvSpPr>
        <p:spPr>
          <a:xfrm>
            <a:off x="2781300" y="3924300"/>
            <a:ext cx="51054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D89F95-70D1-4B82-B4B6-E453534F6D01}"/>
              </a:ext>
            </a:extLst>
          </p:cNvPr>
          <p:cNvSpPr>
            <a:spLocks noGrp="1"/>
          </p:cNvSpPr>
          <p:nvPr/>
        </p:nvSpPr>
        <p:spPr>
          <a:xfrm>
            <a:off x="2971800" y="403860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Remotion, Manim, FFmpeg, ElevenLabs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EA76EB-544A-4654-A691-3CC9D830D6AA}"/>
              </a:ext>
            </a:extLst>
          </p:cNvPr>
          <p:cNvSpPr>
            <a:spLocks noGrp="1"/>
          </p:cNvSpPr>
          <p:nvPr/>
        </p:nvSpPr>
        <p:spPr>
          <a:xfrm>
            <a:off x="7886700" y="39243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287A8F-DB8A-4A98-B059-1CF7A425A51F}"/>
              </a:ext>
            </a:extLst>
          </p:cNvPr>
          <p:cNvSpPr>
            <a:spLocks noGrp="1"/>
          </p:cNvSpPr>
          <p:nvPr/>
        </p:nvSpPr>
        <p:spPr>
          <a:xfrm>
            <a:off x="8077200" y="40386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Tool level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C42986-2997-4BA5-9D56-05C4DD4174AB}"/>
              </a:ext>
            </a:extLst>
          </p:cNvPr>
          <p:cNvSpPr>
            <a:spLocks noGrp="1"/>
          </p:cNvSpPr>
          <p:nvPr/>
        </p:nvSpPr>
        <p:spPr>
          <a:xfrm>
            <a:off x="9982200" y="3924300"/>
            <a:ext cx="200025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C992C3-4437-4555-914E-B1BB4D8D709E}"/>
              </a:ext>
            </a:extLst>
          </p:cNvPr>
          <p:cNvSpPr>
            <a:spLocks noGrp="1"/>
          </p:cNvSpPr>
          <p:nvPr/>
        </p:nvSpPr>
        <p:spPr>
          <a:xfrm>
            <a:off x="10172700" y="40386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High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A62832-E616-46F2-BEB8-794C51908FB0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61CE9F-ADB1-4173-8F1E-EA9F60B086E9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9CBB78-A5FC-4CF0-BDE7-ABE6A09A553B}"/>
              </a:ext>
            </a:extLst>
          </p:cNvPr>
          <p:cNvSpPr>
            <a:spLocks noGrp="1"/>
          </p:cNvSpPr>
          <p:nvPr/>
        </p:nvSpPr>
        <p:spPr>
          <a:xfrm>
            <a:off x="2781300" y="4514850"/>
            <a:ext cx="51054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FA773B-8CD1-40F0-A67F-A059F462E72D}"/>
              </a:ext>
            </a:extLst>
          </p:cNvPr>
          <p:cNvSpPr>
            <a:spLocks noGrp="1"/>
          </p:cNvSpPr>
          <p:nvPr/>
        </p:nvSpPr>
        <p:spPr>
          <a:xfrm>
            <a:off x="2971800" y="462915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FastAPI, Redis queue, PostgreSQL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FAF7FD-71EB-46EA-9AD2-8ABF7696E0FB}"/>
              </a:ext>
            </a:extLst>
          </p:cNvPr>
          <p:cNvSpPr>
            <a:spLocks noGrp="1"/>
          </p:cNvSpPr>
          <p:nvPr/>
        </p:nvSpPr>
        <p:spPr>
          <a:xfrm>
            <a:off x="7886700" y="451485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0DCD9A-4893-41C5-80B9-83969FEF8CEE}"/>
              </a:ext>
            </a:extLst>
          </p:cNvPr>
          <p:cNvSpPr>
            <a:spLocks noGrp="1"/>
          </p:cNvSpPr>
          <p:nvPr/>
        </p:nvSpPr>
        <p:spPr>
          <a:xfrm>
            <a:off x="8077200" y="462915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Tool level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0BF7B6-01E3-4D2B-98B8-734917F9EDD7}"/>
              </a:ext>
            </a:extLst>
          </p:cNvPr>
          <p:cNvSpPr>
            <a:spLocks noGrp="1"/>
          </p:cNvSpPr>
          <p:nvPr/>
        </p:nvSpPr>
        <p:spPr>
          <a:xfrm>
            <a:off x="9982200" y="4514850"/>
            <a:ext cx="200025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247516-77CA-4BEE-B2EB-1FC5FDF3C80B}"/>
              </a:ext>
            </a:extLst>
          </p:cNvPr>
          <p:cNvSpPr>
            <a:spLocks noGrp="1"/>
          </p:cNvSpPr>
          <p:nvPr/>
        </p:nvSpPr>
        <p:spPr>
          <a:xfrm>
            <a:off x="10172700" y="462915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Medium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26E1461-4DB6-4928-8EA9-5C3979E7A71D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DA2E9D-6DD7-41C2-8636-CF567D8E3291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Out of scope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30087DA-51BD-4788-88C8-46027D9D1939}"/>
              </a:ext>
            </a:extLst>
          </p:cNvPr>
          <p:cNvSpPr>
            <a:spLocks noGrp="1"/>
          </p:cNvSpPr>
          <p:nvPr/>
        </p:nvSpPr>
        <p:spPr>
          <a:xfrm>
            <a:off x="2781300" y="5105400"/>
            <a:ext cx="51054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EC6DDD-E91E-40CE-84B9-01042AA527EE}"/>
              </a:ext>
            </a:extLst>
          </p:cNvPr>
          <p:cNvSpPr>
            <a:spLocks noGrp="1"/>
          </p:cNvSpPr>
          <p:nvPr/>
        </p:nvSpPr>
        <p:spPr>
          <a:xfrm>
            <a:off x="2971800" y="521970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Deep model theory and post-MVP features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1581B6E-3677-4B90-82C1-91D4EB5DC564}"/>
              </a:ext>
            </a:extLst>
          </p:cNvPr>
          <p:cNvSpPr>
            <a:spLocks noGrp="1"/>
          </p:cNvSpPr>
          <p:nvPr/>
        </p:nvSpPr>
        <p:spPr>
          <a:xfrm>
            <a:off x="7886700" y="5105400"/>
            <a:ext cx="209550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E54CE3-A5B9-4838-9EF4-91710C2F9ECE}"/>
              </a:ext>
            </a:extLst>
          </p:cNvPr>
          <p:cNvSpPr>
            <a:spLocks noGrp="1"/>
          </p:cNvSpPr>
          <p:nvPr/>
        </p:nvSpPr>
        <p:spPr>
          <a:xfrm>
            <a:off x="8077200" y="521970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Avoid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F4EE2F-1DEA-4E70-B1A6-751BFAA8EB16}"/>
              </a:ext>
            </a:extLst>
          </p:cNvPr>
          <p:cNvSpPr>
            <a:spLocks noGrp="1"/>
          </p:cNvSpPr>
          <p:nvPr/>
        </p:nvSpPr>
        <p:spPr>
          <a:xfrm>
            <a:off x="9982200" y="5105400"/>
            <a:ext cx="2000250" cy="5905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C1BEE7-1DE1-4182-B2A3-5023D6847B45}"/>
              </a:ext>
            </a:extLst>
          </p:cNvPr>
          <p:cNvSpPr>
            <a:spLocks noGrp="1"/>
          </p:cNvSpPr>
          <p:nvPr/>
        </p:nvSpPr>
        <p:spPr>
          <a:xfrm>
            <a:off x="10172700" y="52197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2D3748"/>
                </a:solidFill>
                <a:latin typeface="Poppins"/>
                <a:ea typeface="Poppins"/>
                <a:cs typeface="Poppins"/>
              </a:rPr>
              <a:t>Clear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8908F5-F2E7-4512-A5B3-83D1F9D74589}"/>
              </a:ext>
            </a:extLst>
          </p:cNvPr>
          <p:cNvSpPr>
            <a:spLocks noGrp="1"/>
          </p:cNvSpPr>
          <p:nvPr/>
        </p:nvSpPr>
        <p:spPr>
          <a:xfrm>
            <a:off x="4648200" y="5867400"/>
            <a:ext cx="590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D3748"/>
                </a:solidFill>
                <a:latin typeface="Poppins"/>
                <a:ea typeface="Poppins"/>
                <a:cs typeface="Poppins"/>
              </a:defRPr>
            </a:pPr>
            <a:endParaRPr sz="1725" b="1">
              <a:solidFill>
                <a:srgbClr val="2D3748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973049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489</Words>
  <Application>Microsoft Macintosh PowerPoint</Application>
  <DocSecurity>0</DocSecurity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Poppins</vt:lpstr>
      <vt:lpstr>Poppins ExtraBold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pankaj raikar</cp:lastModifiedBy>
  <cp:revision>8</cp:revision>
  <dcterms:created xsi:type="dcterms:W3CDTF">2026-05-19T16:39:04Z</dcterms:created>
  <dcterms:modified xsi:type="dcterms:W3CDTF">2026-05-20T02:26:34Z</dcterms:modified>
</cp:coreProperties>
</file>